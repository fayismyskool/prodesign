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73"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9144000" cy="5143500"/>
  <p:notesSz cx="6858000" cy="9144000"/>
  <p:embeddedFontLst>
    <p:embeddedFont>
      <p:font typeface="Bodoni Moda ExtraBold"/>
      <p:regular r:id="rId26"/>
    </p:embeddedFont>
    <p:embeddedFont>
      <p:font typeface="Inter Medium"/>
      <p:regular r:id="rId27"/>
    </p:embeddedFont>
    <p:embeddedFont>
      <p:font typeface="Inter" panose="02000503000000020004"/>
      <p:regular r:id="rId28"/>
    </p:embeddedFont>
    <p:embeddedFont>
      <p:font typeface="Bodoni Moda"/>
      <p:regular r:id="rId29"/>
    </p:embeddedFont>
    <p:embeddedFont>
      <p:font typeface="Noto Sans" panose="020B0502040504020204"/>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font" Target="fonts/font5.fntdata"/><Relationship Id="rId3" Type="http://schemas.openxmlformats.org/officeDocument/2006/relationships/slideMaster" Target="slideMasters/slideMaster2.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SLIDES_API49938172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SLIDES_API49938172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SLIDES_API499381720_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SLIDES_API499381720_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SLIDES_API499381720_1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SLIDES_API499381720_1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SLIDES_API499381720_2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SLIDES_API499381720_2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SLIDES_API618050623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SLIDES_API618050623_27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 name="Shape 175"/>
        <p:cNvGrpSpPr/>
        <p:nvPr/>
      </p:nvGrpSpPr>
      <p:grpSpPr>
        <a:xfrm>
          <a:off x="0" y="0"/>
          <a:ext cx="0" cy="0"/>
          <a:chOff x="0" y="0"/>
          <a:chExt cx="0" cy="0"/>
        </a:xfrm>
      </p:grpSpPr>
      <p:sp>
        <p:nvSpPr>
          <p:cNvPr id="176" name="Google Shape;176;SLIDES_API499381720_37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SLIDES_API49938172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SLIDES_API499381720_4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SLIDES_API499381720_4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SLIDES_API499381720_5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SLIDES_API499381720_5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SLIDES_API499381720_6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SLIDES_API499381720_6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SLIDES_API499381720_7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SLIDES_API499381720_7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9" name="Shape 259"/>
        <p:cNvGrpSpPr/>
        <p:nvPr/>
      </p:nvGrpSpPr>
      <p:grpSpPr>
        <a:xfrm>
          <a:off x="0" y="0"/>
          <a:ext cx="0" cy="0"/>
          <a:chOff x="0" y="0"/>
          <a:chExt cx="0" cy="0"/>
        </a:xfrm>
      </p:grpSpPr>
      <p:sp>
        <p:nvSpPr>
          <p:cNvPr id="260" name="Google Shape;260;SLIDES_API499381720_87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SLIDES_API499381720_8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SLIDES_API499381720_9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SLIDES_API499381720_9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7" name="Shape 287"/>
        <p:cNvGrpSpPr/>
        <p:nvPr/>
      </p:nvGrpSpPr>
      <p:grpSpPr>
        <a:xfrm>
          <a:off x="0" y="0"/>
          <a:ext cx="0" cy="0"/>
          <a:chOff x="0" y="0"/>
          <a:chExt cx="0" cy="0"/>
        </a:xfrm>
      </p:grpSpPr>
      <p:sp>
        <p:nvSpPr>
          <p:cNvPr id="288" name="Google Shape;288;SLIDES_API499381720_10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SLIDES_API499381720_10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5" name="Shape 295"/>
        <p:cNvGrpSpPr/>
        <p:nvPr/>
      </p:nvGrpSpPr>
      <p:grpSpPr>
        <a:xfrm>
          <a:off x="0" y="0"/>
          <a:ext cx="0" cy="0"/>
          <a:chOff x="0" y="0"/>
          <a:chExt cx="0" cy="0"/>
        </a:xfrm>
      </p:grpSpPr>
      <p:sp>
        <p:nvSpPr>
          <p:cNvPr id="296" name="Google Shape;296;SLIDES_API499381720_11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SLIDES_API499381720_11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SLIDES_API499381720_127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SLIDES_API499381720_12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SLIDES_API499381720_13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SLIDES_API499381720_13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2" name="Shape 362"/>
        <p:cNvGrpSpPr/>
        <p:nvPr/>
      </p:nvGrpSpPr>
      <p:grpSpPr>
        <a:xfrm>
          <a:off x="0" y="0"/>
          <a:ext cx="0" cy="0"/>
          <a:chOff x="0" y="0"/>
          <a:chExt cx="0" cy="0"/>
        </a:xfrm>
      </p:grpSpPr>
      <p:sp>
        <p:nvSpPr>
          <p:cNvPr id="363" name="Google Shape;363;SLIDES_API499381720_14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SLIDES_API499381720_14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6" name="Shape 376"/>
        <p:cNvGrpSpPr/>
        <p:nvPr/>
      </p:nvGrpSpPr>
      <p:grpSpPr>
        <a:xfrm>
          <a:off x="0" y="0"/>
          <a:ext cx="0" cy="0"/>
          <a:chOff x="0" y="0"/>
          <a:chExt cx="0" cy="0"/>
        </a:xfrm>
      </p:grpSpPr>
      <p:sp>
        <p:nvSpPr>
          <p:cNvPr id="377" name="Google Shape;377;SLIDES_API499381720_15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SLIDES_API499381720_15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dk1"/>
        </a:solidFill>
        <a:effectLst/>
      </p:bgPr>
    </p:bg>
    <p:spTree>
      <p:nvGrpSpPr>
        <p:cNvPr id="55" name="Shape 55"/>
        <p:cNvGrpSpPr/>
        <p:nvPr/>
      </p:nvGrpSpPr>
      <p:grpSpPr>
        <a:xfrm>
          <a:off x="0" y="0"/>
          <a:ext cx="0" cy="0"/>
          <a:chOff x="0" y="0"/>
          <a:chExt cx="0" cy="0"/>
        </a:xfrm>
      </p:grpSpPr>
      <p:sp>
        <p:nvSpPr>
          <p:cNvPr id="56" name="Google Shape;56;p14"/>
          <p:cNvSpPr txBox="1"/>
          <p:nvPr>
            <p:ph type="ctrTitle"/>
          </p:nvPr>
        </p:nvSpPr>
        <p:spPr>
          <a:xfrm>
            <a:off x="570225" y="1545450"/>
            <a:ext cx="56019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lt1"/>
              </a:buClr>
              <a:buSzPts val="5200"/>
              <a:buNone/>
              <a:defRPr sz="5200">
                <a:solidFill>
                  <a:schemeClr val="lt1"/>
                </a:solidFill>
              </a:defRPr>
            </a:lvl1pPr>
            <a:lvl2pPr lvl="1">
              <a:lnSpc>
                <a:spcPct val="75000"/>
              </a:lnSpc>
              <a:spcBef>
                <a:spcPts val="0"/>
              </a:spcBef>
              <a:spcAft>
                <a:spcPts val="0"/>
              </a:spcAft>
              <a:buClr>
                <a:schemeClr val="lt1"/>
              </a:buClr>
              <a:buSzPts val="5200"/>
              <a:buNone/>
              <a:defRPr sz="5200">
                <a:solidFill>
                  <a:schemeClr val="lt1"/>
                </a:solidFill>
              </a:defRPr>
            </a:lvl2pPr>
            <a:lvl3pPr lvl="2">
              <a:lnSpc>
                <a:spcPct val="75000"/>
              </a:lnSpc>
              <a:spcBef>
                <a:spcPts val="0"/>
              </a:spcBef>
              <a:spcAft>
                <a:spcPts val="0"/>
              </a:spcAft>
              <a:buClr>
                <a:schemeClr val="lt1"/>
              </a:buClr>
              <a:buSzPts val="5200"/>
              <a:buNone/>
              <a:defRPr sz="5200">
                <a:solidFill>
                  <a:schemeClr val="lt1"/>
                </a:solidFill>
              </a:defRPr>
            </a:lvl3pPr>
            <a:lvl4pPr lvl="3">
              <a:lnSpc>
                <a:spcPct val="75000"/>
              </a:lnSpc>
              <a:spcBef>
                <a:spcPts val="0"/>
              </a:spcBef>
              <a:spcAft>
                <a:spcPts val="0"/>
              </a:spcAft>
              <a:buClr>
                <a:schemeClr val="lt1"/>
              </a:buClr>
              <a:buSzPts val="5200"/>
              <a:buNone/>
              <a:defRPr sz="5200">
                <a:solidFill>
                  <a:schemeClr val="lt1"/>
                </a:solidFill>
              </a:defRPr>
            </a:lvl4pPr>
            <a:lvl5pPr lvl="4">
              <a:lnSpc>
                <a:spcPct val="75000"/>
              </a:lnSpc>
              <a:spcBef>
                <a:spcPts val="0"/>
              </a:spcBef>
              <a:spcAft>
                <a:spcPts val="0"/>
              </a:spcAft>
              <a:buClr>
                <a:schemeClr val="lt1"/>
              </a:buClr>
              <a:buSzPts val="5200"/>
              <a:buNone/>
              <a:defRPr sz="5200">
                <a:solidFill>
                  <a:schemeClr val="lt1"/>
                </a:solidFill>
              </a:defRPr>
            </a:lvl5pPr>
            <a:lvl6pPr lvl="5">
              <a:lnSpc>
                <a:spcPct val="75000"/>
              </a:lnSpc>
              <a:spcBef>
                <a:spcPts val="0"/>
              </a:spcBef>
              <a:spcAft>
                <a:spcPts val="0"/>
              </a:spcAft>
              <a:buClr>
                <a:schemeClr val="lt1"/>
              </a:buClr>
              <a:buSzPts val="5200"/>
              <a:buNone/>
              <a:defRPr sz="5200">
                <a:solidFill>
                  <a:schemeClr val="lt1"/>
                </a:solidFill>
              </a:defRPr>
            </a:lvl6pPr>
            <a:lvl7pPr lvl="6">
              <a:lnSpc>
                <a:spcPct val="75000"/>
              </a:lnSpc>
              <a:spcBef>
                <a:spcPts val="0"/>
              </a:spcBef>
              <a:spcAft>
                <a:spcPts val="0"/>
              </a:spcAft>
              <a:buClr>
                <a:schemeClr val="lt1"/>
              </a:buClr>
              <a:buSzPts val="5200"/>
              <a:buNone/>
              <a:defRPr sz="5200">
                <a:solidFill>
                  <a:schemeClr val="lt1"/>
                </a:solidFill>
              </a:defRPr>
            </a:lvl7pPr>
            <a:lvl8pPr lvl="7">
              <a:lnSpc>
                <a:spcPct val="75000"/>
              </a:lnSpc>
              <a:spcBef>
                <a:spcPts val="0"/>
              </a:spcBef>
              <a:spcAft>
                <a:spcPts val="0"/>
              </a:spcAft>
              <a:buClr>
                <a:schemeClr val="lt1"/>
              </a:buClr>
              <a:buSzPts val="5200"/>
              <a:buNone/>
              <a:defRPr sz="5200">
                <a:solidFill>
                  <a:schemeClr val="lt1"/>
                </a:solidFill>
              </a:defRPr>
            </a:lvl8pPr>
            <a:lvl9pPr lvl="8">
              <a:lnSpc>
                <a:spcPct val="75000"/>
              </a:lnSpc>
              <a:spcBef>
                <a:spcPts val="0"/>
              </a:spcBef>
              <a:spcAft>
                <a:spcPts val="0"/>
              </a:spcAft>
              <a:buClr>
                <a:schemeClr val="lt1"/>
              </a:buClr>
              <a:buSzPts val="5200"/>
              <a:buNone/>
              <a:defRPr sz="5200">
                <a:solidFill>
                  <a:schemeClr val="lt1"/>
                </a:solidFill>
              </a:defRPr>
            </a:lvl9pPr>
          </a:lstStyle>
          <a:p/>
        </p:txBody>
      </p:sp>
      <p:sp>
        <p:nvSpPr>
          <p:cNvPr id="57" name="Google Shape;57;p1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
        <p:nvSpPr>
          <p:cNvPr id="58" name="Google Shape;58;p14"/>
          <p:cNvSpPr txBox="1"/>
          <p:nvPr>
            <p:ph type="subTitle" idx="2"/>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 name="Google Shape;64;p16"/>
          <p:cNvSpPr txBox="1"/>
          <p:nvPr>
            <p:ph type="body" idx="1"/>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65" name="Google Shape;65;p1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66" name="Shape 66"/>
        <p:cNvGrpSpPr/>
        <p:nvPr/>
      </p:nvGrpSpPr>
      <p:grpSpPr>
        <a:xfrm>
          <a:off x="0" y="0"/>
          <a:ext cx="0" cy="0"/>
          <a:chOff x="0" y="0"/>
          <a:chExt cx="0" cy="0"/>
        </a:xfrm>
      </p:grpSpPr>
      <p:sp>
        <p:nvSpPr>
          <p:cNvPr id="67" name="Google Shape;67;p17"/>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8" name="Google Shape;68;p17"/>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69" name="Google Shape;69;p1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0" name="Google Shape;70;p17"/>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1" name="Shape 71"/>
        <p:cNvGrpSpPr/>
        <p:nvPr/>
      </p:nvGrpSpPr>
      <p:grpSpPr>
        <a:xfrm>
          <a:off x="0" y="0"/>
          <a:ext cx="0" cy="0"/>
          <a:chOff x="0" y="0"/>
          <a:chExt cx="0" cy="0"/>
        </a:xfrm>
      </p:grpSpPr>
      <p:sp>
        <p:nvSpPr>
          <p:cNvPr id="72" name="Google Shape;72;p18"/>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3" name="Google Shape;73;p1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4" name="Google Shape;74;p18"/>
          <p:cNvSpPr/>
          <p:nvPr>
            <p:ph type="pic" idx="2"/>
          </p:nvPr>
        </p:nvSpPr>
        <p:spPr>
          <a:xfrm>
            <a:off x="6173525" y="-13300"/>
            <a:ext cx="2970600" cy="5156700"/>
          </a:xfrm>
          <a:prstGeom prst="rect">
            <a:avLst/>
          </a:prstGeom>
          <a:noFill/>
          <a:ln>
            <a:noFill/>
          </a:ln>
        </p:spPr>
      </p:sp>
      <p:sp>
        <p:nvSpPr>
          <p:cNvPr id="75" name="Google Shape;75;p18"/>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76" name="Shape 76"/>
        <p:cNvGrpSpPr/>
        <p:nvPr/>
      </p:nvGrpSpPr>
      <p:grpSpPr>
        <a:xfrm>
          <a:off x="0" y="0"/>
          <a:ext cx="0" cy="0"/>
          <a:chOff x="0" y="0"/>
          <a:chExt cx="0" cy="0"/>
        </a:xfrm>
      </p:grpSpPr>
      <p:sp>
        <p:nvSpPr>
          <p:cNvPr id="77" name="Google Shape;77;p19"/>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78" name="Google Shape;78;p1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9" name="Google Shape;79;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19"/>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1" name="Google Shape;81;p19"/>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2" name="Google Shape;82;p19"/>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3" name="Google Shape;83;p19"/>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4" name="Google Shape;84;p19"/>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dk1"/>
        </a:solidFill>
        <a:effectLst/>
      </p:bgPr>
    </p:bg>
    <p:spTree>
      <p:nvGrpSpPr>
        <p:cNvPr id="85" name="Shape 85"/>
        <p:cNvGrpSpPr/>
        <p:nvPr/>
      </p:nvGrpSpPr>
      <p:grpSpPr>
        <a:xfrm>
          <a:off x="0" y="0"/>
          <a:ext cx="0" cy="0"/>
          <a:chOff x="0" y="0"/>
          <a:chExt cx="0" cy="0"/>
        </a:xfrm>
      </p:grpSpPr>
      <p:sp>
        <p:nvSpPr>
          <p:cNvPr id="86" name="Google Shape;86;p20"/>
          <p:cNvSpPr txBox="1"/>
          <p:nvPr>
            <p:ph type="body" idx="1"/>
          </p:nvPr>
        </p:nvSpPr>
        <p:spPr>
          <a:xfrm>
            <a:off x="910425" y="342900"/>
            <a:ext cx="7921800" cy="4226100"/>
          </a:xfrm>
          <a:prstGeom prst="rect">
            <a:avLst/>
          </a:prstGeom>
        </p:spPr>
        <p:txBody>
          <a:bodyPr spcFirstLastPara="1" wrap="square" lIns="91425" tIns="91425" rIns="91425" bIns="91425" anchor="ctr" anchorCtr="0">
            <a:normAutofit/>
          </a:bodyPr>
          <a:lstStyle>
            <a:lvl1pPr marL="457200" lvl="0" indent="-381000">
              <a:lnSpc>
                <a:spcPct val="200000"/>
              </a:lnSpc>
              <a:spcBef>
                <a:spcPts val="0"/>
              </a:spcBef>
              <a:spcAft>
                <a:spcPts val="0"/>
              </a:spcAft>
              <a:buClr>
                <a:schemeClr val="lt1"/>
              </a:buClr>
              <a:buSzPts val="2400"/>
              <a:buChar char="•"/>
              <a:defRPr sz="2400" b="1">
                <a:solidFill>
                  <a:schemeClr val="lt1"/>
                </a:solidFill>
              </a:defRPr>
            </a:lvl1pPr>
            <a:lvl2pPr marL="914400" lvl="1" indent="-381000">
              <a:lnSpc>
                <a:spcPct val="200000"/>
              </a:lnSpc>
              <a:spcBef>
                <a:spcPts val="800"/>
              </a:spcBef>
              <a:spcAft>
                <a:spcPts val="0"/>
              </a:spcAft>
              <a:buClr>
                <a:schemeClr val="lt1"/>
              </a:buClr>
              <a:buSzPts val="2400"/>
              <a:buChar char="•"/>
              <a:defRPr sz="2400" b="1">
                <a:solidFill>
                  <a:schemeClr val="lt1"/>
                </a:solidFill>
              </a:defRPr>
            </a:lvl2pPr>
            <a:lvl3pPr marL="1371600" lvl="2" indent="-381000">
              <a:lnSpc>
                <a:spcPct val="200000"/>
              </a:lnSpc>
              <a:spcBef>
                <a:spcPts val="800"/>
              </a:spcBef>
              <a:spcAft>
                <a:spcPts val="0"/>
              </a:spcAft>
              <a:buClr>
                <a:schemeClr val="lt1"/>
              </a:buClr>
              <a:buSzPts val="2400"/>
              <a:buChar char="•"/>
              <a:defRPr sz="2400" b="1">
                <a:solidFill>
                  <a:schemeClr val="lt1"/>
                </a:solidFill>
              </a:defRPr>
            </a:lvl3pPr>
            <a:lvl4pPr marL="1828800" lvl="3" indent="-381000">
              <a:lnSpc>
                <a:spcPct val="200000"/>
              </a:lnSpc>
              <a:spcBef>
                <a:spcPts val="800"/>
              </a:spcBef>
              <a:spcAft>
                <a:spcPts val="0"/>
              </a:spcAft>
              <a:buClr>
                <a:schemeClr val="lt1"/>
              </a:buClr>
              <a:buSzPts val="2400"/>
              <a:buChar char="•"/>
              <a:defRPr sz="2400" b="1">
                <a:solidFill>
                  <a:schemeClr val="lt1"/>
                </a:solidFill>
              </a:defRPr>
            </a:lvl4pPr>
            <a:lvl5pPr marL="2286000" lvl="4" indent="-381000">
              <a:lnSpc>
                <a:spcPct val="200000"/>
              </a:lnSpc>
              <a:spcBef>
                <a:spcPts val="800"/>
              </a:spcBef>
              <a:spcAft>
                <a:spcPts val="0"/>
              </a:spcAft>
              <a:buClr>
                <a:schemeClr val="lt1"/>
              </a:buClr>
              <a:buSzPts val="2400"/>
              <a:buChar char="•"/>
              <a:defRPr sz="2400" b="1">
                <a:solidFill>
                  <a:schemeClr val="lt1"/>
                </a:solidFill>
              </a:defRPr>
            </a:lvl5pPr>
            <a:lvl6pPr marL="2743200" lvl="5" indent="-381000">
              <a:lnSpc>
                <a:spcPct val="200000"/>
              </a:lnSpc>
              <a:spcBef>
                <a:spcPts val="800"/>
              </a:spcBef>
              <a:spcAft>
                <a:spcPts val="0"/>
              </a:spcAft>
              <a:buClr>
                <a:schemeClr val="lt1"/>
              </a:buClr>
              <a:buSzPts val="2400"/>
              <a:buChar char="•"/>
              <a:defRPr sz="2400" b="1">
                <a:solidFill>
                  <a:schemeClr val="lt1"/>
                </a:solidFill>
              </a:defRPr>
            </a:lvl6pPr>
            <a:lvl7pPr marL="3200400" lvl="6" indent="-381000">
              <a:lnSpc>
                <a:spcPct val="200000"/>
              </a:lnSpc>
              <a:spcBef>
                <a:spcPts val="800"/>
              </a:spcBef>
              <a:spcAft>
                <a:spcPts val="0"/>
              </a:spcAft>
              <a:buClr>
                <a:schemeClr val="lt1"/>
              </a:buClr>
              <a:buSzPts val="2400"/>
              <a:buChar char="•"/>
              <a:defRPr sz="2400" b="1">
                <a:solidFill>
                  <a:schemeClr val="lt1"/>
                </a:solidFill>
              </a:defRPr>
            </a:lvl7pPr>
            <a:lvl8pPr marL="3657600" lvl="7" indent="-381000">
              <a:lnSpc>
                <a:spcPct val="200000"/>
              </a:lnSpc>
              <a:spcBef>
                <a:spcPts val="800"/>
              </a:spcBef>
              <a:spcAft>
                <a:spcPts val="0"/>
              </a:spcAft>
              <a:buClr>
                <a:schemeClr val="lt1"/>
              </a:buClr>
              <a:buSzPts val="2400"/>
              <a:buChar char="•"/>
              <a:defRPr sz="2400" b="1">
                <a:solidFill>
                  <a:schemeClr val="lt1"/>
                </a:solidFill>
              </a:defRPr>
            </a:lvl8pPr>
            <a:lvl9pPr marL="4114800" lvl="8" indent="-381000">
              <a:lnSpc>
                <a:spcPct val="200000"/>
              </a:lnSpc>
              <a:spcBef>
                <a:spcPts val="800"/>
              </a:spcBef>
              <a:spcAft>
                <a:spcPts val="800"/>
              </a:spcAft>
              <a:buClr>
                <a:schemeClr val="lt1"/>
              </a:buClr>
              <a:buSzPts val="2400"/>
              <a:buChar char="•"/>
              <a:defRPr sz="2400" b="1">
                <a:solidFill>
                  <a:schemeClr val="lt1"/>
                </a:solidFill>
              </a:defRPr>
            </a:lvl9pPr>
          </a:lstStyle>
          <a:p/>
        </p:txBody>
      </p:sp>
      <p:sp>
        <p:nvSpPr>
          <p:cNvPr id="87" name="Google Shape;87;p2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88" name="Shape 88"/>
        <p:cNvGrpSpPr/>
        <p:nvPr/>
      </p:nvGrpSpPr>
      <p:grpSpPr>
        <a:xfrm>
          <a:off x="0" y="0"/>
          <a:ext cx="0" cy="0"/>
          <a:chOff x="0" y="0"/>
          <a:chExt cx="0" cy="0"/>
        </a:xfrm>
      </p:grpSpPr>
      <p:sp>
        <p:nvSpPr>
          <p:cNvPr id="89" name="Google Shape;89;p21"/>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21"/>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1" name="Google Shape;91;p21"/>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2" name="Google Shape;92;p2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3" name="Shape 93"/>
        <p:cNvGrpSpPr/>
        <p:nvPr/>
      </p:nvGrpSpPr>
      <p:grpSpPr>
        <a:xfrm>
          <a:off x="0" y="0"/>
          <a:ext cx="0" cy="0"/>
          <a:chOff x="0" y="0"/>
          <a:chExt cx="0" cy="0"/>
        </a:xfrm>
      </p:grpSpPr>
      <p:sp>
        <p:nvSpPr>
          <p:cNvPr id="94" name="Google Shape;94;p22"/>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 name="Google Shape;95;p2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96" name="Shape 96"/>
        <p:cNvGrpSpPr/>
        <p:nvPr/>
      </p:nvGrpSpPr>
      <p:grpSpPr>
        <a:xfrm>
          <a:off x="0" y="0"/>
          <a:ext cx="0" cy="0"/>
          <a:chOff x="0" y="0"/>
          <a:chExt cx="0" cy="0"/>
        </a:xfrm>
      </p:grpSpPr>
      <p:sp>
        <p:nvSpPr>
          <p:cNvPr id="97" name="Google Shape;97;p23"/>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 name="Google Shape;98;p23"/>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99" name="Google Shape;99;p2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00" name="Shape 100"/>
        <p:cNvGrpSpPr/>
        <p:nvPr/>
      </p:nvGrpSpPr>
      <p:grpSpPr>
        <a:xfrm>
          <a:off x="0" y="0"/>
          <a:ext cx="0" cy="0"/>
          <a:chOff x="0" y="0"/>
          <a:chExt cx="0" cy="0"/>
        </a:xfrm>
      </p:grpSpPr>
      <p:sp>
        <p:nvSpPr>
          <p:cNvPr id="101" name="Google Shape;101;p24"/>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2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03" name="Shape 103"/>
        <p:cNvGrpSpPr/>
        <p:nvPr/>
      </p:nvGrpSpPr>
      <p:grpSpPr>
        <a:xfrm>
          <a:off x="0" y="0"/>
          <a:ext cx="0" cy="0"/>
          <a:chOff x="0" y="0"/>
          <a:chExt cx="0" cy="0"/>
        </a:xfrm>
      </p:grpSpPr>
      <p:sp>
        <p:nvSpPr>
          <p:cNvPr id="104" name="Google Shape;104;p25"/>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05" name="Google Shape;105;p2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106" name="Google Shape;106;p25"/>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07" name="Shape 107"/>
        <p:cNvGrpSpPr/>
        <p:nvPr/>
      </p:nvGrpSpPr>
      <p:grpSpPr>
        <a:xfrm>
          <a:off x="0" y="0"/>
          <a:ext cx="0" cy="0"/>
          <a:chOff x="0" y="0"/>
          <a:chExt cx="0" cy="0"/>
        </a:xfrm>
      </p:grpSpPr>
      <p:sp>
        <p:nvSpPr>
          <p:cNvPr id="108" name="Google Shape;108;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26"/>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0" name="Google Shape;110;p26"/>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1" name="Google Shape;111;p26"/>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12" name="Google Shape;112;p2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3" name="Shape 113"/>
        <p:cNvGrpSpPr/>
        <p:nvPr/>
      </p:nvGrpSpPr>
      <p:grpSpPr>
        <a:xfrm>
          <a:off x="0" y="0"/>
          <a:ext cx="0" cy="0"/>
          <a:chOff x="0" y="0"/>
          <a:chExt cx="0" cy="0"/>
        </a:xfrm>
      </p:grpSpPr>
      <p:sp>
        <p:nvSpPr>
          <p:cNvPr id="114" name="Google Shape;114;p27"/>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15" name="Google Shape;115;p2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16" name="Shape 116"/>
        <p:cNvGrpSpPr/>
        <p:nvPr/>
      </p:nvGrpSpPr>
      <p:grpSpPr>
        <a:xfrm>
          <a:off x="0" y="0"/>
          <a:ext cx="0" cy="0"/>
          <a:chOff x="0" y="0"/>
          <a:chExt cx="0" cy="0"/>
        </a:xfrm>
      </p:grpSpPr>
      <p:sp>
        <p:nvSpPr>
          <p:cNvPr id="117" name="Google Shape;117;p28"/>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8" name="Google Shape;118;p28"/>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19" name="Google Shape;119;p2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0" name="Shape 120"/>
        <p:cNvGrpSpPr/>
        <p:nvPr/>
      </p:nvGrpSpPr>
      <p:grpSpPr>
        <a:xfrm>
          <a:off x="0" y="0"/>
          <a:ext cx="0" cy="0"/>
          <a:chOff x="0" y="0"/>
          <a:chExt cx="0" cy="0"/>
        </a:xfrm>
      </p:grpSpPr>
      <p:sp>
        <p:nvSpPr>
          <p:cNvPr id="121" name="Google Shape;121;p2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22" name="Shape 122"/>
        <p:cNvGrpSpPr/>
        <p:nvPr/>
      </p:nvGrpSpPr>
      <p:grpSpPr>
        <a:xfrm>
          <a:off x="0" y="0"/>
          <a:ext cx="0" cy="0"/>
          <a:chOff x="0" y="0"/>
          <a:chExt cx="0" cy="0"/>
        </a:xfrm>
      </p:grpSpPr>
      <p:sp>
        <p:nvSpPr>
          <p:cNvPr id="123" name="Google Shape;123;p30"/>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24" name="Google Shape;124;p3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125" name="Shape 125"/>
        <p:cNvGrpSpPr/>
        <p:nvPr/>
      </p:nvGrpSpPr>
      <p:grpSpPr>
        <a:xfrm>
          <a:off x="0" y="0"/>
          <a:ext cx="0" cy="0"/>
          <a:chOff x="0" y="0"/>
          <a:chExt cx="0" cy="0"/>
        </a:xfrm>
      </p:grpSpPr>
      <p:sp>
        <p:nvSpPr>
          <p:cNvPr id="126" name="Google Shape;126;p31"/>
          <p:cNvSpPr txBox="1"/>
          <p:nvPr>
            <p:ph type="body" idx="1"/>
          </p:nvPr>
        </p:nvSpPr>
        <p:spPr>
          <a:xfrm>
            <a:off x="4572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27" name="Google Shape;127;p31"/>
          <p:cNvSpPr txBox="1"/>
          <p:nvPr>
            <p:ph type="subTitle" idx="2"/>
          </p:nvPr>
        </p:nvSpPr>
        <p:spPr>
          <a:xfrm>
            <a:off x="4572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28" name="Google Shape;128;p31"/>
          <p:cNvSpPr txBox="1"/>
          <p:nvPr>
            <p:ph type="body" idx="3"/>
          </p:nvPr>
        </p:nvSpPr>
        <p:spPr>
          <a:xfrm>
            <a:off x="326895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29" name="Google Shape;129;p31"/>
          <p:cNvSpPr txBox="1"/>
          <p:nvPr>
            <p:ph type="subTitle" idx="4"/>
          </p:nvPr>
        </p:nvSpPr>
        <p:spPr>
          <a:xfrm>
            <a:off x="326895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0" name="Google Shape;130;p31"/>
          <p:cNvSpPr txBox="1"/>
          <p:nvPr>
            <p:ph type="body" idx="5"/>
          </p:nvPr>
        </p:nvSpPr>
        <p:spPr>
          <a:xfrm>
            <a:off x="60807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1" name="Google Shape;131;p31"/>
          <p:cNvSpPr txBox="1"/>
          <p:nvPr>
            <p:ph type="subTitle" idx="6"/>
          </p:nvPr>
        </p:nvSpPr>
        <p:spPr>
          <a:xfrm>
            <a:off x="60807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2" name="Google Shape;132;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19"/>
          <p:cNvSpPr txBox="1"/>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1" name="Google Shape;131;p19"/>
          <p:cNvSpPr txBox="1"/>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2" name="Google Shape;132;p19"/>
          <p:cNvSpPr txBox="1"/>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135" name="Google Shape;135;p19"/>
          <p:cNvSpPr txBox="1"/>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6" name="Google Shape;136;p19"/>
          <p:cNvSpPr txBox="1"/>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7" name="Google Shape;137;p19"/>
          <p:cNvSpPr txBox="1"/>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8" name="Google Shape;138;p19"/>
          <p:cNvSpPr txBox="1"/>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9" name="Google Shape;139;p19"/>
          <p:cNvSpPr txBox="1"/>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40" name="Google Shape;140;p19"/>
          <p:cNvSpPr txBox="1"/>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1pPr>
            <a:lvl2pPr lvl="1">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2pPr>
            <a:lvl3pPr lvl="2">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3pPr>
            <a:lvl4pPr lvl="3">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4pPr>
            <a:lvl5pPr lvl="4">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5pPr>
            <a:lvl6pPr lvl="5">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6pPr>
            <a:lvl7pPr lvl="6">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7pPr>
            <a:lvl8pPr lvl="7">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8pPr>
            <a:lvl9pPr lvl="8">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1pPr>
            <a:lvl2pPr marL="914400" lvl="1"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2pPr>
            <a:lvl3pPr marL="1371600" lvl="2"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3pPr>
            <a:lvl4pPr marL="1828800" lvl="3"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4pPr>
            <a:lvl5pPr marL="2286000" lvl="4"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5pPr>
            <a:lvl6pPr marL="2743200" lvl="5"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6pPr>
            <a:lvl7pPr marL="3200400" lvl="6"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7pPr>
            <a:lvl8pPr marL="3657600" lvl="7"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8pPr>
            <a:lvl9pPr marL="4114800" lvl="8" indent="-317500">
              <a:lnSpc>
                <a:spcPct val="100000"/>
              </a:lnSpc>
              <a:spcBef>
                <a:spcPts val="800"/>
              </a:spcBef>
              <a:spcAft>
                <a:spcPts val="80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9pPr>
          </a:lstStyle>
          <a:p/>
        </p:txBody>
      </p:sp>
      <p:cxnSp>
        <p:nvCxnSpPr>
          <p:cNvPr id="53" name="Google Shape;53;p13"/>
          <p:cNvCxnSpPr/>
          <p:nvPr/>
        </p:nvCxnSpPr>
        <p:spPr>
          <a:xfrm>
            <a:off x="224675" y="224675"/>
            <a:ext cx="8694900" cy="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54;p13"/>
          <p:cNvCxnSpPr/>
          <p:nvPr/>
        </p:nvCxnSpPr>
        <p:spPr>
          <a:xfrm>
            <a:off x="224675" y="4915825"/>
            <a:ext cx="8694900" cy="0"/>
          </a:xfrm>
          <a:prstGeom prst="straightConnector1">
            <a:avLst/>
          </a:prstGeom>
          <a:noFill/>
          <a:ln w="9525" cap="flat" cmpd="sng">
            <a:solidFill>
              <a:schemeClr val="dk2"/>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8.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0.xml"/><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8.xml"/><Relationship Id="rId2" Type="http://schemas.openxmlformats.org/officeDocument/2006/relationships/image" Target="../media/image1.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8.xml"/><Relationship Id="rId2" Type="http://schemas.openxmlformats.org/officeDocument/2006/relationships/image" Target="../media/image1.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3.xml"/><Relationship Id="rId2" Type="http://schemas.openxmlformats.org/officeDocument/2006/relationships/image" Target="../media/image6.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sp>
        <p:nvSpPr>
          <p:cNvPr id="137" name="Google Shape;137;p32" descr="presentation_title"/>
          <p:cNvSpPr txBox="1"/>
          <p:nvPr>
            <p:ph type="ctrTitle"/>
          </p:nvPr>
        </p:nvSpPr>
        <p:spPr>
          <a:xfrm>
            <a:off x="570225" y="1545450"/>
            <a:ext cx="7659300" cy="2052600"/>
          </a:xfrm>
          <a:prstGeom prst="rect">
            <a:avLst/>
          </a:prstGeom>
        </p:spPr>
        <p:txBody>
          <a:bodyPr spcFirstLastPara="1" wrap="square" lIns="0" tIns="91425" rIns="0" bIns="91425" anchor="ctr" anchorCtr="0">
            <a:noAutofit/>
          </a:bodyPr>
          <a:lstStyle/>
          <a:p>
            <a:pPr marL="0" lvl="0" indent="0" algn="l" rtl="0">
              <a:spcBef>
                <a:spcPts val="0"/>
              </a:spcBef>
              <a:spcAft>
                <a:spcPts val="0"/>
              </a:spcAft>
              <a:buNone/>
            </a:pPr>
            <a:r>
              <a:rPr lang="en-GB" sz="5000" b="1">
                <a:latin typeface="Bodoni Moda"/>
                <a:ea typeface="Bodoni Moda"/>
                <a:cs typeface="Bodoni Moda"/>
                <a:sym typeface="Bodoni Moda"/>
              </a:rPr>
              <a:t>Understanding Personality Development</a:t>
            </a:r>
            <a:endParaRPr sz="5000" b="1">
              <a:latin typeface="Bodoni Moda"/>
              <a:ea typeface="Bodoni Moda"/>
              <a:cs typeface="Bodoni Moda"/>
              <a:sym typeface="Bodoni Moda"/>
            </a:endParaRPr>
          </a:p>
        </p:txBody>
      </p:sp>
      <p:sp>
        <p:nvSpPr>
          <p:cNvPr id="139" name="Google Shape;139;p32"/>
          <p:cNvSpPr/>
          <p:nvPr/>
        </p:nvSpPr>
        <p:spPr>
          <a:xfrm>
            <a:off x="570225" y="1171000"/>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pic>
        <p:nvPicPr>
          <p:cNvPr id="7" name="Picture 6" descr="pixelcut-export (1)"/>
          <p:cNvPicPr>
            <a:picLocks noChangeAspect="1"/>
          </p:cNvPicPr>
          <p:nvPr/>
        </p:nvPicPr>
        <p:blipFill>
          <a:blip r:embed="rId1"/>
          <a:srcRect t="22967" b="48563"/>
          <a:stretch>
            <a:fillRect/>
          </a:stretch>
        </p:blipFill>
        <p:spPr>
          <a:xfrm>
            <a:off x="4837430" y="21399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33"/>
          <p:cNvSpPr txBox="1"/>
          <p:nvPr>
            <p:ph type="subTitle" idx="4294967295"/>
          </p:nvPr>
        </p:nvSpPr>
        <p:spPr>
          <a:xfrm>
            <a:off x="348525" y="342900"/>
            <a:ext cx="1918200" cy="396600"/>
          </a:xfrm>
          <a:prstGeom prst="rect">
            <a:avLst/>
          </a:prstGeom>
        </p:spPr>
        <p:txBody>
          <a:bodyPr spcFirstLastPara="1" wrap="square" lIns="0" tIns="91425" rIns="0" bIns="91425" anchor="t" anchorCtr="0">
            <a:noAutofit/>
          </a:bodyPr>
          <a:lstStyle/>
          <a:p>
            <a:pPr marL="0" lvl="0" indent="0" algn="l" rtl="0">
              <a:spcBef>
                <a:spcPts val="0"/>
              </a:spcBef>
              <a:spcAft>
                <a:spcPts val="800"/>
              </a:spcAft>
              <a:buNone/>
            </a:pPr>
            <a:r>
              <a:rPr lang="en-GB" sz="2400" b="1" i="1">
                <a:solidFill>
                  <a:schemeClr val="lt1"/>
                </a:solidFill>
                <a:latin typeface="Bodoni Moda"/>
                <a:ea typeface="Bodoni Moda"/>
                <a:cs typeface="Bodoni Moda"/>
                <a:sym typeface="Bodoni Moda"/>
              </a:rPr>
              <a:t>Agenda</a:t>
            </a:r>
            <a:endParaRPr sz="2400" b="1" i="1">
              <a:solidFill>
                <a:schemeClr val="lt1"/>
              </a:solidFill>
              <a:latin typeface="Bodoni Moda"/>
              <a:ea typeface="Bodoni Moda"/>
              <a:cs typeface="Bodoni Moda"/>
              <a:sym typeface="Bodoni Moda"/>
            </a:endParaRPr>
          </a:p>
        </p:txBody>
      </p:sp>
      <p:sp>
        <p:nvSpPr>
          <p:cNvPr id="145" name="Google Shape;145;p33" descr="agenda_0"/>
          <p:cNvSpPr txBox="1"/>
          <p:nvPr/>
        </p:nvSpPr>
        <p:spPr>
          <a:xfrm>
            <a:off x="348615" y="1118870"/>
            <a:ext cx="4220210" cy="2522220"/>
          </a:xfrm>
          <a:prstGeom prst="rect">
            <a:avLst/>
          </a:prstGeom>
          <a:noFill/>
          <a:ln>
            <a:noFill/>
          </a:ln>
        </p:spPr>
        <p:txBody>
          <a:bodyPr spcFirstLastPara="1" wrap="square" lIns="0" tIns="91425" rIns="91425" bIns="0" anchor="b" anchorCtr="0">
            <a:noAutofit/>
          </a:bodyPr>
          <a:lstStyle/>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Introduction to Personality Development</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Theories of Personality Development</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Emotional Wellbeing</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Social Skills and Relationships</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Academic and Professional Success</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Self Awareness and Personal Growth</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Cultural and Ethical Understanding</a:t>
            </a:r>
            <a:endParaRPr sz="16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146" name="Google Shape;146;p33" descr="agenda_1"/>
          <p:cNvSpPr txBox="1"/>
          <p:nvPr/>
        </p:nvSpPr>
        <p:spPr>
          <a:xfrm>
            <a:off x="4568825" y="1118870"/>
            <a:ext cx="4168140" cy="2522220"/>
          </a:xfrm>
          <a:prstGeom prst="rect">
            <a:avLst/>
          </a:prstGeom>
          <a:noFill/>
          <a:ln>
            <a:noFill/>
          </a:ln>
        </p:spPr>
        <p:txBody>
          <a:bodyPr spcFirstLastPara="1" wrap="square" lIns="0" tIns="91425" rIns="91425" bIns="0" anchor="b" anchorCtr="0">
            <a:noAutofit/>
          </a:bodyPr>
          <a:lstStyle/>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Adaptability and Flexibility</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Leadership Skills</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Life Satisfaction and Happiness</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Components of Emotional Intelligence</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Building Resilience</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Activities for Personality Development</a:t>
            </a:r>
            <a:endParaRPr sz="16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600">
                <a:solidFill>
                  <a:schemeClr val="lt1"/>
                </a:solidFill>
                <a:latin typeface="Georgia" panose="02040502050405090303"/>
                <a:ea typeface="Georgia" panose="02040502050405090303"/>
                <a:cs typeface="Georgia" panose="02040502050405090303"/>
                <a:sym typeface="Georgia" panose="02040502050405090303"/>
              </a:rPr>
              <a:t>Conclusion</a:t>
            </a:r>
            <a:endParaRPr sz="16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147" name="Google Shape;147;p33"/>
          <p:cNvSpPr/>
          <p:nvPr/>
        </p:nvSpPr>
        <p:spPr>
          <a:xfrm>
            <a:off x="1532650" y="657900"/>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51" name="Shape 151"/>
        <p:cNvGrpSpPr/>
        <p:nvPr/>
      </p:nvGrpSpPr>
      <p:grpSpPr>
        <a:xfrm>
          <a:off x="0" y="0"/>
          <a:ext cx="0" cy="0"/>
          <a:chOff x="0" y="0"/>
          <a:chExt cx="0" cy="0"/>
        </a:xfrm>
      </p:grpSpPr>
      <p:pic>
        <p:nvPicPr>
          <p:cNvPr id="1" name="Picture 0" descr="pdep"/>
          <p:cNvPicPr>
            <a:picLocks noChangeAspect="1"/>
          </p:cNvPicPr>
          <p:nvPr/>
        </p:nvPicPr>
        <p:blipFill>
          <a:blip r:embed="rId1"/>
          <a:stretch>
            <a:fillRect/>
          </a:stretch>
        </p:blipFill>
        <p:spPr>
          <a:xfrm>
            <a:off x="5227320" y="784860"/>
            <a:ext cx="3620770" cy="3620770"/>
          </a:xfrm>
          <a:prstGeom prst="rect">
            <a:avLst/>
          </a:prstGeom>
        </p:spPr>
      </p:pic>
      <p:sp>
        <p:nvSpPr>
          <p:cNvPr id="152" name="Google Shape;152;p34" descr="detail_0"/>
          <p:cNvSpPr txBox="1"/>
          <p:nvPr>
            <p:ph type="body" idx="1"/>
          </p:nvPr>
        </p:nvSpPr>
        <p:spPr>
          <a:xfrm>
            <a:off x="348615" y="1233805"/>
            <a:ext cx="5081905" cy="2587625"/>
          </a:xfrm>
          <a:prstGeom prst="rect">
            <a:avLst/>
          </a:prstGeom>
        </p:spPr>
        <p:txBody>
          <a:bodyPr spcFirstLastPara="1" wrap="square" lIns="0" tIns="91425" rIns="91425" bIns="91425" anchor="b" anchorCtr="0">
            <a:noAutofit/>
          </a:bodyPr>
          <a:lstStyle/>
          <a:p>
            <a:pPr marL="0" lvl="0" indent="0" algn="l" rtl="0">
              <a:lnSpc>
                <a:spcPct val="115000"/>
              </a:lnSpc>
              <a:spcBef>
                <a:spcPts val="0"/>
              </a:spcBef>
              <a:spcAft>
                <a:spcPts val="1500"/>
              </a:spcAft>
              <a:buNone/>
            </a:pPr>
            <a:r>
              <a:rPr lang="en-GB" sz="1600"/>
              <a:t>Personality development refers to the process of enhancing one's emotional, social, and cognitive capabilities. It is essential in education as it fosters students' emotional and social growth. Understanding personality development theories enables teachers to support their students more effectively, creating an environment conducive to personal and academic success.</a:t>
            </a:r>
            <a:endParaRPr sz="1600"/>
          </a:p>
        </p:txBody>
      </p:sp>
      <p:sp>
        <p:nvSpPr>
          <p:cNvPr id="153" name="Google Shape;153;p34"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Introduction to Personality Development</a:t>
            </a:r>
            <a:endParaRPr sz="2400" b="1">
              <a:solidFill>
                <a:schemeClr val="lt1"/>
              </a:solidFill>
              <a:latin typeface="Bodoni Moda"/>
              <a:ea typeface="Bodoni Moda"/>
              <a:cs typeface="Bodoni Moda"/>
              <a:sym typeface="Bodoni Moda"/>
            </a:endParaRPr>
          </a:p>
        </p:txBody>
      </p:sp>
      <p:sp>
        <p:nvSpPr>
          <p:cNvPr id="154" name="Google Shape;154;p34"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4"/>
                </a:solidFill>
                <a:latin typeface="Noto Sans" panose="020B0502040504020204"/>
                <a:ea typeface="Noto Sans" panose="020B0502040504020204"/>
                <a:cs typeface="Noto Sans" panose="020B0502040504020204"/>
                <a:sym typeface="Noto Sans" panose="020B0502040504020204"/>
              </a:rPr>
              <a:t>Overview</a:t>
            </a:r>
            <a:endParaRPr sz="1000" b="1">
              <a:solidFill>
                <a:schemeClr val="accent4"/>
              </a:solidFill>
              <a:latin typeface="Noto Sans" panose="020B0502040504020204"/>
              <a:ea typeface="Noto Sans" panose="020B0502040504020204"/>
              <a:cs typeface="Noto Sans" panose="020B0502040504020204"/>
              <a:sym typeface="Noto Sans" panose="020B0502040504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58" name="Shape 158"/>
        <p:cNvGrpSpPr/>
        <p:nvPr/>
      </p:nvGrpSpPr>
      <p:grpSpPr>
        <a:xfrm>
          <a:off x="0" y="0"/>
          <a:ext cx="0" cy="0"/>
          <a:chOff x="0" y="0"/>
          <a:chExt cx="0" cy="0"/>
        </a:xfrm>
      </p:grpSpPr>
      <p:sp>
        <p:nvSpPr>
          <p:cNvPr id="159" name="Google Shape;159;p35" descr="title"/>
          <p:cNvSpPr txBox="1"/>
          <p:nvPr>
            <p:ph type="title"/>
          </p:nvPr>
        </p:nvSpPr>
        <p:spPr>
          <a:xfrm>
            <a:off x="348600" y="521275"/>
            <a:ext cx="8334300" cy="572700"/>
          </a:xfrm>
          <a:prstGeom prst="rect">
            <a:avLst/>
          </a:prstGeom>
        </p:spPr>
        <p:txBody>
          <a:bodyPr spcFirstLastPara="1" wrap="square" lIns="0" tIns="91425" rIns="0" bIns="91425" anchor="ctr" anchorCtr="0">
            <a:noAutofit/>
          </a:bodyPr>
          <a:lstStyle/>
          <a:p>
            <a:pPr marL="0" lvl="0" indent="0" algn="l" rtl="0">
              <a:spcBef>
                <a:spcPts val="0"/>
              </a:spcBef>
              <a:spcAft>
                <a:spcPts val="0"/>
              </a:spcAft>
              <a:buSzPts val="990"/>
              <a:buNone/>
            </a:pPr>
            <a:r>
              <a:rPr lang="en-GB" b="1">
                <a:latin typeface="Bodoni Moda"/>
                <a:ea typeface="Bodoni Moda"/>
                <a:cs typeface="Bodoni Moda"/>
                <a:sym typeface="Bodoni Moda"/>
              </a:rPr>
              <a:t>Theories of Personality Development</a:t>
            </a:r>
            <a:endParaRPr sz="2400" b="1">
              <a:solidFill>
                <a:schemeClr val="lt1"/>
              </a:solidFill>
              <a:latin typeface="Bodoni Moda"/>
              <a:ea typeface="Bodoni Moda"/>
              <a:cs typeface="Bodoni Moda"/>
              <a:sym typeface="Bodoni Moda"/>
            </a:endParaRPr>
          </a:p>
        </p:txBody>
      </p:sp>
      <p:sp>
        <p:nvSpPr>
          <p:cNvPr id="160" name="Google Shape;160;p35"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Theories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161" name="Google Shape;161;p35" descr="detail_0"/>
          <p:cNvSpPr txBox="1"/>
          <p:nvPr>
            <p:ph type="body" idx="1"/>
          </p:nvPr>
        </p:nvSpPr>
        <p:spPr>
          <a:xfrm>
            <a:off x="348550" y="176905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Personality development encompasses various theories that explain how individuals grow and change throughout their lives.</a:t>
            </a:r>
            <a:endParaRPr sz="1200">
              <a:solidFill>
                <a:schemeClr val="lt1"/>
              </a:solidFill>
            </a:endParaRPr>
          </a:p>
        </p:txBody>
      </p:sp>
      <p:sp>
        <p:nvSpPr>
          <p:cNvPr id="162" name="Google Shape;162;p35" descr="header_0"/>
          <p:cNvSpPr txBox="1"/>
          <p:nvPr>
            <p:ph type="subTitle" idx="4294967295"/>
          </p:nvPr>
        </p:nvSpPr>
        <p:spPr>
          <a:xfrm>
            <a:off x="348538" y="1354150"/>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Overview of Personality Development</a:t>
            </a:r>
            <a:endParaRPr sz="1200" b="1">
              <a:solidFill>
                <a:schemeClr val="lt1"/>
              </a:solidFill>
            </a:endParaRPr>
          </a:p>
        </p:txBody>
      </p:sp>
      <p:sp>
        <p:nvSpPr>
          <p:cNvPr id="163" name="Google Shape;163;p35" descr="detail_1"/>
          <p:cNvSpPr txBox="1"/>
          <p:nvPr>
            <p:ph type="body" idx="1"/>
          </p:nvPr>
        </p:nvSpPr>
        <p:spPr>
          <a:xfrm>
            <a:off x="5004676" y="176905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Freud's psychosexual stages of development emphasize the influence of unconscious desires and childhood experiences on personality.</a:t>
            </a:r>
            <a:endParaRPr sz="1200">
              <a:solidFill>
                <a:schemeClr val="lt1"/>
              </a:solidFill>
            </a:endParaRPr>
          </a:p>
        </p:txBody>
      </p:sp>
      <p:sp>
        <p:nvSpPr>
          <p:cNvPr id="164" name="Google Shape;164;p35" descr="header_1"/>
          <p:cNvSpPr txBox="1"/>
          <p:nvPr>
            <p:ph type="subTitle" idx="4294967295"/>
          </p:nvPr>
        </p:nvSpPr>
        <p:spPr>
          <a:xfrm>
            <a:off x="5004670" y="1354150"/>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Key Theorist: Sigmund Freud</a:t>
            </a:r>
            <a:endParaRPr sz="1200" b="1">
              <a:solidFill>
                <a:schemeClr val="lt1"/>
              </a:solidFill>
            </a:endParaRPr>
          </a:p>
        </p:txBody>
      </p:sp>
      <p:sp>
        <p:nvSpPr>
          <p:cNvPr id="165" name="Google Shape;165;p35" descr="detail_2"/>
          <p:cNvSpPr txBox="1"/>
          <p:nvPr>
            <p:ph type="body" idx="1"/>
          </p:nvPr>
        </p:nvSpPr>
        <p:spPr>
          <a:xfrm>
            <a:off x="348550" y="339710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Erikson proposed eight stages of psychosocial development, each characterized by a specific conflict that must be resolved for healthy personality growth.</a:t>
            </a:r>
            <a:endParaRPr sz="1200">
              <a:solidFill>
                <a:schemeClr val="lt1"/>
              </a:solidFill>
            </a:endParaRPr>
          </a:p>
        </p:txBody>
      </p:sp>
      <p:sp>
        <p:nvSpPr>
          <p:cNvPr id="166" name="Google Shape;166;p35" descr="header_2"/>
          <p:cNvSpPr txBox="1"/>
          <p:nvPr>
            <p:ph type="subTitle" idx="4294967295"/>
          </p:nvPr>
        </p:nvSpPr>
        <p:spPr>
          <a:xfrm>
            <a:off x="348538" y="2982403"/>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Key Theorist: Erik Erikson</a:t>
            </a:r>
            <a:endParaRPr sz="1200" b="1">
              <a:solidFill>
                <a:schemeClr val="lt1"/>
              </a:solidFill>
            </a:endParaRPr>
          </a:p>
        </p:txBody>
      </p:sp>
      <p:sp>
        <p:nvSpPr>
          <p:cNvPr id="167" name="Google Shape;167;p35" descr="detail_3"/>
          <p:cNvSpPr txBox="1"/>
          <p:nvPr>
            <p:ph type="body" idx="1"/>
          </p:nvPr>
        </p:nvSpPr>
        <p:spPr>
          <a:xfrm>
            <a:off x="5004678" y="339710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Rogers introduced the concept of self-actualization, emphasizing the importance of self-awareness and personal growth in developing a healthy personality.</a:t>
            </a:r>
            <a:endParaRPr sz="1200">
              <a:solidFill>
                <a:schemeClr val="lt1"/>
              </a:solidFill>
            </a:endParaRPr>
          </a:p>
        </p:txBody>
      </p:sp>
      <p:sp>
        <p:nvSpPr>
          <p:cNvPr id="168" name="Google Shape;168;p35" descr="header_3"/>
          <p:cNvSpPr txBox="1"/>
          <p:nvPr>
            <p:ph type="subTitle" idx="4294967295"/>
          </p:nvPr>
        </p:nvSpPr>
        <p:spPr>
          <a:xfrm>
            <a:off x="5004670" y="2982403"/>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Key Theorist: Carl Rogers</a:t>
            </a:r>
            <a:endParaRPr sz="1200" b="1">
              <a:solidFill>
                <a:schemeClr val="lt1"/>
              </a:solidFill>
            </a:endParaRPr>
          </a:p>
        </p:txBody>
      </p:sp>
      <p:grpSp>
        <p:nvGrpSpPr>
          <p:cNvPr id="169" name="Google Shape;169;p35"/>
          <p:cNvGrpSpPr/>
          <p:nvPr/>
        </p:nvGrpSpPr>
        <p:grpSpPr>
          <a:xfrm>
            <a:off x="6965625" y="112900"/>
            <a:ext cx="2057400" cy="1033200"/>
            <a:chOff x="6922975" y="1548525"/>
            <a:chExt cx="2057400" cy="1033200"/>
          </a:xfrm>
        </p:grpSpPr>
        <p:grpSp>
          <p:nvGrpSpPr>
            <p:cNvPr id="170" name="Google Shape;170;p35"/>
            <p:cNvGrpSpPr/>
            <p:nvPr/>
          </p:nvGrpSpPr>
          <p:grpSpPr>
            <a:xfrm>
              <a:off x="6922975" y="1548525"/>
              <a:ext cx="2057400" cy="1033200"/>
              <a:chOff x="6172200" y="152400"/>
              <a:chExt cx="2057400" cy="1033200"/>
            </a:xfrm>
          </p:grpSpPr>
          <p:sp>
            <p:nvSpPr>
              <p:cNvPr id="171" name="Google Shape;171;p35"/>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72" name="Google Shape;172;p3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73" name="Google Shape;173;p3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each theory's application in educational settings.</a:t>
              </a:r>
              <a:endParaRPr sz="800">
                <a:latin typeface="Inter" panose="02000503000000020004"/>
                <a:ea typeface="Inter" panose="02000503000000020004"/>
                <a:cs typeface="Inter" panose="02000503000000020004"/>
                <a:sym typeface="Inter" panose="02000503000000020004"/>
              </a:endParaRPr>
            </a:p>
          </p:txBody>
        </p:sp>
        <p:pic>
          <p:nvPicPr>
            <p:cNvPr id="174" name="Google Shape;174;p35"/>
            <p:cNvPicPr preferRelativeResize="0"/>
            <p:nvPr/>
          </p:nvPicPr>
          <p:blipFill>
            <a:blip r:embed="rId1"/>
            <a:stretch>
              <a:fillRect/>
            </a:stretch>
          </p:blipFill>
          <p:spPr>
            <a:xfrm>
              <a:off x="7016628" y="1652466"/>
              <a:ext cx="164591" cy="164591"/>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2" name="Google Shape;122;p21" descr="detail_0"/>
          <p:cNvSpPr txBox="1"/>
          <p:nvPr/>
        </p:nvSpPr>
        <p:spPr>
          <a:xfrm>
            <a:off x="4923175" y="474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 </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bg1"/>
              </a:solidFill>
              <a:latin typeface="Calibri"/>
              <a:ea typeface="Arial" panose="020B0604020202090204"/>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r>
              <a:rPr sz="1200" b="1">
                <a:solidFill>
                  <a:schemeClr val="bg1"/>
                </a:solidFill>
                <a:latin typeface="Calibri"/>
                <a:sym typeface="+mn-ea"/>
              </a:rPr>
              <a:t> </a:t>
            </a:r>
            <a:endParaRPr sz="1200" b="1" i="0">
              <a:solidFill>
                <a:schemeClr val="bg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bg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262890"/>
            <a:ext cx="5490210" cy="460375"/>
          </a:xfrm>
          <a:prstGeom prst="rect">
            <a:avLst/>
          </a:prstGeom>
          <a:noFill/>
        </p:spPr>
        <p:txBody>
          <a:bodyPr wrap="square" rtlCol="0">
            <a:spAutoFit/>
          </a:bodyPr>
          <a:p>
            <a:r>
              <a:rPr lang="en-US" sz="2400" b="1">
                <a:solidFill>
                  <a:schemeClr val="bg1"/>
                </a:solidFill>
                <a:latin typeface="Heiti SC Medium" panose="02000000000000000000" charset="-122"/>
                <a:ea typeface="Heiti SC Medium" panose="02000000000000000000" charset="-122"/>
              </a:rPr>
              <a:t>Empowering Mankind</a:t>
            </a:r>
            <a:endParaRPr lang="en-US" sz="2400" b="1">
              <a:solidFill>
                <a:schemeClr val="bg1"/>
              </a:solidFill>
              <a:latin typeface="Heiti SC Medium" panose="02000000000000000000" charset="-122"/>
              <a:ea typeface="Heiti SC Medium" panose="020000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78" name="Shape 178"/>
        <p:cNvGrpSpPr/>
        <p:nvPr/>
      </p:nvGrpSpPr>
      <p:grpSpPr>
        <a:xfrm>
          <a:off x="0" y="0"/>
          <a:ext cx="0" cy="0"/>
          <a:chOff x="0" y="0"/>
          <a:chExt cx="0" cy="0"/>
        </a:xfrm>
      </p:grpSpPr>
      <p:sp>
        <p:nvSpPr>
          <p:cNvPr id="179" name="Google Shape;179;p36" descr="header_0"/>
          <p:cNvSpPr txBox="1"/>
          <p:nvPr>
            <p:ph type="subTitle" idx="4294967295"/>
          </p:nvPr>
        </p:nvSpPr>
        <p:spPr>
          <a:xfrm>
            <a:off x="348525" y="114430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a:solidFill>
                  <a:schemeClr val="accent4"/>
                </a:solidFill>
                <a:latin typeface="Noto Sans" panose="020B0502040504020204"/>
                <a:ea typeface="Noto Sans" panose="020B0502040504020204"/>
                <a:cs typeface="Noto Sans" panose="020B0502040504020204"/>
                <a:sym typeface="Noto Sans" panose="020B0502040504020204"/>
              </a:rPr>
              <a:t>Self Understanding</a:t>
            </a:r>
            <a:endParaRPr sz="1200">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180" name="Google Shape;180;p36" descr="detail_0"/>
          <p:cNvSpPr txBox="1"/>
          <p:nvPr>
            <p:ph type="body" idx="1"/>
          </p:nvPr>
        </p:nvSpPr>
        <p:spPr>
          <a:xfrm>
            <a:off x="707232" y="158075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accent1"/>
              </a:buClr>
              <a:buSzPts val="1000"/>
              <a:buChar char="●"/>
            </a:pPr>
            <a:r>
              <a:rPr lang="en-GB" sz="1000">
                <a:solidFill>
                  <a:schemeClr val="lt1"/>
                </a:solidFill>
              </a:rPr>
              <a:t>Personality development helps individuals gain insights into their emotions, leading to better emotional regulation and mental health.</a:t>
            </a:r>
            <a:endParaRPr sz="1000">
              <a:solidFill>
                <a:schemeClr val="lt1"/>
              </a:solidFill>
            </a:endParaRPr>
          </a:p>
          <a:p>
            <a:pPr marL="342900" lvl="0" indent="-206375" algn="l" rtl="0">
              <a:spcBef>
                <a:spcPts val="800"/>
              </a:spcBef>
              <a:spcAft>
                <a:spcPts val="0"/>
              </a:spcAft>
              <a:buClr>
                <a:schemeClr val="accent1"/>
              </a:buClr>
              <a:buSzPts val="1000"/>
              <a:buChar char="●"/>
            </a:pPr>
            <a:r>
              <a:rPr lang="en-GB" sz="1000">
                <a:solidFill>
                  <a:schemeClr val="lt1"/>
                </a:solidFill>
              </a:rPr>
              <a:t>Understanding one’s personality traits can enhance resilience, helping individuals cope with stress and adversity.</a:t>
            </a:r>
            <a:endParaRPr sz="1000">
              <a:solidFill>
                <a:schemeClr val="lt1"/>
              </a:solidFill>
            </a:endParaRPr>
          </a:p>
          <a:p>
            <a:pPr marL="342900" lvl="0" indent="-206375" algn="l" rtl="0">
              <a:spcBef>
                <a:spcPts val="800"/>
              </a:spcBef>
              <a:spcAft>
                <a:spcPts val="800"/>
              </a:spcAft>
              <a:buClr>
                <a:schemeClr val="accent1"/>
              </a:buClr>
              <a:buSzPts val="1000"/>
              <a:buChar char="●"/>
            </a:pPr>
            <a:r>
              <a:rPr lang="en-GB" sz="1000">
                <a:solidFill>
                  <a:schemeClr val="lt1"/>
                </a:solidFill>
              </a:rPr>
              <a:t>Self-awareness is crucial as it allows individuals to recognize their emotional triggers and responses.</a:t>
            </a:r>
            <a:endParaRPr sz="1000">
              <a:solidFill>
                <a:schemeClr val="lt1"/>
              </a:solidFill>
            </a:endParaRPr>
          </a:p>
        </p:txBody>
      </p:sp>
      <p:sp>
        <p:nvSpPr>
          <p:cNvPr id="181" name="Google Shape;181;p36" descr="header_1"/>
          <p:cNvSpPr txBox="1"/>
          <p:nvPr>
            <p:ph type="subTitle" idx="4294967295"/>
          </p:nvPr>
        </p:nvSpPr>
        <p:spPr>
          <a:xfrm>
            <a:off x="348525" y="293435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a:solidFill>
                  <a:schemeClr val="accent4"/>
                </a:solidFill>
                <a:latin typeface="Noto Sans" panose="020B0502040504020204"/>
                <a:ea typeface="Noto Sans" panose="020B0502040504020204"/>
                <a:cs typeface="Noto Sans" panose="020B0502040504020204"/>
                <a:sym typeface="Noto Sans" panose="020B0502040504020204"/>
              </a:rPr>
              <a:t>Resilience</a:t>
            </a:r>
            <a:endParaRPr sz="1200">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182" name="Google Shape;182;p36" descr="detail_1"/>
          <p:cNvSpPr txBox="1"/>
          <p:nvPr>
            <p:ph type="body" idx="1"/>
          </p:nvPr>
        </p:nvSpPr>
        <p:spPr>
          <a:xfrm>
            <a:off x="707232" y="337080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accent1"/>
              </a:buClr>
              <a:buSzPts val="1000"/>
              <a:buChar char="●"/>
            </a:pPr>
            <a:r>
              <a:rPr lang="en-GB" sz="1000">
                <a:solidFill>
                  <a:schemeClr val="lt1"/>
                </a:solidFill>
              </a:rPr>
              <a:t>Resilient students are more likely to succeed academically and socially.</a:t>
            </a:r>
            <a:endParaRPr sz="1000">
              <a:solidFill>
                <a:schemeClr val="lt1"/>
              </a:solidFill>
            </a:endParaRPr>
          </a:p>
          <a:p>
            <a:pPr marL="342900" lvl="0" indent="-206375" algn="l" rtl="0">
              <a:spcBef>
                <a:spcPts val="800"/>
              </a:spcBef>
              <a:spcAft>
                <a:spcPts val="0"/>
              </a:spcAft>
              <a:buClr>
                <a:schemeClr val="accent1"/>
              </a:buClr>
              <a:buSzPts val="1000"/>
              <a:buChar char="●"/>
            </a:pPr>
            <a:r>
              <a:rPr lang="en-GB" sz="1000">
                <a:solidFill>
                  <a:schemeClr val="lt1"/>
                </a:solidFill>
              </a:rPr>
              <a:t>Encouraging a growth mindset and teaching problem-solving skills are effective strategies to build resilience.</a:t>
            </a:r>
            <a:endParaRPr sz="1000">
              <a:solidFill>
                <a:schemeClr val="lt1"/>
              </a:solidFill>
            </a:endParaRPr>
          </a:p>
          <a:p>
            <a:pPr marL="342900" lvl="0" indent="-206375" algn="l" rtl="0">
              <a:spcBef>
                <a:spcPts val="800"/>
              </a:spcBef>
              <a:spcAft>
                <a:spcPts val="800"/>
              </a:spcAft>
              <a:buClr>
                <a:schemeClr val="accent1"/>
              </a:buClr>
              <a:buSzPts val="1000"/>
              <a:buChar char="●"/>
            </a:pPr>
            <a:r>
              <a:rPr lang="en-GB" sz="1000">
                <a:solidFill>
                  <a:schemeClr val="lt1"/>
                </a:solidFill>
              </a:rPr>
              <a:t>Sharing stories of perseverance can inspire students to develop their own resilience.</a:t>
            </a:r>
            <a:endParaRPr sz="1000">
              <a:solidFill>
                <a:schemeClr val="lt1"/>
              </a:solidFill>
            </a:endParaRPr>
          </a:p>
        </p:txBody>
      </p:sp>
      <p:sp>
        <p:nvSpPr>
          <p:cNvPr id="183" name="Google Shape;183;p36"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Emotional Wellbeing</a:t>
            </a:r>
            <a:endParaRPr sz="2400" b="1">
              <a:solidFill>
                <a:schemeClr val="lt1"/>
              </a:solidFill>
              <a:latin typeface="Bodoni Moda"/>
              <a:ea typeface="Bodoni Moda"/>
              <a:cs typeface="Bodoni Moda"/>
              <a:sym typeface="Bodoni Moda"/>
            </a:endParaRPr>
          </a:p>
        </p:txBody>
      </p:sp>
      <p:sp>
        <p:nvSpPr>
          <p:cNvPr id="184" name="Google Shape;184;p36"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Personality Development</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185" name="Google Shape;185;p36"/>
          <p:cNvGrpSpPr/>
          <p:nvPr/>
        </p:nvGrpSpPr>
        <p:grpSpPr>
          <a:xfrm>
            <a:off x="6892000" y="340475"/>
            <a:ext cx="2057400" cy="1033200"/>
            <a:chOff x="6922975" y="1548525"/>
            <a:chExt cx="2057400" cy="1033200"/>
          </a:xfrm>
        </p:grpSpPr>
        <p:grpSp>
          <p:nvGrpSpPr>
            <p:cNvPr id="186" name="Google Shape;186;p36"/>
            <p:cNvGrpSpPr/>
            <p:nvPr/>
          </p:nvGrpSpPr>
          <p:grpSpPr>
            <a:xfrm>
              <a:off x="6922975" y="1548525"/>
              <a:ext cx="2057400" cy="1033200"/>
              <a:chOff x="6172200" y="152400"/>
              <a:chExt cx="2057400" cy="1033200"/>
            </a:xfrm>
          </p:grpSpPr>
          <p:sp>
            <p:nvSpPr>
              <p:cNvPr id="187" name="Google Shape;187;p36"/>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88" name="Google Shape;188;p3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89" name="Google Shape;189;p3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activities that promote emotional wellbeing through personality development.</a:t>
              </a:r>
              <a:endParaRPr sz="800">
                <a:latin typeface="Inter" panose="02000503000000020004"/>
                <a:ea typeface="Inter" panose="02000503000000020004"/>
                <a:cs typeface="Inter" panose="02000503000000020004"/>
                <a:sym typeface="Inter" panose="02000503000000020004"/>
              </a:endParaRPr>
            </a:p>
          </p:txBody>
        </p:sp>
        <p:pic>
          <p:nvPicPr>
            <p:cNvPr id="190" name="Google Shape;190;p36"/>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94" name="Shape 194"/>
        <p:cNvGrpSpPr/>
        <p:nvPr/>
      </p:nvGrpSpPr>
      <p:grpSpPr>
        <a:xfrm>
          <a:off x="0" y="0"/>
          <a:ext cx="0" cy="0"/>
          <a:chOff x="0" y="0"/>
          <a:chExt cx="0" cy="0"/>
        </a:xfrm>
      </p:grpSpPr>
      <p:sp>
        <p:nvSpPr>
          <p:cNvPr id="195" name="Google Shape;195;p37" descr="header_0"/>
          <p:cNvSpPr txBox="1"/>
          <p:nvPr>
            <p:ph type="subTitle" idx="4294967295"/>
          </p:nvPr>
        </p:nvSpPr>
        <p:spPr>
          <a:xfrm>
            <a:off x="348597" y="1299750"/>
            <a:ext cx="3779700" cy="861600"/>
          </a:xfrm>
          <a:prstGeom prst="rect">
            <a:avLst/>
          </a:prstGeom>
        </p:spPr>
        <p:txBody>
          <a:bodyPr spcFirstLastPara="1" wrap="square" lIns="0" tIns="91425" rIns="91425" bIns="91425" anchor="b" anchorCtr="0">
            <a:noAutofit/>
          </a:bodyPr>
          <a:lstStyle/>
          <a:p>
            <a:pPr marL="0" lvl="0" indent="0" algn="l" rtl="0">
              <a:spcBef>
                <a:spcPts val="0"/>
              </a:spcBef>
              <a:spcAft>
                <a:spcPts val="800"/>
              </a:spcAft>
              <a:buNone/>
            </a:pPr>
            <a:r>
              <a:rPr lang="en-GB" sz="1200" b="1">
                <a:solidFill>
                  <a:schemeClr val="lt1"/>
                </a:solidFill>
              </a:rPr>
              <a:t>Importance of Social Skills</a:t>
            </a:r>
            <a:endParaRPr sz="1200" b="1">
              <a:solidFill>
                <a:schemeClr val="lt1"/>
              </a:solidFill>
            </a:endParaRPr>
          </a:p>
        </p:txBody>
      </p:sp>
      <p:sp>
        <p:nvSpPr>
          <p:cNvPr id="196" name="Google Shape;196;p37" descr="header_1"/>
          <p:cNvSpPr txBox="1"/>
          <p:nvPr>
            <p:ph type="subTitle" idx="4294967295"/>
          </p:nvPr>
        </p:nvSpPr>
        <p:spPr>
          <a:xfrm>
            <a:off x="4569492" y="1299750"/>
            <a:ext cx="3779700" cy="861600"/>
          </a:xfrm>
          <a:prstGeom prst="rect">
            <a:avLst/>
          </a:prstGeom>
        </p:spPr>
        <p:txBody>
          <a:bodyPr spcFirstLastPara="1" wrap="square" lIns="0" tIns="91425" rIns="91425" bIns="91425" anchor="b" anchorCtr="0">
            <a:noAutofit/>
          </a:bodyPr>
          <a:lstStyle/>
          <a:p>
            <a:pPr marL="0" lvl="0" indent="0" algn="l" rtl="0">
              <a:spcBef>
                <a:spcPts val="0"/>
              </a:spcBef>
              <a:spcAft>
                <a:spcPts val="800"/>
              </a:spcAft>
              <a:buNone/>
            </a:pPr>
            <a:r>
              <a:rPr lang="en-GB" sz="1200" b="1">
                <a:solidFill>
                  <a:schemeClr val="lt1"/>
                </a:solidFill>
              </a:rPr>
              <a:t>Effective Communication and Conflict Resolution</a:t>
            </a:r>
            <a:endParaRPr sz="1200" b="1">
              <a:solidFill>
                <a:schemeClr val="lt1"/>
              </a:solidFill>
            </a:endParaRPr>
          </a:p>
        </p:txBody>
      </p:sp>
      <p:sp>
        <p:nvSpPr>
          <p:cNvPr id="197" name="Google Shape;197;p37" descr="detail_0"/>
          <p:cNvSpPr txBox="1"/>
          <p:nvPr>
            <p:ph type="body" idx="1"/>
          </p:nvPr>
        </p:nvSpPr>
        <p:spPr>
          <a:xfrm>
            <a:off x="348597" y="2281725"/>
            <a:ext cx="3779700" cy="24828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Social skills are essential for effective communication and relationship-building.</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They contribute to better interactions with peers, teachers, and family members.</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Developing empathy fosters understanding, crucial for resolving conflicts.</a:t>
            </a:r>
            <a:endParaRPr sz="1200">
              <a:solidFill>
                <a:schemeClr val="lt1"/>
              </a:solidFill>
            </a:endParaRPr>
          </a:p>
        </p:txBody>
      </p:sp>
      <p:sp>
        <p:nvSpPr>
          <p:cNvPr id="198" name="Google Shape;198;p37" descr="detail_1"/>
          <p:cNvSpPr txBox="1"/>
          <p:nvPr>
            <p:ph type="body" idx="1"/>
          </p:nvPr>
        </p:nvSpPr>
        <p:spPr>
          <a:xfrm>
            <a:off x="4569492" y="2281725"/>
            <a:ext cx="3779700" cy="24828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Effective communication enhances collaboration and minimizes misunderstandings.</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Conflict resolution skills help individuals navigate disagreements amicably.</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A well-developed personality promotes strong relationships through understanding and empathy.</a:t>
            </a:r>
            <a:endParaRPr sz="1200">
              <a:solidFill>
                <a:schemeClr val="lt1"/>
              </a:solidFill>
            </a:endParaRPr>
          </a:p>
        </p:txBody>
      </p:sp>
      <p:sp>
        <p:nvSpPr>
          <p:cNvPr id="199" name="Google Shape;199;p37"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Social Skills and Relationships</a:t>
            </a:r>
            <a:endParaRPr sz="2400" b="1">
              <a:solidFill>
                <a:schemeClr val="lt1"/>
              </a:solidFill>
              <a:latin typeface="Bodoni Moda"/>
              <a:ea typeface="Bodoni Moda"/>
              <a:cs typeface="Bodoni Moda"/>
              <a:sym typeface="Bodoni Moda"/>
            </a:endParaRPr>
          </a:p>
        </p:txBody>
      </p:sp>
      <p:sp>
        <p:nvSpPr>
          <p:cNvPr id="200" name="Google Shape;200;p37"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Communication</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pic>
        <p:nvPicPr>
          <p:cNvPr id="7" name="Picture 6" descr="pixelcut-export (1)"/>
          <p:cNvPicPr>
            <a:picLocks noChangeAspect="1"/>
          </p:cNvPicPr>
          <p:nvPr/>
        </p:nvPicPr>
        <p:blipFill>
          <a:blip r:embed="rId1"/>
          <a:srcRect t="22967" b="48563"/>
          <a:stretch>
            <a:fillRect/>
          </a:stretch>
        </p:blipFill>
        <p:spPr>
          <a:xfrm>
            <a:off x="0" y="44030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04" name="Shape 204"/>
        <p:cNvGrpSpPr/>
        <p:nvPr/>
      </p:nvGrpSpPr>
      <p:grpSpPr>
        <a:xfrm>
          <a:off x="0" y="0"/>
          <a:ext cx="0" cy="0"/>
          <a:chOff x="0" y="0"/>
          <a:chExt cx="0" cy="0"/>
        </a:xfrm>
      </p:grpSpPr>
      <p:sp>
        <p:nvSpPr>
          <p:cNvPr id="205" name="Google Shape;205;p38" descr="header_0"/>
          <p:cNvSpPr txBox="1"/>
          <p:nvPr>
            <p:ph type="subTitle" idx="4294967295"/>
          </p:nvPr>
        </p:nvSpPr>
        <p:spPr>
          <a:xfrm>
            <a:off x="348525"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Motivation</a:t>
            </a:r>
            <a:endParaRPr sz="1200" b="1">
              <a:solidFill>
                <a:schemeClr val="lt1"/>
              </a:solidFill>
            </a:endParaRPr>
          </a:p>
        </p:txBody>
      </p:sp>
      <p:sp>
        <p:nvSpPr>
          <p:cNvPr id="206" name="Google Shape;206;p38" descr="header_1"/>
          <p:cNvSpPr txBox="1"/>
          <p:nvPr>
            <p:ph type="subTitle" idx="4294967295"/>
          </p:nvPr>
        </p:nvSpPr>
        <p:spPr>
          <a:xfrm>
            <a:off x="3264859"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Goal Setting</a:t>
            </a:r>
            <a:endParaRPr sz="1200" b="1">
              <a:solidFill>
                <a:schemeClr val="lt1"/>
              </a:solidFill>
            </a:endParaRPr>
          </a:p>
        </p:txBody>
      </p:sp>
      <p:sp>
        <p:nvSpPr>
          <p:cNvPr id="207" name="Google Shape;207;p38" descr="header_2"/>
          <p:cNvSpPr txBox="1"/>
          <p:nvPr>
            <p:ph type="subTitle" idx="4294967295"/>
          </p:nvPr>
        </p:nvSpPr>
        <p:spPr>
          <a:xfrm>
            <a:off x="6181175"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Collaboration</a:t>
            </a:r>
            <a:endParaRPr sz="1200" b="1">
              <a:solidFill>
                <a:schemeClr val="lt1"/>
              </a:solidFill>
            </a:endParaRPr>
          </a:p>
        </p:txBody>
      </p:sp>
      <p:sp>
        <p:nvSpPr>
          <p:cNvPr id="208" name="Google Shape;208;p38" descr="detail_0"/>
          <p:cNvSpPr txBox="1"/>
          <p:nvPr>
            <p:ph type="body" idx="1"/>
          </p:nvPr>
        </p:nvSpPr>
        <p:spPr>
          <a:xfrm>
            <a:off x="348525"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Understanding personal strengths and weaknesses aids in setting realistic goals and maintaining motivation. This self-awareness drives individuals to pursue their aspirations with confidence.</a:t>
            </a:r>
            <a:endParaRPr sz="1200">
              <a:solidFill>
                <a:schemeClr val="lt1"/>
              </a:solidFill>
            </a:endParaRPr>
          </a:p>
        </p:txBody>
      </p:sp>
      <p:sp>
        <p:nvSpPr>
          <p:cNvPr id="209" name="Google Shape;209;p38" descr="detail_1"/>
          <p:cNvSpPr txBox="1"/>
          <p:nvPr>
            <p:ph type="body" idx="1"/>
          </p:nvPr>
        </p:nvSpPr>
        <p:spPr>
          <a:xfrm>
            <a:off x="3264850"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Personality development plays a crucial role in the goal-setting process, helping individuals align their goals with their values and capabilities, leading to more achievable outcomes.</a:t>
            </a:r>
            <a:endParaRPr sz="1200">
              <a:solidFill>
                <a:schemeClr val="lt1"/>
              </a:solidFill>
            </a:endParaRPr>
          </a:p>
        </p:txBody>
      </p:sp>
      <p:sp>
        <p:nvSpPr>
          <p:cNvPr id="210" name="Google Shape;210;p38" descr="detail_2"/>
          <p:cNvSpPr txBox="1"/>
          <p:nvPr>
            <p:ph type="body" idx="1"/>
          </p:nvPr>
        </p:nvSpPr>
        <p:spPr>
          <a:xfrm>
            <a:off x="6181150"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Strong social skills promote teamwork, which is essential in both academic settings and the workplace. This collaborative spirit enhances collective performance and fosters a supportive environment.</a:t>
            </a:r>
            <a:endParaRPr sz="1200">
              <a:solidFill>
                <a:schemeClr val="lt1"/>
              </a:solidFill>
            </a:endParaRPr>
          </a:p>
        </p:txBody>
      </p:sp>
      <p:sp>
        <p:nvSpPr>
          <p:cNvPr id="211" name="Google Shape;211;p38"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Academic and Professional Success</a:t>
            </a:r>
            <a:endParaRPr sz="2400" b="1">
              <a:solidFill>
                <a:schemeClr val="lt1"/>
              </a:solidFill>
              <a:latin typeface="Bodoni Moda"/>
              <a:ea typeface="Bodoni Moda"/>
              <a:cs typeface="Bodoni Moda"/>
              <a:sym typeface="Bodoni Moda"/>
            </a:endParaRPr>
          </a:p>
        </p:txBody>
      </p:sp>
      <p:sp>
        <p:nvSpPr>
          <p:cNvPr id="212" name="Google Shape;212;p38"/>
          <p:cNvSpPr/>
          <p:nvPr/>
        </p:nvSpPr>
        <p:spPr>
          <a:xfrm>
            <a:off x="375600"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13" name="Google Shape;213;p38"/>
          <p:cNvSpPr/>
          <p:nvPr/>
        </p:nvSpPr>
        <p:spPr>
          <a:xfrm>
            <a:off x="3278363"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14" name="Google Shape;214;p38"/>
          <p:cNvSpPr/>
          <p:nvPr/>
        </p:nvSpPr>
        <p:spPr>
          <a:xfrm>
            <a:off x="6211338"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15" name="Google Shape;215;p38"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Success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16" name="Google Shape;216;p38"/>
          <p:cNvGrpSpPr/>
          <p:nvPr/>
        </p:nvGrpSpPr>
        <p:grpSpPr>
          <a:xfrm>
            <a:off x="6892000" y="340475"/>
            <a:ext cx="2057400" cy="1033200"/>
            <a:chOff x="6922975" y="1548525"/>
            <a:chExt cx="2057400" cy="1033200"/>
          </a:xfrm>
        </p:grpSpPr>
        <p:grpSp>
          <p:nvGrpSpPr>
            <p:cNvPr id="217" name="Google Shape;217;p38"/>
            <p:cNvGrpSpPr/>
            <p:nvPr/>
          </p:nvGrpSpPr>
          <p:grpSpPr>
            <a:xfrm>
              <a:off x="6922975" y="1548525"/>
              <a:ext cx="2057400" cy="1033200"/>
              <a:chOff x="6172200" y="152400"/>
              <a:chExt cx="2057400" cy="1033200"/>
            </a:xfrm>
          </p:grpSpPr>
          <p:sp>
            <p:nvSpPr>
              <p:cNvPr id="218" name="Google Shape;218;p38"/>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19" name="Google Shape;219;p3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20" name="Google Shape;220;p3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successful individuals who demonstrate these principles in action.</a:t>
              </a:r>
              <a:endParaRPr sz="800">
                <a:latin typeface="Inter" panose="02000503000000020004"/>
                <a:ea typeface="Inter" panose="02000503000000020004"/>
                <a:cs typeface="Inter" panose="02000503000000020004"/>
                <a:sym typeface="Inter" panose="02000503000000020004"/>
              </a:endParaRPr>
            </a:p>
          </p:txBody>
        </p:sp>
        <p:pic>
          <p:nvPicPr>
            <p:cNvPr id="221" name="Google Shape;221;p38"/>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25" name="Shape 225"/>
        <p:cNvGrpSpPr/>
        <p:nvPr/>
      </p:nvGrpSpPr>
      <p:grpSpPr>
        <a:xfrm>
          <a:off x="0" y="0"/>
          <a:ext cx="0" cy="0"/>
          <a:chOff x="0" y="0"/>
          <a:chExt cx="0" cy="0"/>
        </a:xfrm>
      </p:grpSpPr>
      <p:sp>
        <p:nvSpPr>
          <p:cNvPr id="226" name="Google Shape;226;p39" descr="header_0"/>
          <p:cNvSpPr txBox="1"/>
          <p:nvPr>
            <p:ph type="subTitle" idx="4294967295"/>
          </p:nvPr>
        </p:nvSpPr>
        <p:spPr>
          <a:xfrm>
            <a:off x="348525"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Identity Formation</a:t>
            </a:r>
            <a:endParaRPr sz="1200" b="1">
              <a:solidFill>
                <a:schemeClr val="lt1"/>
              </a:solidFill>
            </a:endParaRPr>
          </a:p>
        </p:txBody>
      </p:sp>
      <p:sp>
        <p:nvSpPr>
          <p:cNvPr id="227" name="Google Shape;227;p39" descr="header_1"/>
          <p:cNvSpPr txBox="1"/>
          <p:nvPr>
            <p:ph type="subTitle" idx="4294967295"/>
          </p:nvPr>
        </p:nvSpPr>
        <p:spPr>
          <a:xfrm>
            <a:off x="3264859"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Continuous Improvement</a:t>
            </a:r>
            <a:endParaRPr sz="1200" b="1">
              <a:solidFill>
                <a:schemeClr val="lt1"/>
              </a:solidFill>
            </a:endParaRPr>
          </a:p>
        </p:txBody>
      </p:sp>
      <p:sp>
        <p:nvSpPr>
          <p:cNvPr id="228" name="Google Shape;228;p39" descr="header_2"/>
          <p:cNvSpPr txBox="1"/>
          <p:nvPr>
            <p:ph type="subTitle" idx="4294967295"/>
          </p:nvPr>
        </p:nvSpPr>
        <p:spPr>
          <a:xfrm>
            <a:off x="6181175"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Activities to Enhance Self-Awareness</a:t>
            </a:r>
            <a:endParaRPr sz="1200" b="1">
              <a:solidFill>
                <a:schemeClr val="lt1"/>
              </a:solidFill>
            </a:endParaRPr>
          </a:p>
        </p:txBody>
      </p:sp>
      <p:sp>
        <p:nvSpPr>
          <p:cNvPr id="229" name="Google Shape;229;p39" descr="detail_0"/>
          <p:cNvSpPr txBox="1"/>
          <p:nvPr>
            <p:ph type="body" idx="1"/>
          </p:nvPr>
        </p:nvSpPr>
        <p:spPr>
          <a:xfrm>
            <a:off x="348525"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Personality development is integral to forming a stable identity, which influences choices and behaviors.</a:t>
            </a:r>
            <a:endParaRPr sz="1200">
              <a:solidFill>
                <a:schemeClr val="lt1"/>
              </a:solidFill>
            </a:endParaRPr>
          </a:p>
        </p:txBody>
      </p:sp>
      <p:sp>
        <p:nvSpPr>
          <p:cNvPr id="230" name="Google Shape;230;p39" descr="detail_1"/>
          <p:cNvSpPr txBox="1"/>
          <p:nvPr>
            <p:ph type="body" idx="1"/>
          </p:nvPr>
        </p:nvSpPr>
        <p:spPr>
          <a:xfrm>
            <a:off x="3264850"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Self-awareness encourages individuals to seek personal growth and develop new skills throughout life.</a:t>
            </a:r>
            <a:endParaRPr sz="1200">
              <a:solidFill>
                <a:schemeClr val="lt1"/>
              </a:solidFill>
            </a:endParaRPr>
          </a:p>
        </p:txBody>
      </p:sp>
      <p:sp>
        <p:nvSpPr>
          <p:cNvPr id="231" name="Google Shape;231;p39" descr="detail_2"/>
          <p:cNvSpPr txBox="1"/>
          <p:nvPr>
            <p:ph type="body" idx="1"/>
          </p:nvPr>
        </p:nvSpPr>
        <p:spPr>
          <a:xfrm>
            <a:off x="6181150"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Activities such as journaling, reflective practices, and guided discussions can enhance self-awareness in students.</a:t>
            </a:r>
            <a:endParaRPr sz="1200">
              <a:solidFill>
                <a:schemeClr val="lt1"/>
              </a:solidFill>
            </a:endParaRPr>
          </a:p>
        </p:txBody>
      </p:sp>
      <p:sp>
        <p:nvSpPr>
          <p:cNvPr id="232" name="Google Shape;232;p39"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Self Awareness and Personal Growth</a:t>
            </a:r>
            <a:endParaRPr sz="2400" b="1">
              <a:solidFill>
                <a:schemeClr val="lt1"/>
              </a:solidFill>
              <a:latin typeface="Bodoni Moda"/>
              <a:ea typeface="Bodoni Moda"/>
              <a:cs typeface="Bodoni Moda"/>
              <a:sym typeface="Bodoni Moda"/>
            </a:endParaRPr>
          </a:p>
        </p:txBody>
      </p:sp>
      <p:sp>
        <p:nvSpPr>
          <p:cNvPr id="233" name="Google Shape;233;p39"/>
          <p:cNvSpPr/>
          <p:nvPr/>
        </p:nvSpPr>
        <p:spPr>
          <a:xfrm>
            <a:off x="375600"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34" name="Google Shape;234;p39"/>
          <p:cNvSpPr/>
          <p:nvPr/>
        </p:nvSpPr>
        <p:spPr>
          <a:xfrm>
            <a:off x="3278363"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35" name="Google Shape;235;p39"/>
          <p:cNvSpPr/>
          <p:nvPr/>
        </p:nvSpPr>
        <p:spPr>
          <a:xfrm>
            <a:off x="6211338"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36" name="Google Shape;236;p39"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Personal Growth</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37" name="Google Shape;237;p39"/>
          <p:cNvGrpSpPr/>
          <p:nvPr/>
        </p:nvGrpSpPr>
        <p:grpSpPr>
          <a:xfrm>
            <a:off x="6892000" y="340475"/>
            <a:ext cx="2057400" cy="1033200"/>
            <a:chOff x="6922975" y="1548525"/>
            <a:chExt cx="2057400" cy="1033200"/>
          </a:xfrm>
        </p:grpSpPr>
        <p:grpSp>
          <p:nvGrpSpPr>
            <p:cNvPr id="238" name="Google Shape;238;p39"/>
            <p:cNvGrpSpPr/>
            <p:nvPr/>
          </p:nvGrpSpPr>
          <p:grpSpPr>
            <a:xfrm>
              <a:off x="6922975" y="1548525"/>
              <a:ext cx="2057400" cy="1033200"/>
              <a:chOff x="6172200" y="152400"/>
              <a:chExt cx="2057400" cy="1033200"/>
            </a:xfrm>
          </p:grpSpPr>
          <p:sp>
            <p:nvSpPr>
              <p:cNvPr id="239" name="Google Shape;239;p39"/>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40" name="Google Shape;240;p3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41" name="Google Shape;241;p3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activities or frameworks that teachers can use to facilitate self-awareness in students.</a:t>
              </a:r>
              <a:endParaRPr sz="800">
                <a:latin typeface="Inter" panose="02000503000000020004"/>
                <a:ea typeface="Inter" panose="02000503000000020004"/>
                <a:cs typeface="Inter" panose="02000503000000020004"/>
                <a:sym typeface="Inter" panose="02000503000000020004"/>
              </a:endParaRPr>
            </a:p>
          </p:txBody>
        </p:sp>
        <p:pic>
          <p:nvPicPr>
            <p:cNvPr id="242" name="Google Shape;242;p39"/>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157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46" name="Shape 246"/>
        <p:cNvGrpSpPr/>
        <p:nvPr/>
      </p:nvGrpSpPr>
      <p:grpSpPr>
        <a:xfrm>
          <a:off x="0" y="0"/>
          <a:ext cx="0" cy="0"/>
          <a:chOff x="0" y="0"/>
          <a:chExt cx="0" cy="0"/>
        </a:xfrm>
      </p:grpSpPr>
      <p:sp>
        <p:nvSpPr>
          <p:cNvPr id="247" name="Google Shape;247;p40" descr="header_0"/>
          <p:cNvSpPr txBox="1"/>
          <p:nvPr>
            <p:ph type="subTitle" idx="4294967295"/>
          </p:nvPr>
        </p:nvSpPr>
        <p:spPr>
          <a:xfrm>
            <a:off x="348597" y="1299750"/>
            <a:ext cx="3779700" cy="861600"/>
          </a:xfrm>
          <a:prstGeom prst="rect">
            <a:avLst/>
          </a:prstGeom>
        </p:spPr>
        <p:txBody>
          <a:bodyPr spcFirstLastPara="1" wrap="square" lIns="0" tIns="91425" rIns="91425" bIns="91425" anchor="b" anchorCtr="0">
            <a:noAutofit/>
          </a:bodyPr>
          <a:lstStyle/>
          <a:p>
            <a:pPr marL="0" lvl="0" indent="0" algn="l" rtl="0">
              <a:spcBef>
                <a:spcPts val="0"/>
              </a:spcBef>
              <a:spcAft>
                <a:spcPts val="800"/>
              </a:spcAft>
              <a:buNone/>
            </a:pPr>
            <a:r>
              <a:rPr lang="en-GB" sz="1200" b="1">
                <a:solidFill>
                  <a:schemeClr val="lt1"/>
                </a:solidFill>
              </a:rPr>
              <a:t>Diversity Appreciation</a:t>
            </a:r>
            <a:endParaRPr sz="1200" b="1">
              <a:solidFill>
                <a:schemeClr val="lt1"/>
              </a:solidFill>
            </a:endParaRPr>
          </a:p>
        </p:txBody>
      </p:sp>
      <p:sp>
        <p:nvSpPr>
          <p:cNvPr id="248" name="Google Shape;248;p40" descr="header_1"/>
          <p:cNvSpPr txBox="1"/>
          <p:nvPr>
            <p:ph type="subTitle" idx="4294967295"/>
          </p:nvPr>
        </p:nvSpPr>
        <p:spPr>
          <a:xfrm>
            <a:off x="4569492" y="1299750"/>
            <a:ext cx="3779700" cy="861600"/>
          </a:xfrm>
          <a:prstGeom prst="rect">
            <a:avLst/>
          </a:prstGeom>
        </p:spPr>
        <p:txBody>
          <a:bodyPr spcFirstLastPara="1" wrap="square" lIns="0" tIns="91425" rIns="91425" bIns="91425" anchor="b" anchorCtr="0">
            <a:noAutofit/>
          </a:bodyPr>
          <a:lstStyle/>
          <a:p>
            <a:pPr marL="0" lvl="0" indent="0" algn="l" rtl="0">
              <a:spcBef>
                <a:spcPts val="0"/>
              </a:spcBef>
              <a:spcAft>
                <a:spcPts val="800"/>
              </a:spcAft>
              <a:buNone/>
            </a:pPr>
            <a:r>
              <a:rPr lang="en-GB" sz="1200" b="1">
                <a:solidFill>
                  <a:schemeClr val="lt1"/>
                </a:solidFill>
              </a:rPr>
              <a:t>Moral Development</a:t>
            </a:r>
            <a:endParaRPr sz="1200" b="1">
              <a:solidFill>
                <a:schemeClr val="lt1"/>
              </a:solidFill>
            </a:endParaRPr>
          </a:p>
        </p:txBody>
      </p:sp>
      <p:sp>
        <p:nvSpPr>
          <p:cNvPr id="249" name="Google Shape;249;p40" descr="detail_0"/>
          <p:cNvSpPr txBox="1"/>
          <p:nvPr>
            <p:ph type="body" idx="1"/>
          </p:nvPr>
        </p:nvSpPr>
        <p:spPr>
          <a:xfrm>
            <a:off x="348597" y="2281725"/>
            <a:ext cx="3779700" cy="24828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Engaging with different personality types fosters respect for diversity and cultural differences.</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Understanding varying perspectives enhances empathy and cooperation in diverse environments.</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Personality development encourages open-mindedness, allowing individuals to embrace cultural variations.</a:t>
            </a:r>
            <a:endParaRPr sz="1200">
              <a:solidFill>
                <a:schemeClr val="lt1"/>
              </a:solidFill>
            </a:endParaRPr>
          </a:p>
        </p:txBody>
      </p:sp>
      <p:sp>
        <p:nvSpPr>
          <p:cNvPr id="250" name="Google Shape;250;p40" descr="detail_1"/>
          <p:cNvSpPr txBox="1"/>
          <p:nvPr>
            <p:ph type="body" idx="1"/>
          </p:nvPr>
        </p:nvSpPr>
        <p:spPr>
          <a:xfrm>
            <a:off x="4569492" y="2281725"/>
            <a:ext cx="3779700" cy="24828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Personality theories often incorporate moral reasoning, guiding ethical decision making.</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Awareness of one's values and beliefs supports ethical behavior in social interactions.</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Developing a well-rounded personality aids in navigating moral dilemmas effectively.</a:t>
            </a:r>
            <a:endParaRPr sz="1200">
              <a:solidFill>
                <a:schemeClr val="lt1"/>
              </a:solidFill>
            </a:endParaRPr>
          </a:p>
        </p:txBody>
      </p:sp>
      <p:sp>
        <p:nvSpPr>
          <p:cNvPr id="251" name="Google Shape;251;p40"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Cultural and Ethical Understanding</a:t>
            </a:r>
            <a:endParaRPr sz="2400" b="1">
              <a:solidFill>
                <a:schemeClr val="lt1"/>
              </a:solidFill>
              <a:latin typeface="Bodoni Moda"/>
              <a:ea typeface="Bodoni Moda"/>
              <a:cs typeface="Bodoni Moda"/>
              <a:sym typeface="Bodoni Moda"/>
            </a:endParaRPr>
          </a:p>
        </p:txBody>
      </p:sp>
      <p:sp>
        <p:nvSpPr>
          <p:cNvPr id="252" name="Google Shape;252;p40"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Personality Development</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53" name="Google Shape;253;p40"/>
          <p:cNvGrpSpPr/>
          <p:nvPr/>
        </p:nvGrpSpPr>
        <p:grpSpPr>
          <a:xfrm>
            <a:off x="6892000" y="340475"/>
            <a:ext cx="2057400" cy="1033200"/>
            <a:chOff x="6922975" y="1548525"/>
            <a:chExt cx="2057400" cy="1033200"/>
          </a:xfrm>
        </p:grpSpPr>
        <p:grpSp>
          <p:nvGrpSpPr>
            <p:cNvPr id="254" name="Google Shape;254;p40"/>
            <p:cNvGrpSpPr/>
            <p:nvPr/>
          </p:nvGrpSpPr>
          <p:grpSpPr>
            <a:xfrm>
              <a:off x="6922975" y="1548525"/>
              <a:ext cx="2057400" cy="1033200"/>
              <a:chOff x="6172200" y="152400"/>
              <a:chExt cx="2057400" cy="1033200"/>
            </a:xfrm>
          </p:grpSpPr>
          <p:sp>
            <p:nvSpPr>
              <p:cNvPr id="255" name="Google Shape;255;p40"/>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56" name="Google Shape;256;p4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57" name="Google Shape;257;p4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including specific examples of activities that can promote cultural understanding and moral reasoning in the classroom.</a:t>
              </a:r>
              <a:endParaRPr sz="800">
                <a:latin typeface="Inter" panose="02000503000000020004"/>
                <a:ea typeface="Inter" panose="02000503000000020004"/>
                <a:cs typeface="Inter" panose="02000503000000020004"/>
                <a:sym typeface="Inter" panose="02000503000000020004"/>
              </a:endParaRPr>
            </a:p>
          </p:txBody>
        </p:sp>
        <p:pic>
          <p:nvPicPr>
            <p:cNvPr id="258" name="Google Shape;258;p40"/>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62" name="Shape 262"/>
        <p:cNvGrpSpPr/>
        <p:nvPr/>
      </p:nvGrpSpPr>
      <p:grpSpPr>
        <a:xfrm>
          <a:off x="0" y="0"/>
          <a:ext cx="0" cy="0"/>
          <a:chOff x="0" y="0"/>
          <a:chExt cx="0" cy="0"/>
        </a:xfrm>
      </p:grpSpPr>
      <p:sp>
        <p:nvSpPr>
          <p:cNvPr id="263" name="Google Shape;263;p41" descr="header_0"/>
          <p:cNvSpPr txBox="1"/>
          <p:nvPr>
            <p:ph type="subTitle" idx="4294967295"/>
          </p:nvPr>
        </p:nvSpPr>
        <p:spPr>
          <a:xfrm>
            <a:off x="348525" y="114430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a:solidFill>
                  <a:schemeClr val="accent4"/>
                </a:solidFill>
                <a:latin typeface="Noto Sans" panose="020B0502040504020204"/>
                <a:ea typeface="Noto Sans" panose="020B0502040504020204"/>
                <a:cs typeface="Noto Sans" panose="020B0502040504020204"/>
                <a:sym typeface="Noto Sans" panose="020B0502040504020204"/>
              </a:rPr>
              <a:t>Navigating Change</a:t>
            </a:r>
            <a:endParaRPr sz="1200">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264" name="Google Shape;264;p41" descr="detail_0"/>
          <p:cNvSpPr txBox="1"/>
          <p:nvPr>
            <p:ph type="body" idx="1"/>
          </p:nvPr>
        </p:nvSpPr>
        <p:spPr>
          <a:xfrm>
            <a:off x="707232" y="158075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accent1"/>
              </a:buClr>
              <a:buSzPts val="1000"/>
              <a:buChar char="●"/>
            </a:pPr>
            <a:r>
              <a:rPr lang="en-GB" sz="1000">
                <a:solidFill>
                  <a:schemeClr val="lt1"/>
                </a:solidFill>
              </a:rPr>
              <a:t>A well-rounded personality equips individuals to adapt to new situations and changes, whether in school or life.</a:t>
            </a:r>
            <a:endParaRPr sz="1000">
              <a:solidFill>
                <a:schemeClr val="lt1"/>
              </a:solidFill>
            </a:endParaRPr>
          </a:p>
          <a:p>
            <a:pPr marL="342900" lvl="0" indent="-206375" algn="l" rtl="0">
              <a:spcBef>
                <a:spcPts val="800"/>
              </a:spcBef>
              <a:spcAft>
                <a:spcPts val="0"/>
              </a:spcAft>
              <a:buClr>
                <a:schemeClr val="accent1"/>
              </a:buClr>
              <a:buSzPts val="1000"/>
              <a:buChar char="●"/>
            </a:pPr>
            <a:r>
              <a:rPr lang="en-GB" sz="1000">
                <a:solidFill>
                  <a:schemeClr val="lt1"/>
                </a:solidFill>
              </a:rPr>
              <a:t>Personality development fosters resilience, enabling students to cope with unforeseen challenges effectively.</a:t>
            </a:r>
            <a:endParaRPr sz="1000">
              <a:solidFill>
                <a:schemeClr val="lt1"/>
              </a:solidFill>
            </a:endParaRPr>
          </a:p>
          <a:p>
            <a:pPr marL="342900" lvl="0" indent="-206375" algn="l" rtl="0">
              <a:spcBef>
                <a:spcPts val="800"/>
              </a:spcBef>
              <a:spcAft>
                <a:spcPts val="800"/>
              </a:spcAft>
              <a:buClr>
                <a:schemeClr val="accent1"/>
              </a:buClr>
              <a:buSzPts val="1000"/>
              <a:buChar char="●"/>
            </a:pPr>
            <a:r>
              <a:rPr lang="en-GB" sz="1000">
                <a:solidFill>
                  <a:schemeClr val="lt1"/>
                </a:solidFill>
              </a:rPr>
              <a:t>Understanding one’s traits helps in developing strategies to face transitions confidently.</a:t>
            </a:r>
            <a:endParaRPr sz="1000">
              <a:solidFill>
                <a:schemeClr val="lt1"/>
              </a:solidFill>
            </a:endParaRPr>
          </a:p>
        </p:txBody>
      </p:sp>
      <p:sp>
        <p:nvSpPr>
          <p:cNvPr id="265" name="Google Shape;265;p41" descr="header_1"/>
          <p:cNvSpPr txBox="1"/>
          <p:nvPr>
            <p:ph type="subTitle" idx="4294967295"/>
          </p:nvPr>
        </p:nvSpPr>
        <p:spPr>
          <a:xfrm>
            <a:off x="348525" y="293435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a:solidFill>
                  <a:schemeClr val="accent4"/>
                </a:solidFill>
                <a:latin typeface="Noto Sans" panose="020B0502040504020204"/>
                <a:ea typeface="Noto Sans" panose="020B0502040504020204"/>
                <a:cs typeface="Noto Sans" panose="020B0502040504020204"/>
                <a:sym typeface="Noto Sans" panose="020B0502040504020204"/>
              </a:rPr>
              <a:t>Promoting Open-Mindedness</a:t>
            </a:r>
            <a:endParaRPr sz="1200">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266" name="Google Shape;266;p41" descr="detail_1"/>
          <p:cNvSpPr txBox="1"/>
          <p:nvPr>
            <p:ph type="body" idx="1"/>
          </p:nvPr>
        </p:nvSpPr>
        <p:spPr>
          <a:xfrm>
            <a:off x="707232" y="337080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accent1"/>
              </a:buClr>
              <a:buSzPts val="1000"/>
              <a:buChar char="●"/>
            </a:pPr>
            <a:r>
              <a:rPr lang="en-GB" sz="1000">
                <a:solidFill>
                  <a:schemeClr val="lt1"/>
                </a:solidFill>
              </a:rPr>
              <a:t>Exposure to various personality traits encourages open-mindedness and acceptance of differing perspectives.</a:t>
            </a:r>
            <a:endParaRPr sz="1000">
              <a:solidFill>
                <a:schemeClr val="lt1"/>
              </a:solidFill>
            </a:endParaRPr>
          </a:p>
          <a:p>
            <a:pPr marL="342900" lvl="0" indent="-206375" algn="l" rtl="0">
              <a:spcBef>
                <a:spcPts val="800"/>
              </a:spcBef>
              <a:spcAft>
                <a:spcPts val="0"/>
              </a:spcAft>
              <a:buClr>
                <a:schemeClr val="accent1"/>
              </a:buClr>
              <a:buSzPts val="1000"/>
              <a:buChar char="●"/>
            </a:pPr>
            <a:r>
              <a:rPr lang="en-GB" sz="1000">
                <a:solidFill>
                  <a:schemeClr val="lt1"/>
                </a:solidFill>
              </a:rPr>
              <a:t>Engaging with different personality types fosters respect for diversity and cultural differences.</a:t>
            </a:r>
            <a:endParaRPr sz="1000">
              <a:solidFill>
                <a:schemeClr val="lt1"/>
              </a:solidFill>
            </a:endParaRPr>
          </a:p>
          <a:p>
            <a:pPr marL="342900" lvl="0" indent="-206375" algn="l" rtl="0">
              <a:spcBef>
                <a:spcPts val="800"/>
              </a:spcBef>
              <a:spcAft>
                <a:spcPts val="800"/>
              </a:spcAft>
              <a:buClr>
                <a:schemeClr val="accent1"/>
              </a:buClr>
              <a:buSzPts val="1000"/>
              <a:buChar char="●"/>
            </a:pPr>
            <a:r>
              <a:rPr lang="en-GB" sz="1000">
                <a:solidFill>
                  <a:schemeClr val="lt1"/>
                </a:solidFill>
              </a:rPr>
              <a:t>Open-minded individuals are more willing to consider alternative viewpoints, enhancing collaborative efforts.</a:t>
            </a:r>
            <a:endParaRPr sz="1000">
              <a:solidFill>
                <a:schemeClr val="lt1"/>
              </a:solidFill>
            </a:endParaRPr>
          </a:p>
        </p:txBody>
      </p:sp>
      <p:sp>
        <p:nvSpPr>
          <p:cNvPr id="267" name="Google Shape;267;p41"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Adaptability and Flexibility</a:t>
            </a:r>
            <a:endParaRPr sz="2400" b="1">
              <a:solidFill>
                <a:schemeClr val="lt1"/>
              </a:solidFill>
              <a:latin typeface="Bodoni Moda"/>
              <a:ea typeface="Bodoni Moda"/>
              <a:cs typeface="Bodoni Moda"/>
              <a:sym typeface="Bodoni Moda"/>
            </a:endParaRPr>
          </a:p>
        </p:txBody>
      </p:sp>
      <p:sp>
        <p:nvSpPr>
          <p:cNvPr id="268" name="Google Shape;268;p41"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Understanding Personality Development</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pic>
        <p:nvPicPr>
          <p:cNvPr id="7" name="Picture 6" descr="pixelcut-export (1)"/>
          <p:cNvPicPr>
            <a:picLocks noChangeAspect="1"/>
          </p:cNvPicPr>
          <p:nvPr/>
        </p:nvPicPr>
        <p:blipFill>
          <a:blip r:embed="rId1"/>
          <a:srcRect t="22967" b="48563"/>
          <a:stretch>
            <a:fillRect/>
          </a:stretch>
        </p:blipFill>
        <p:spPr>
          <a:xfrm>
            <a:off x="0" y="44030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72" name="Shape 272"/>
        <p:cNvGrpSpPr/>
        <p:nvPr/>
      </p:nvGrpSpPr>
      <p:grpSpPr>
        <a:xfrm>
          <a:off x="0" y="0"/>
          <a:ext cx="0" cy="0"/>
          <a:chOff x="0" y="0"/>
          <a:chExt cx="0" cy="0"/>
        </a:xfrm>
      </p:grpSpPr>
      <p:sp>
        <p:nvSpPr>
          <p:cNvPr id="273" name="Google Shape;273;p42" descr="header_0"/>
          <p:cNvSpPr txBox="1"/>
          <p:nvPr>
            <p:ph type="subTitle" idx="4294967295"/>
          </p:nvPr>
        </p:nvSpPr>
        <p:spPr>
          <a:xfrm>
            <a:off x="348525" y="1241401"/>
            <a:ext cx="27312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Enhancing Leadership Qualities</a:t>
            </a:r>
            <a:endParaRPr sz="1200" b="1">
              <a:solidFill>
                <a:schemeClr val="lt1"/>
              </a:solidFill>
            </a:endParaRPr>
          </a:p>
        </p:txBody>
      </p:sp>
      <p:sp>
        <p:nvSpPr>
          <p:cNvPr id="274" name="Google Shape;274;p42" descr="detail_0"/>
          <p:cNvSpPr txBox="1"/>
          <p:nvPr>
            <p:ph type="body" idx="1"/>
          </p:nvPr>
        </p:nvSpPr>
        <p:spPr>
          <a:xfrm>
            <a:off x="3200075" y="1241325"/>
            <a:ext cx="55953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Understanding one’s personality can enhance leadership qualities, allowing individuals to inspire and influence others effectively.</a:t>
            </a:r>
            <a:endParaRPr sz="1200">
              <a:solidFill>
                <a:schemeClr val="lt1"/>
              </a:solidFill>
            </a:endParaRPr>
          </a:p>
        </p:txBody>
      </p:sp>
      <p:sp>
        <p:nvSpPr>
          <p:cNvPr id="275" name="Google Shape;275;p42" descr="header_1"/>
          <p:cNvSpPr txBox="1"/>
          <p:nvPr>
            <p:ph type="subTitle" idx="4294967295"/>
          </p:nvPr>
        </p:nvSpPr>
        <p:spPr>
          <a:xfrm>
            <a:off x="348500" y="2427802"/>
            <a:ext cx="27312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Influence in Leadership</a:t>
            </a:r>
            <a:endParaRPr sz="1200" b="1">
              <a:solidFill>
                <a:schemeClr val="lt1"/>
              </a:solidFill>
            </a:endParaRPr>
          </a:p>
        </p:txBody>
      </p:sp>
      <p:sp>
        <p:nvSpPr>
          <p:cNvPr id="276" name="Google Shape;276;p42" descr="detail_1"/>
          <p:cNvSpPr txBox="1"/>
          <p:nvPr>
            <p:ph type="body" idx="1"/>
          </p:nvPr>
        </p:nvSpPr>
        <p:spPr>
          <a:xfrm>
            <a:off x="3200050" y="2427726"/>
            <a:ext cx="55953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Knowledge of personal traits and how they affect others helps leaders to build trust and rapport, essential for effective influence.</a:t>
            </a:r>
            <a:endParaRPr sz="1200">
              <a:solidFill>
                <a:schemeClr val="lt1"/>
              </a:solidFill>
            </a:endParaRPr>
          </a:p>
        </p:txBody>
      </p:sp>
      <p:sp>
        <p:nvSpPr>
          <p:cNvPr id="277" name="Google Shape;277;p42" descr="header_2"/>
          <p:cNvSpPr txBox="1"/>
          <p:nvPr>
            <p:ph type="subTitle" idx="4294967295"/>
          </p:nvPr>
        </p:nvSpPr>
        <p:spPr>
          <a:xfrm>
            <a:off x="348500" y="3614269"/>
            <a:ext cx="27312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Improved Decision Making</a:t>
            </a:r>
            <a:endParaRPr sz="1200" b="1">
              <a:solidFill>
                <a:schemeClr val="lt1"/>
              </a:solidFill>
            </a:endParaRPr>
          </a:p>
        </p:txBody>
      </p:sp>
      <p:sp>
        <p:nvSpPr>
          <p:cNvPr id="278" name="Google Shape;278;p42" descr="detail_2"/>
          <p:cNvSpPr txBox="1"/>
          <p:nvPr>
            <p:ph type="body" idx="1"/>
          </p:nvPr>
        </p:nvSpPr>
        <p:spPr>
          <a:xfrm>
            <a:off x="3200050" y="3614193"/>
            <a:ext cx="55953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Self-awareness in leadership leads to better decision making processes that consider the emotions and perspectives of others.</a:t>
            </a:r>
            <a:endParaRPr sz="1200">
              <a:solidFill>
                <a:schemeClr val="lt1"/>
              </a:solidFill>
            </a:endParaRPr>
          </a:p>
        </p:txBody>
      </p:sp>
      <p:sp>
        <p:nvSpPr>
          <p:cNvPr id="279" name="Google Shape;279;p42"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Leadership Skills</a:t>
            </a:r>
            <a:endParaRPr sz="2400" b="1">
              <a:solidFill>
                <a:schemeClr val="lt1"/>
              </a:solidFill>
              <a:latin typeface="Bodoni Moda"/>
              <a:ea typeface="Bodoni Moda"/>
              <a:cs typeface="Bodoni Moda"/>
              <a:sym typeface="Bodoni Moda"/>
            </a:endParaRPr>
          </a:p>
        </p:txBody>
      </p:sp>
      <p:sp>
        <p:nvSpPr>
          <p:cNvPr id="280" name="Google Shape;280;p42"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Understanding</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81" name="Google Shape;281;p42"/>
          <p:cNvGrpSpPr/>
          <p:nvPr/>
        </p:nvGrpSpPr>
        <p:grpSpPr>
          <a:xfrm>
            <a:off x="6892000" y="111875"/>
            <a:ext cx="2057400" cy="1033200"/>
            <a:chOff x="6922975" y="1548525"/>
            <a:chExt cx="2057400" cy="1033200"/>
          </a:xfrm>
        </p:grpSpPr>
        <p:grpSp>
          <p:nvGrpSpPr>
            <p:cNvPr id="282" name="Google Shape;282;p42"/>
            <p:cNvGrpSpPr/>
            <p:nvPr/>
          </p:nvGrpSpPr>
          <p:grpSpPr>
            <a:xfrm>
              <a:off x="6922975" y="1548525"/>
              <a:ext cx="2057400" cy="1033200"/>
              <a:chOff x="6172200" y="152400"/>
              <a:chExt cx="2057400" cy="1033200"/>
            </a:xfrm>
          </p:grpSpPr>
          <p:sp>
            <p:nvSpPr>
              <p:cNvPr id="283" name="Google Shape;283;p42"/>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84" name="Google Shape;284;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85" name="Google Shape;285;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leadership styles that are influenced by personality traits to make the content more relatable.</a:t>
              </a:r>
              <a:endParaRPr sz="800">
                <a:latin typeface="Inter" panose="02000503000000020004"/>
                <a:ea typeface="Inter" panose="02000503000000020004"/>
                <a:cs typeface="Inter" panose="02000503000000020004"/>
                <a:sym typeface="Inter" panose="02000503000000020004"/>
              </a:endParaRPr>
            </a:p>
          </p:txBody>
        </p:sp>
        <p:pic>
          <p:nvPicPr>
            <p:cNvPr id="286" name="Google Shape;286;p42"/>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90" name="Shape 290"/>
        <p:cNvGrpSpPr/>
        <p:nvPr/>
      </p:nvGrpSpPr>
      <p:grpSpPr>
        <a:xfrm>
          <a:off x="0" y="0"/>
          <a:ext cx="0" cy="0"/>
          <a:chOff x="0" y="0"/>
          <a:chExt cx="0" cy="0"/>
        </a:xfrm>
      </p:grpSpPr>
      <p:sp>
        <p:nvSpPr>
          <p:cNvPr id="291" name="Google Shape;291;p43" descr="detail_0"/>
          <p:cNvSpPr txBox="1"/>
          <p:nvPr>
            <p:ph type="body" idx="1"/>
          </p:nvPr>
        </p:nvSpPr>
        <p:spPr>
          <a:xfrm>
            <a:off x="1669800" y="1854175"/>
            <a:ext cx="5804400" cy="2371200"/>
          </a:xfrm>
          <a:prstGeom prst="rect">
            <a:avLst/>
          </a:prstGeom>
        </p:spPr>
        <p:txBody>
          <a:bodyPr spcFirstLastPara="1" wrap="square" lIns="0" tIns="91425" rIns="91425" bIns="91425" anchor="t" anchorCtr="0">
            <a:noAutofit/>
          </a:bodyPr>
          <a:lstStyle/>
          <a:p>
            <a:pPr marL="0" lvl="0" indent="0" algn="ctr" rtl="0">
              <a:lnSpc>
                <a:spcPct val="115000"/>
              </a:lnSpc>
              <a:spcBef>
                <a:spcPts val="0"/>
              </a:spcBef>
              <a:spcAft>
                <a:spcPts val="1500"/>
              </a:spcAft>
              <a:buNone/>
            </a:pPr>
            <a:r>
              <a:rPr lang="en-GB" sz="1600">
                <a:solidFill>
                  <a:schemeClr val="lt2"/>
                </a:solidFill>
              </a:rPr>
              <a:t>Personality development plays a crucial role in enhancing life satisfaction and happiness. Individuals who engage in personality development often experience greater life satisfaction and happiness, as they align their actions with their values and goals. This alignment leads to a sense of fulfillment, enabling individuals to pursue their passions and achieve personal objectives, ultimately contributing to a more meaningful life.</a:t>
            </a:r>
            <a:endParaRPr sz="1600">
              <a:solidFill>
                <a:schemeClr val="lt2"/>
              </a:solidFill>
            </a:endParaRPr>
          </a:p>
        </p:txBody>
      </p:sp>
      <p:sp>
        <p:nvSpPr>
          <p:cNvPr id="292" name="Google Shape;292;p43" descr="title"/>
          <p:cNvSpPr txBox="1"/>
          <p:nvPr>
            <p:ph type="title"/>
          </p:nvPr>
        </p:nvSpPr>
        <p:spPr>
          <a:xfrm>
            <a:off x="404850" y="521275"/>
            <a:ext cx="8334300" cy="572700"/>
          </a:xfrm>
          <a:prstGeom prst="rect">
            <a:avLst/>
          </a:prstGeom>
        </p:spPr>
        <p:txBody>
          <a:bodyPr spcFirstLastPara="1" wrap="square" lIns="0" tIns="91425" rIns="0" bIns="91425" anchor="b" anchorCtr="0">
            <a:noAutofit/>
          </a:bodyPr>
          <a:lstStyle/>
          <a:p>
            <a:pPr marL="0" lvl="0" indent="0" algn="ctr" rtl="0">
              <a:spcBef>
                <a:spcPts val="0"/>
              </a:spcBef>
              <a:spcAft>
                <a:spcPts val="0"/>
              </a:spcAft>
              <a:buSzPts val="990"/>
              <a:buNone/>
            </a:pPr>
            <a:r>
              <a:rPr lang="en-GB" sz="2400" b="1">
                <a:solidFill>
                  <a:schemeClr val="lt2"/>
                </a:solidFill>
                <a:latin typeface="Bodoni Moda"/>
                <a:ea typeface="Bodoni Moda"/>
                <a:cs typeface="Bodoni Moda"/>
                <a:sym typeface="Bodoni Moda"/>
              </a:rPr>
              <a:t>Life Satisfaction and Happiness</a:t>
            </a:r>
            <a:endParaRPr sz="2400" b="1">
              <a:solidFill>
                <a:schemeClr val="lt2"/>
              </a:solidFill>
              <a:latin typeface="Bodoni Moda"/>
              <a:ea typeface="Bodoni Moda"/>
              <a:cs typeface="Bodoni Moda"/>
              <a:sym typeface="Bodoni Moda"/>
            </a:endParaRPr>
          </a:p>
        </p:txBody>
      </p:sp>
      <p:sp>
        <p:nvSpPr>
          <p:cNvPr id="293" name="Google Shape;293;p43"/>
          <p:cNvSpPr/>
          <p:nvPr/>
        </p:nvSpPr>
        <p:spPr>
          <a:xfrm>
            <a:off x="4531200" y="14332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94" name="Google Shape;294;p43" descr="chapter"/>
          <p:cNvSpPr txBox="1"/>
          <p:nvPr/>
        </p:nvSpPr>
        <p:spPr>
          <a:xfrm>
            <a:off x="2940300" y="280075"/>
            <a:ext cx="3263400" cy="241200"/>
          </a:xfrm>
          <a:prstGeom prst="rect">
            <a:avLst/>
          </a:prstGeom>
          <a:noFill/>
          <a:ln>
            <a:noFill/>
          </a:ln>
        </p:spPr>
        <p:txBody>
          <a:bodyPr spcFirstLastPara="1" wrap="square" lIns="0" tIns="91425" rIns="91425" bIns="91425" anchor="t" anchorCtr="0">
            <a:noAutofit/>
          </a:bodyPr>
          <a:lstStyle/>
          <a:p>
            <a:pPr marL="0" lvl="0" indent="0" algn="ctr"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Conclusion</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pic>
        <p:nvPicPr>
          <p:cNvPr id="7" name="Picture 6" descr="pixelcut-export (1)"/>
          <p:cNvPicPr>
            <a:picLocks noChangeAspect="1"/>
          </p:cNvPicPr>
          <p:nvPr/>
        </p:nvPicPr>
        <p:blipFill>
          <a:blip r:embed="rId1"/>
          <a:srcRect t="22967" b="48563"/>
          <a:stretch>
            <a:fillRect/>
          </a:stretch>
        </p:blipFill>
        <p:spPr>
          <a:xfrm>
            <a:off x="0" y="4403090"/>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98" name="Shape 298"/>
        <p:cNvGrpSpPr/>
        <p:nvPr/>
      </p:nvGrpSpPr>
      <p:grpSpPr>
        <a:xfrm>
          <a:off x="0" y="0"/>
          <a:ext cx="0" cy="0"/>
          <a:chOff x="0" y="0"/>
          <a:chExt cx="0" cy="0"/>
        </a:xfrm>
      </p:grpSpPr>
      <p:sp>
        <p:nvSpPr>
          <p:cNvPr id="299" name="Google Shape;299;p44" descr="title"/>
          <p:cNvSpPr txBox="1"/>
          <p:nvPr>
            <p:ph type="title"/>
          </p:nvPr>
        </p:nvSpPr>
        <p:spPr>
          <a:xfrm>
            <a:off x="348600" y="521275"/>
            <a:ext cx="8334300" cy="572700"/>
          </a:xfrm>
          <a:prstGeom prst="rect">
            <a:avLst/>
          </a:prstGeom>
        </p:spPr>
        <p:txBody>
          <a:bodyPr spcFirstLastPara="1" wrap="square" lIns="0" tIns="91425" rIns="0" bIns="91425" anchor="ctr" anchorCtr="0">
            <a:noAutofit/>
          </a:bodyPr>
          <a:lstStyle/>
          <a:p>
            <a:pPr marL="0" lvl="0" indent="0" algn="l" rtl="0">
              <a:spcBef>
                <a:spcPts val="0"/>
              </a:spcBef>
              <a:spcAft>
                <a:spcPts val="0"/>
              </a:spcAft>
              <a:buSzPts val="990"/>
              <a:buNone/>
            </a:pPr>
            <a:r>
              <a:rPr lang="en-GB" b="1">
                <a:latin typeface="Bodoni Moda"/>
                <a:ea typeface="Bodoni Moda"/>
                <a:cs typeface="Bodoni Moda"/>
                <a:sym typeface="Bodoni Moda"/>
              </a:rPr>
              <a:t>Components of Emotional Intelligence</a:t>
            </a:r>
            <a:endParaRPr sz="2400" b="1">
              <a:solidFill>
                <a:schemeClr val="lt1"/>
              </a:solidFill>
              <a:latin typeface="Bodoni Moda"/>
              <a:ea typeface="Bodoni Moda"/>
              <a:cs typeface="Bodoni Moda"/>
              <a:sym typeface="Bodoni Moda"/>
            </a:endParaRPr>
          </a:p>
        </p:txBody>
      </p:sp>
      <p:sp>
        <p:nvSpPr>
          <p:cNvPr id="300" name="Google Shape;300;p44"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Emotional Intelligence</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301" name="Google Shape;301;p44" descr="detail_0"/>
          <p:cNvSpPr txBox="1"/>
          <p:nvPr>
            <p:ph type="body" idx="1"/>
          </p:nvPr>
        </p:nvSpPr>
        <p:spPr>
          <a:xfrm>
            <a:off x="345042" y="1708098"/>
            <a:ext cx="2677500" cy="12666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1000"/>
              </a:spcAft>
              <a:buNone/>
            </a:pPr>
            <a:r>
              <a:rPr lang="en-GB" sz="1000">
                <a:solidFill>
                  <a:schemeClr val="lt1"/>
                </a:solidFill>
              </a:rPr>
              <a:t>Emotional Intelligence (EI) is the ability to recognize, understand, and manage our own emotions and the emotions of others.</a:t>
            </a:r>
            <a:endParaRPr sz="1000">
              <a:solidFill>
                <a:schemeClr val="lt1"/>
              </a:solidFill>
            </a:endParaRPr>
          </a:p>
        </p:txBody>
      </p:sp>
      <p:sp>
        <p:nvSpPr>
          <p:cNvPr id="302" name="Google Shape;302;p44" descr="detail_1"/>
          <p:cNvSpPr txBox="1"/>
          <p:nvPr>
            <p:ph type="body" idx="4294967295"/>
          </p:nvPr>
        </p:nvSpPr>
        <p:spPr>
          <a:xfrm>
            <a:off x="3233328" y="1708098"/>
            <a:ext cx="2677500" cy="12666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Self-awareness involves recognizing one's emotions, which is the foundational step in understanding emotional responses.</a:t>
            </a:r>
            <a:endParaRPr sz="1000">
              <a:solidFill>
                <a:schemeClr val="lt1"/>
              </a:solidFill>
            </a:endParaRPr>
          </a:p>
        </p:txBody>
      </p:sp>
      <p:sp>
        <p:nvSpPr>
          <p:cNvPr id="303" name="Google Shape;303;p44" descr="detail_3"/>
          <p:cNvSpPr txBox="1"/>
          <p:nvPr>
            <p:ph type="body" idx="4294967295"/>
          </p:nvPr>
        </p:nvSpPr>
        <p:spPr>
          <a:xfrm>
            <a:off x="345000" y="3508375"/>
            <a:ext cx="2677500" cy="12666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Motivation refers to using emotions to achieve goals, driving individuals to strive for success.</a:t>
            </a:r>
            <a:endParaRPr sz="1000">
              <a:solidFill>
                <a:schemeClr val="lt1"/>
              </a:solidFill>
            </a:endParaRPr>
          </a:p>
        </p:txBody>
      </p:sp>
      <p:sp>
        <p:nvSpPr>
          <p:cNvPr id="304" name="Google Shape;304;p44" descr="header_0"/>
          <p:cNvSpPr txBox="1"/>
          <p:nvPr>
            <p:ph type="subTitle" idx="4294967295"/>
          </p:nvPr>
        </p:nvSpPr>
        <p:spPr>
          <a:xfrm>
            <a:off x="345042" y="1291425"/>
            <a:ext cx="2677500" cy="340500"/>
          </a:xfrm>
          <a:prstGeom prst="rect">
            <a:avLst/>
          </a:prstGeom>
        </p:spPr>
        <p:txBody>
          <a:bodyPr spcFirstLastPara="1" wrap="square" lIns="0" tIns="0" rIns="91425" bIns="0" anchor="b" anchorCtr="0">
            <a:noAutofit/>
          </a:bodyPr>
          <a:lstStyle/>
          <a:p>
            <a:pPr marL="0" lvl="0" indent="0" algn="l" rtl="0">
              <a:spcBef>
                <a:spcPts val="0"/>
              </a:spcBef>
              <a:spcAft>
                <a:spcPts val="800"/>
              </a:spcAft>
              <a:buNone/>
            </a:pPr>
            <a:r>
              <a:rPr lang="en-GB" sz="1200" b="1">
                <a:solidFill>
                  <a:schemeClr val="accent4"/>
                </a:solidFill>
              </a:rPr>
              <a:t>Definition</a:t>
            </a:r>
            <a:endParaRPr sz="1200">
              <a:solidFill>
                <a:schemeClr val="accent4"/>
              </a:solidFill>
            </a:endParaRPr>
          </a:p>
        </p:txBody>
      </p:sp>
      <p:sp>
        <p:nvSpPr>
          <p:cNvPr id="305" name="Google Shape;305;p44" descr="header_1"/>
          <p:cNvSpPr txBox="1"/>
          <p:nvPr>
            <p:ph type="subTitle" idx="4294967295"/>
          </p:nvPr>
        </p:nvSpPr>
        <p:spPr>
          <a:xfrm>
            <a:off x="3233326" y="1291425"/>
            <a:ext cx="2677500" cy="3405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200" b="1">
                <a:solidFill>
                  <a:schemeClr val="accent4"/>
                </a:solidFill>
              </a:rPr>
              <a:t>Self-awareness</a:t>
            </a:r>
            <a:endParaRPr sz="1200">
              <a:solidFill>
                <a:schemeClr val="accent4"/>
              </a:solidFill>
            </a:endParaRPr>
          </a:p>
        </p:txBody>
      </p:sp>
      <p:sp>
        <p:nvSpPr>
          <p:cNvPr id="306" name="Google Shape;306;p44" descr="header_3"/>
          <p:cNvSpPr txBox="1"/>
          <p:nvPr>
            <p:ph type="subTitle" idx="4294967295"/>
          </p:nvPr>
        </p:nvSpPr>
        <p:spPr>
          <a:xfrm>
            <a:off x="345000" y="3091702"/>
            <a:ext cx="2677500" cy="3405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200" b="1">
                <a:solidFill>
                  <a:schemeClr val="accent4"/>
                </a:solidFill>
              </a:rPr>
              <a:t>Motivation</a:t>
            </a:r>
            <a:endParaRPr sz="1200">
              <a:solidFill>
                <a:schemeClr val="accent4"/>
              </a:solidFill>
            </a:endParaRPr>
          </a:p>
        </p:txBody>
      </p:sp>
      <p:sp>
        <p:nvSpPr>
          <p:cNvPr id="307" name="Google Shape;307;p44" descr="detail_4"/>
          <p:cNvSpPr txBox="1"/>
          <p:nvPr>
            <p:ph type="body" idx="4294967295"/>
          </p:nvPr>
        </p:nvSpPr>
        <p:spPr>
          <a:xfrm>
            <a:off x="3233285" y="3508375"/>
            <a:ext cx="2677500" cy="12666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Empathy is the ability to understand others' emotions, which fosters deeper connections and communication.</a:t>
            </a:r>
            <a:endParaRPr sz="1000">
              <a:solidFill>
                <a:schemeClr val="lt1"/>
              </a:solidFill>
            </a:endParaRPr>
          </a:p>
        </p:txBody>
      </p:sp>
      <p:sp>
        <p:nvSpPr>
          <p:cNvPr id="308" name="Google Shape;308;p44" descr="header_4"/>
          <p:cNvSpPr txBox="1"/>
          <p:nvPr>
            <p:ph type="subTitle" idx="4294967295"/>
          </p:nvPr>
        </p:nvSpPr>
        <p:spPr>
          <a:xfrm>
            <a:off x="3233284" y="3091702"/>
            <a:ext cx="2677500" cy="3405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200" b="1">
                <a:solidFill>
                  <a:schemeClr val="accent4"/>
                </a:solidFill>
              </a:rPr>
              <a:t>Empathy</a:t>
            </a:r>
            <a:endParaRPr sz="1200">
              <a:solidFill>
                <a:schemeClr val="accent4"/>
              </a:solidFill>
            </a:endParaRPr>
          </a:p>
        </p:txBody>
      </p:sp>
      <p:sp>
        <p:nvSpPr>
          <p:cNvPr id="309" name="Google Shape;309;p44" descr="detail_2"/>
          <p:cNvSpPr txBox="1"/>
          <p:nvPr>
            <p:ph type="body" idx="4294967295"/>
          </p:nvPr>
        </p:nvSpPr>
        <p:spPr>
          <a:xfrm>
            <a:off x="6121609" y="1708098"/>
            <a:ext cx="2677500" cy="12666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Self-regulation is about managing emotions appropriately, ensuring responses are measured and constructive.</a:t>
            </a:r>
            <a:endParaRPr sz="1000">
              <a:solidFill>
                <a:schemeClr val="lt1"/>
              </a:solidFill>
            </a:endParaRPr>
          </a:p>
        </p:txBody>
      </p:sp>
      <p:sp>
        <p:nvSpPr>
          <p:cNvPr id="310" name="Google Shape;310;p44" descr="header_2"/>
          <p:cNvSpPr txBox="1"/>
          <p:nvPr>
            <p:ph type="subTitle" idx="4294967295"/>
          </p:nvPr>
        </p:nvSpPr>
        <p:spPr>
          <a:xfrm>
            <a:off x="6121608" y="1291425"/>
            <a:ext cx="2677500" cy="3405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200" b="1">
                <a:solidFill>
                  <a:schemeClr val="accent4"/>
                </a:solidFill>
              </a:rPr>
              <a:t>Self-regulation</a:t>
            </a:r>
            <a:endParaRPr sz="1200">
              <a:solidFill>
                <a:schemeClr val="accent4"/>
              </a:solidFill>
            </a:endParaRPr>
          </a:p>
        </p:txBody>
      </p:sp>
      <p:sp>
        <p:nvSpPr>
          <p:cNvPr id="311" name="Google Shape;311;p44" descr="detail_5"/>
          <p:cNvSpPr txBox="1"/>
          <p:nvPr>
            <p:ph type="body" idx="4294967295"/>
          </p:nvPr>
        </p:nvSpPr>
        <p:spPr>
          <a:xfrm>
            <a:off x="6121567" y="3508375"/>
            <a:ext cx="2677500" cy="12666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Social skills encompass navigating social complexities, facilitating effective interactions and relationship-building.</a:t>
            </a:r>
            <a:endParaRPr sz="1000">
              <a:solidFill>
                <a:schemeClr val="lt1"/>
              </a:solidFill>
            </a:endParaRPr>
          </a:p>
        </p:txBody>
      </p:sp>
      <p:sp>
        <p:nvSpPr>
          <p:cNvPr id="312" name="Google Shape;312;p44" descr="header_5"/>
          <p:cNvSpPr txBox="1"/>
          <p:nvPr>
            <p:ph type="subTitle" idx="4294967295"/>
          </p:nvPr>
        </p:nvSpPr>
        <p:spPr>
          <a:xfrm>
            <a:off x="6121565" y="3091702"/>
            <a:ext cx="2677500" cy="3405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200" b="1">
                <a:solidFill>
                  <a:schemeClr val="accent4"/>
                </a:solidFill>
              </a:rPr>
              <a:t>Social skills</a:t>
            </a:r>
            <a:endParaRPr sz="1200">
              <a:solidFill>
                <a:schemeClr val="accent4"/>
              </a:solidFill>
            </a:endParaRPr>
          </a:p>
        </p:txBody>
      </p:sp>
      <p:grpSp>
        <p:nvGrpSpPr>
          <p:cNvPr id="313" name="Google Shape;313;p44"/>
          <p:cNvGrpSpPr/>
          <p:nvPr/>
        </p:nvGrpSpPr>
        <p:grpSpPr>
          <a:xfrm>
            <a:off x="6965625" y="112900"/>
            <a:ext cx="2057400" cy="1033200"/>
            <a:chOff x="6922975" y="1548525"/>
            <a:chExt cx="2057400" cy="1033200"/>
          </a:xfrm>
        </p:grpSpPr>
        <p:grpSp>
          <p:nvGrpSpPr>
            <p:cNvPr id="314" name="Google Shape;314;p44"/>
            <p:cNvGrpSpPr/>
            <p:nvPr/>
          </p:nvGrpSpPr>
          <p:grpSpPr>
            <a:xfrm>
              <a:off x="6922975" y="1548525"/>
              <a:ext cx="2057400" cy="1033200"/>
              <a:chOff x="6172200" y="152400"/>
              <a:chExt cx="2057400" cy="1033200"/>
            </a:xfrm>
          </p:grpSpPr>
          <p:sp>
            <p:nvSpPr>
              <p:cNvPr id="315" name="Google Shape;315;p44"/>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16" name="Google Shape;316;p4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17" name="Google Shape;317;p4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real-life examples or scenarios for each component to illustrate their importance in educational settings.</a:t>
              </a:r>
              <a:endParaRPr sz="800">
                <a:latin typeface="Inter" panose="02000503000000020004"/>
                <a:ea typeface="Inter" panose="02000503000000020004"/>
                <a:cs typeface="Inter" panose="02000503000000020004"/>
                <a:sym typeface="Inter" panose="02000503000000020004"/>
              </a:endParaRPr>
            </a:p>
          </p:txBody>
        </p:sp>
        <p:pic>
          <p:nvPicPr>
            <p:cNvPr id="318" name="Google Shape;318;p44"/>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22" name="Shape 322"/>
        <p:cNvGrpSpPr/>
        <p:nvPr/>
      </p:nvGrpSpPr>
      <p:grpSpPr>
        <a:xfrm>
          <a:off x="0" y="0"/>
          <a:ext cx="0" cy="0"/>
          <a:chOff x="0" y="0"/>
          <a:chExt cx="0" cy="0"/>
        </a:xfrm>
      </p:grpSpPr>
      <p:sp>
        <p:nvSpPr>
          <p:cNvPr id="323" name="Google Shape;323;p45" descr="header_0"/>
          <p:cNvSpPr txBox="1"/>
          <p:nvPr/>
        </p:nvSpPr>
        <p:spPr>
          <a:xfrm>
            <a:off x="348525" y="1153600"/>
            <a:ext cx="1968600" cy="892200"/>
          </a:xfrm>
          <a:prstGeom prst="rect">
            <a:avLst/>
          </a:prstGeom>
          <a:noFill/>
          <a:ln>
            <a:noFill/>
          </a:ln>
        </p:spPr>
        <p:txBody>
          <a:bodyPr spcFirstLastPara="1" wrap="square" lIns="0" tIns="0" rIns="91425" bIns="0" anchor="b" anchorCtr="0">
            <a:noAutofit/>
          </a:bodyPr>
          <a:lstStyle/>
          <a:p>
            <a:pPr marL="0" lvl="0" indent="0" algn="l" rtl="0">
              <a:spcBef>
                <a:spcPts val="0"/>
              </a:spcBef>
              <a:spcAft>
                <a:spcPts val="0"/>
              </a:spcAft>
              <a:buNone/>
            </a:pPr>
            <a:r>
              <a:rPr lang="en-GB" b="1">
                <a:solidFill>
                  <a:schemeClr val="lt1"/>
                </a:solidFill>
                <a:latin typeface="Georgia" panose="02040502050405090303"/>
                <a:ea typeface="Georgia" panose="02040502050405090303"/>
                <a:cs typeface="Georgia" panose="02040502050405090303"/>
                <a:sym typeface="Georgia" panose="02040502050405090303"/>
              </a:rPr>
              <a:t>Growth Mindset</a:t>
            </a:r>
            <a:endParaRPr b="1">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24" name="Google Shape;324;p45" descr="header_1"/>
          <p:cNvSpPr txBox="1"/>
          <p:nvPr/>
        </p:nvSpPr>
        <p:spPr>
          <a:xfrm>
            <a:off x="2472428" y="1153600"/>
            <a:ext cx="1968600" cy="892200"/>
          </a:xfrm>
          <a:prstGeom prst="rect">
            <a:avLst/>
          </a:prstGeom>
          <a:noFill/>
          <a:ln>
            <a:noFill/>
          </a:ln>
        </p:spPr>
        <p:txBody>
          <a:bodyPr spcFirstLastPara="1" wrap="square" lIns="0" tIns="0" rIns="91425" bIns="0" anchor="b" anchorCtr="0">
            <a:noAutofit/>
          </a:bodyPr>
          <a:lstStyle/>
          <a:p>
            <a:pPr marL="0" lvl="0" indent="0" algn="l" rtl="0">
              <a:spcBef>
                <a:spcPts val="0"/>
              </a:spcBef>
              <a:spcAft>
                <a:spcPts val="800"/>
              </a:spcAft>
              <a:buNone/>
            </a:pPr>
            <a:r>
              <a:rPr lang="en-GB" b="1">
                <a:solidFill>
                  <a:schemeClr val="lt1"/>
                </a:solidFill>
                <a:latin typeface="Georgia" panose="02040502050405090303"/>
                <a:ea typeface="Georgia" panose="02040502050405090303"/>
                <a:cs typeface="Georgia" panose="02040502050405090303"/>
                <a:sym typeface="Georgia" panose="02040502050405090303"/>
              </a:rPr>
              <a:t>Problem-Solving Skills</a:t>
            </a:r>
            <a:endParaRPr b="1">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25" name="Google Shape;325;p45" descr="header_2"/>
          <p:cNvSpPr txBox="1"/>
          <p:nvPr/>
        </p:nvSpPr>
        <p:spPr>
          <a:xfrm>
            <a:off x="4596331" y="1153600"/>
            <a:ext cx="1968600" cy="892200"/>
          </a:xfrm>
          <a:prstGeom prst="rect">
            <a:avLst/>
          </a:prstGeom>
          <a:noFill/>
          <a:ln>
            <a:noFill/>
          </a:ln>
        </p:spPr>
        <p:txBody>
          <a:bodyPr spcFirstLastPara="1" wrap="square" lIns="0" tIns="0" rIns="91425" bIns="0" anchor="b" anchorCtr="0">
            <a:noAutofit/>
          </a:bodyPr>
          <a:lstStyle/>
          <a:p>
            <a:pPr marL="0" lvl="0" indent="0" algn="l" rtl="0">
              <a:spcBef>
                <a:spcPts val="0"/>
              </a:spcBef>
              <a:spcAft>
                <a:spcPts val="800"/>
              </a:spcAft>
              <a:buNone/>
            </a:pPr>
            <a:r>
              <a:rPr lang="en-GB" b="1">
                <a:solidFill>
                  <a:schemeClr val="lt1"/>
                </a:solidFill>
                <a:latin typeface="Georgia" panose="02040502050405090303"/>
                <a:ea typeface="Georgia" panose="02040502050405090303"/>
                <a:cs typeface="Georgia" panose="02040502050405090303"/>
                <a:sym typeface="Georgia" panose="02040502050405090303"/>
              </a:rPr>
              <a:t>Support During Difficulties</a:t>
            </a:r>
            <a:endParaRPr b="1">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26" name="Google Shape;326;p45" descr="header_3"/>
          <p:cNvSpPr txBox="1"/>
          <p:nvPr/>
        </p:nvSpPr>
        <p:spPr>
          <a:xfrm>
            <a:off x="6720250" y="1153600"/>
            <a:ext cx="1968600" cy="892200"/>
          </a:xfrm>
          <a:prstGeom prst="rect">
            <a:avLst/>
          </a:prstGeom>
          <a:noFill/>
          <a:ln>
            <a:noFill/>
          </a:ln>
        </p:spPr>
        <p:txBody>
          <a:bodyPr spcFirstLastPara="1" wrap="square" lIns="0" tIns="0" rIns="91425" bIns="0" anchor="b" anchorCtr="0">
            <a:noAutofit/>
          </a:bodyPr>
          <a:lstStyle/>
          <a:p>
            <a:pPr marL="0" lvl="0" indent="0" algn="l" rtl="0">
              <a:spcBef>
                <a:spcPts val="0"/>
              </a:spcBef>
              <a:spcAft>
                <a:spcPts val="800"/>
              </a:spcAft>
              <a:buNone/>
            </a:pPr>
            <a:r>
              <a:rPr lang="en-GB" b="1">
                <a:solidFill>
                  <a:schemeClr val="lt1"/>
                </a:solidFill>
                <a:latin typeface="Georgia" panose="02040502050405090303"/>
                <a:ea typeface="Georgia" panose="02040502050405090303"/>
                <a:cs typeface="Georgia" panose="02040502050405090303"/>
                <a:sym typeface="Georgia" panose="02040502050405090303"/>
              </a:rPr>
              <a:t>Stories of Perseverance</a:t>
            </a:r>
            <a:endParaRPr b="1">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27" name="Google Shape;327;p45" descr="detail_0"/>
          <p:cNvSpPr txBox="1"/>
          <p:nvPr/>
        </p:nvSpPr>
        <p:spPr>
          <a:xfrm>
            <a:off x="345587" y="2173575"/>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2000"/>
              </a:spcAft>
              <a:buNone/>
            </a:pPr>
            <a:r>
              <a:rPr lang="en-GB" sz="1000">
                <a:solidFill>
                  <a:schemeClr val="lt1"/>
                </a:solidFill>
                <a:latin typeface="Georgia" panose="02040502050405090303"/>
                <a:ea typeface="Georgia" panose="02040502050405090303"/>
                <a:cs typeface="Georgia" panose="02040502050405090303"/>
                <a:sym typeface="Georgia" panose="02040502050405090303"/>
              </a:rPr>
              <a:t>Promote the belief that abilities can be developed through hard work. Teach students to view failures as growth opportunities.</a:t>
            </a:r>
            <a:endParaRPr sz="10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28" name="Google Shape;328;p45" descr="detail_1"/>
          <p:cNvSpPr txBox="1"/>
          <p:nvPr/>
        </p:nvSpPr>
        <p:spPr>
          <a:xfrm>
            <a:off x="2469493" y="2173575"/>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800"/>
              </a:spcAft>
              <a:buNone/>
            </a:pPr>
            <a:r>
              <a:rPr lang="en-GB" sz="1000">
                <a:solidFill>
                  <a:schemeClr val="lt1"/>
                </a:solidFill>
                <a:latin typeface="Georgia" panose="02040502050405090303"/>
                <a:ea typeface="Georgia" panose="02040502050405090303"/>
                <a:cs typeface="Georgia" panose="02040502050405090303"/>
                <a:sym typeface="Georgia" panose="02040502050405090303"/>
              </a:rPr>
              <a:t>Equip students with strategies to analyze problems and generate solutions. Teach them to approach challenges creatively.</a:t>
            </a:r>
            <a:endParaRPr sz="10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29" name="Google Shape;329;p45" descr="detail_2"/>
          <p:cNvSpPr txBox="1"/>
          <p:nvPr/>
        </p:nvSpPr>
        <p:spPr>
          <a:xfrm>
            <a:off x="4593398" y="2173575"/>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800"/>
              </a:spcAft>
              <a:buNone/>
            </a:pPr>
            <a:r>
              <a:rPr lang="en-GB" sz="1000">
                <a:solidFill>
                  <a:schemeClr val="lt1"/>
                </a:solidFill>
                <a:latin typeface="Georgia" panose="02040502050405090303"/>
                <a:ea typeface="Georgia" panose="02040502050405090303"/>
                <a:cs typeface="Georgia" panose="02040502050405090303"/>
                <a:sym typeface="Georgia" panose="02040502050405090303"/>
              </a:rPr>
              <a:t>Create a safe environment for students to express struggles and seek help. Provide access to counseling and open communication.</a:t>
            </a:r>
            <a:endParaRPr sz="10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30" name="Google Shape;330;p45" descr="detail_3"/>
          <p:cNvSpPr txBox="1"/>
          <p:nvPr/>
        </p:nvSpPr>
        <p:spPr>
          <a:xfrm>
            <a:off x="6717320" y="2173575"/>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800"/>
              </a:spcAft>
              <a:buNone/>
            </a:pPr>
            <a:r>
              <a:rPr lang="en-GB" sz="1000">
                <a:solidFill>
                  <a:schemeClr val="lt1"/>
                </a:solidFill>
                <a:latin typeface="Georgia" panose="02040502050405090303"/>
                <a:ea typeface="Georgia" panose="02040502050405090303"/>
                <a:cs typeface="Georgia" panose="02040502050405090303"/>
                <a:sym typeface="Georgia" panose="02040502050405090303"/>
              </a:rPr>
              <a:t>Share narratives of individuals who overcame adversity. These stories motivate students to see setbacks as growth opportunities.</a:t>
            </a:r>
            <a:endParaRPr sz="10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331" name="Google Shape;331;p45" descr="deliverable_0"/>
          <p:cNvSpPr txBox="1"/>
          <p:nvPr/>
        </p:nvSpPr>
        <p:spPr>
          <a:xfrm>
            <a:off x="345587" y="3309800"/>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Growth mindset workshops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Reflection exercises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332" name="Google Shape;332;p45" descr="deliverable_1"/>
          <p:cNvSpPr txBox="1"/>
          <p:nvPr/>
        </p:nvSpPr>
        <p:spPr>
          <a:xfrm>
            <a:off x="2469493" y="3309800"/>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Problem-solving guides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Group activities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333" name="Google Shape;333;p45" descr="deliverable_2"/>
          <p:cNvSpPr txBox="1"/>
          <p:nvPr/>
        </p:nvSpPr>
        <p:spPr>
          <a:xfrm>
            <a:off x="4593398" y="3309800"/>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Counseling resources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Support group sessions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334" name="Google Shape;334;p45" descr="deliverable_3"/>
          <p:cNvSpPr txBox="1"/>
          <p:nvPr/>
        </p:nvSpPr>
        <p:spPr>
          <a:xfrm>
            <a:off x="6717320" y="3309800"/>
            <a:ext cx="19686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Storytelling sessions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a:p>
            <a:pPr marL="0" lvl="0" indent="0" algn="l" rtl="0">
              <a:spcBef>
                <a:spcPts val="0"/>
              </a:spcBef>
              <a:spcAft>
                <a:spcPts val="0"/>
              </a:spcAft>
              <a:buNone/>
            </a:pPr>
            <a:r>
              <a:rPr lang="en-GB" sz="800">
                <a:solidFill>
                  <a:schemeClr val="accent1"/>
                </a:solidFill>
                <a:latin typeface="Noto Sans" panose="020B0502040504020204"/>
                <a:ea typeface="Noto Sans" panose="020B0502040504020204"/>
                <a:cs typeface="Noto Sans" panose="020B0502040504020204"/>
                <a:sym typeface="Noto Sans" panose="020B0502040504020204"/>
              </a:rPr>
              <a:t>Guest speaker events</a:t>
            </a:r>
            <a:endParaRPr sz="800">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335" name="Google Shape;335;p45" descr="title"/>
          <p:cNvSpPr txBox="1"/>
          <p:nvPr>
            <p:ph type="title"/>
          </p:nvPr>
        </p:nvSpPr>
        <p:spPr>
          <a:xfrm>
            <a:off x="348600" y="521275"/>
            <a:ext cx="8334300" cy="572700"/>
          </a:xfrm>
          <a:prstGeom prst="rect">
            <a:avLst/>
          </a:prstGeom>
        </p:spPr>
        <p:txBody>
          <a:bodyPr spcFirstLastPara="1" wrap="square" lIns="0" tIns="91425" rIns="0" bIns="91425" anchor="ctr" anchorCtr="0">
            <a:noAutofit/>
          </a:bodyPr>
          <a:lstStyle/>
          <a:p>
            <a:pPr marL="0" lvl="0" indent="0" algn="l" rtl="0">
              <a:spcBef>
                <a:spcPts val="0"/>
              </a:spcBef>
              <a:spcAft>
                <a:spcPts val="0"/>
              </a:spcAft>
              <a:buSzPts val="990"/>
              <a:buNone/>
            </a:pPr>
            <a:r>
              <a:rPr lang="en-GB" b="1">
                <a:latin typeface="Bodoni Moda"/>
                <a:ea typeface="Bodoni Moda"/>
                <a:cs typeface="Bodoni Moda"/>
                <a:sym typeface="Bodoni Moda"/>
              </a:rPr>
              <a:t>Building Resilience</a:t>
            </a:r>
            <a:endParaRPr sz="2400" b="1">
              <a:solidFill>
                <a:schemeClr val="lt1"/>
              </a:solidFill>
              <a:latin typeface="Bodoni Moda"/>
              <a:ea typeface="Bodoni Moda"/>
              <a:cs typeface="Bodoni Moda"/>
              <a:sym typeface="Bodoni Moda"/>
            </a:endParaRPr>
          </a:p>
        </p:txBody>
      </p:sp>
      <p:sp>
        <p:nvSpPr>
          <p:cNvPr id="336" name="Google Shape;336;p45"/>
          <p:cNvSpPr/>
          <p:nvPr/>
        </p:nvSpPr>
        <p:spPr>
          <a:xfrm>
            <a:off x="2472425" y="1515150"/>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337" name="Google Shape;337;p45"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Resilience</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338" name="Google Shape;338;p45"/>
          <p:cNvGrpSpPr/>
          <p:nvPr/>
        </p:nvGrpSpPr>
        <p:grpSpPr>
          <a:xfrm>
            <a:off x="6892000" y="340475"/>
            <a:ext cx="2057400" cy="1033200"/>
            <a:chOff x="6922975" y="1548525"/>
            <a:chExt cx="2057400" cy="1033200"/>
          </a:xfrm>
        </p:grpSpPr>
        <p:grpSp>
          <p:nvGrpSpPr>
            <p:cNvPr id="339" name="Google Shape;339;p45"/>
            <p:cNvGrpSpPr/>
            <p:nvPr/>
          </p:nvGrpSpPr>
          <p:grpSpPr>
            <a:xfrm>
              <a:off x="6922975" y="1548525"/>
              <a:ext cx="2057400" cy="1033200"/>
              <a:chOff x="6172200" y="152400"/>
              <a:chExt cx="2057400" cy="1033200"/>
            </a:xfrm>
          </p:grpSpPr>
          <p:sp>
            <p:nvSpPr>
              <p:cNvPr id="340" name="Google Shape;340;p45"/>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41" name="Google Shape;341;p4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42" name="Google Shape;342;p4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or case studies related to resilience-building activities that have been effective in educational settings.</a:t>
              </a:r>
              <a:endParaRPr sz="800">
                <a:latin typeface="Inter" panose="02000503000000020004"/>
                <a:ea typeface="Inter" panose="02000503000000020004"/>
                <a:cs typeface="Inter" panose="02000503000000020004"/>
                <a:sym typeface="Inter" panose="02000503000000020004"/>
              </a:endParaRPr>
            </a:p>
          </p:txBody>
        </p:sp>
        <p:pic>
          <p:nvPicPr>
            <p:cNvPr id="343" name="Google Shape;343;p45"/>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47" name="Shape 347"/>
        <p:cNvGrpSpPr/>
        <p:nvPr/>
      </p:nvGrpSpPr>
      <p:grpSpPr>
        <a:xfrm>
          <a:off x="0" y="0"/>
          <a:ext cx="0" cy="0"/>
          <a:chOff x="0" y="0"/>
          <a:chExt cx="0" cy="0"/>
        </a:xfrm>
      </p:grpSpPr>
      <p:sp>
        <p:nvSpPr>
          <p:cNvPr id="348" name="Google Shape;348;p46" descr="header_0"/>
          <p:cNvSpPr txBox="1"/>
          <p:nvPr>
            <p:ph type="subTitle" idx="4294967295"/>
          </p:nvPr>
        </p:nvSpPr>
        <p:spPr>
          <a:xfrm>
            <a:off x="348525" y="2486775"/>
            <a:ext cx="2509500" cy="620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100" b="1">
                <a:solidFill>
                  <a:schemeClr val="accent4"/>
                </a:solidFill>
                <a:latin typeface="Noto Sans" panose="020B0502040504020204"/>
                <a:ea typeface="Noto Sans" panose="020B0502040504020204"/>
                <a:cs typeface="Noto Sans" panose="020B0502040504020204"/>
                <a:sym typeface="Noto Sans" panose="020B0502040504020204"/>
              </a:rPr>
              <a:t>Role Plays</a:t>
            </a:r>
            <a:endParaRPr sz="1100" b="1">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349" name="Google Shape;349;p46" descr="header_1"/>
          <p:cNvSpPr txBox="1"/>
          <p:nvPr>
            <p:ph type="subTitle" idx="4294967295"/>
          </p:nvPr>
        </p:nvSpPr>
        <p:spPr>
          <a:xfrm>
            <a:off x="3264859" y="2486775"/>
            <a:ext cx="2509500" cy="620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100" b="1">
                <a:solidFill>
                  <a:schemeClr val="accent4"/>
                </a:solidFill>
                <a:latin typeface="Noto Sans" panose="020B0502040504020204"/>
                <a:ea typeface="Noto Sans" panose="020B0502040504020204"/>
                <a:cs typeface="Noto Sans" panose="020B0502040504020204"/>
                <a:sym typeface="Noto Sans" panose="020B0502040504020204"/>
              </a:rPr>
              <a:t>Peer Feedback Sessions</a:t>
            </a:r>
            <a:endParaRPr sz="1100" b="1">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350" name="Google Shape;350;p46" descr="header_2"/>
          <p:cNvSpPr txBox="1"/>
          <p:nvPr>
            <p:ph type="subTitle" idx="4294967295"/>
          </p:nvPr>
        </p:nvSpPr>
        <p:spPr>
          <a:xfrm>
            <a:off x="6181174" y="2486775"/>
            <a:ext cx="2509500" cy="620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100" b="1">
                <a:solidFill>
                  <a:schemeClr val="accent4"/>
                </a:solidFill>
                <a:latin typeface="Noto Sans" panose="020B0502040504020204"/>
                <a:ea typeface="Noto Sans" panose="020B0502040504020204"/>
                <a:cs typeface="Noto Sans" panose="020B0502040504020204"/>
                <a:sym typeface="Noto Sans" panose="020B0502040504020204"/>
              </a:rPr>
              <a:t>Reflective Activities</a:t>
            </a:r>
            <a:endParaRPr sz="1100" b="1">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351" name="Google Shape;351;p46" descr="detail_0"/>
          <p:cNvSpPr txBox="1"/>
          <p:nvPr>
            <p:ph type="body" idx="1"/>
          </p:nvPr>
        </p:nvSpPr>
        <p:spPr>
          <a:xfrm>
            <a:off x="348525" y="3193750"/>
            <a:ext cx="2509500" cy="160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solidFill>
                  <a:schemeClr val="lt1"/>
                </a:solidFill>
              </a:rPr>
              <a:t>Divide groups into four each and give them situations to enact and perform. This will provide an opportunity for all to show their creativity and overcome shyness.</a:t>
            </a:r>
            <a:endParaRPr sz="1100">
              <a:solidFill>
                <a:schemeClr val="lt1"/>
              </a:solidFill>
            </a:endParaRPr>
          </a:p>
        </p:txBody>
      </p:sp>
      <p:sp>
        <p:nvSpPr>
          <p:cNvPr id="352" name="Google Shape;352;p46" descr="detail_1"/>
          <p:cNvSpPr txBox="1"/>
          <p:nvPr>
            <p:ph type="body" idx="1"/>
          </p:nvPr>
        </p:nvSpPr>
        <p:spPr>
          <a:xfrm>
            <a:off x="3264850" y="3193750"/>
            <a:ext cx="2509500" cy="160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solidFill>
                  <a:schemeClr val="lt1"/>
                </a:solidFill>
              </a:rPr>
              <a:t>Give a sheet to every candidate and ask them to write sentences about the other candidates based on their observations. Provide a chance for everyone to come forward and express their observations.</a:t>
            </a:r>
            <a:endParaRPr sz="1100">
              <a:solidFill>
                <a:schemeClr val="lt1"/>
              </a:solidFill>
            </a:endParaRPr>
          </a:p>
        </p:txBody>
      </p:sp>
      <p:sp>
        <p:nvSpPr>
          <p:cNvPr id="353" name="Google Shape;353;p46" descr="detail_2"/>
          <p:cNvSpPr txBox="1"/>
          <p:nvPr>
            <p:ph type="body" idx="1"/>
          </p:nvPr>
        </p:nvSpPr>
        <p:spPr>
          <a:xfrm>
            <a:off x="6181150" y="3193750"/>
            <a:ext cx="2509500" cy="160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solidFill>
                  <a:schemeClr val="lt1"/>
                </a:solidFill>
              </a:rPr>
              <a:t>Encourage journaling and guided discussions to enhance self-awareness in students. These activities promote personal growth by helping students understand their strengths and weaknesses.</a:t>
            </a:r>
            <a:endParaRPr sz="1100">
              <a:solidFill>
                <a:schemeClr val="lt1"/>
              </a:solidFill>
            </a:endParaRPr>
          </a:p>
        </p:txBody>
      </p:sp>
      <p:sp>
        <p:nvSpPr>
          <p:cNvPr id="354" name="Google Shape;354;p46"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Activities for Personality Development</a:t>
            </a:r>
            <a:endParaRPr sz="2400" b="1">
              <a:solidFill>
                <a:schemeClr val="lt1"/>
              </a:solidFill>
              <a:latin typeface="Bodoni Moda"/>
              <a:ea typeface="Bodoni Moda"/>
              <a:cs typeface="Bodoni Moda"/>
              <a:sym typeface="Bodoni Moda"/>
            </a:endParaRPr>
          </a:p>
        </p:txBody>
      </p:sp>
      <p:sp>
        <p:nvSpPr>
          <p:cNvPr id="355" name="Google Shape;355;p46"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Activities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356" name="Google Shape;356;p46"/>
          <p:cNvGrpSpPr/>
          <p:nvPr/>
        </p:nvGrpSpPr>
        <p:grpSpPr>
          <a:xfrm>
            <a:off x="6892000" y="340475"/>
            <a:ext cx="2057400" cy="1033200"/>
            <a:chOff x="6922975" y="1548525"/>
            <a:chExt cx="2057400" cy="1033200"/>
          </a:xfrm>
        </p:grpSpPr>
        <p:grpSp>
          <p:nvGrpSpPr>
            <p:cNvPr id="357" name="Google Shape;357;p46"/>
            <p:cNvGrpSpPr/>
            <p:nvPr/>
          </p:nvGrpSpPr>
          <p:grpSpPr>
            <a:xfrm>
              <a:off x="6922975" y="1548525"/>
              <a:ext cx="2057400" cy="1033200"/>
              <a:chOff x="6172200" y="152400"/>
              <a:chExt cx="2057400" cy="1033200"/>
            </a:xfrm>
          </p:grpSpPr>
          <p:sp>
            <p:nvSpPr>
              <p:cNvPr id="358" name="Google Shape;358;p46"/>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59" name="Google Shape;359;p4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60" name="Google Shape;360;p4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role play scenarios or feedback prompts to enhance engagement.</a:t>
              </a:r>
              <a:endParaRPr sz="800">
                <a:latin typeface="Inter" panose="02000503000000020004"/>
                <a:ea typeface="Inter" panose="02000503000000020004"/>
                <a:cs typeface="Inter" panose="02000503000000020004"/>
                <a:sym typeface="Inter" panose="02000503000000020004"/>
              </a:endParaRPr>
            </a:p>
          </p:txBody>
        </p:sp>
        <p:pic>
          <p:nvPicPr>
            <p:cNvPr id="361" name="Google Shape;361;p46"/>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03090"/>
            <a:ext cx="2733040" cy="7785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65" name="Shape 365"/>
        <p:cNvGrpSpPr/>
        <p:nvPr/>
      </p:nvGrpSpPr>
      <p:grpSpPr>
        <a:xfrm>
          <a:off x="0" y="0"/>
          <a:ext cx="0" cy="0"/>
          <a:chOff x="0" y="0"/>
          <a:chExt cx="0" cy="0"/>
        </a:xfrm>
      </p:grpSpPr>
      <p:sp>
        <p:nvSpPr>
          <p:cNvPr id="366" name="Google Shape;366;p47" descr="detail_0"/>
          <p:cNvSpPr txBox="1"/>
          <p:nvPr>
            <p:ph type="body" idx="1"/>
          </p:nvPr>
        </p:nvSpPr>
        <p:spPr>
          <a:xfrm>
            <a:off x="1669800" y="1854175"/>
            <a:ext cx="5804400" cy="2371200"/>
          </a:xfrm>
          <a:prstGeom prst="rect">
            <a:avLst/>
          </a:prstGeom>
        </p:spPr>
        <p:txBody>
          <a:bodyPr spcFirstLastPara="1" wrap="square" lIns="0" tIns="91425" rIns="91425" bIns="91425" anchor="t" anchorCtr="0">
            <a:noAutofit/>
          </a:bodyPr>
          <a:lstStyle/>
          <a:p>
            <a:pPr marL="0" lvl="0" indent="0" algn="ctr" rtl="0">
              <a:lnSpc>
                <a:spcPct val="115000"/>
              </a:lnSpc>
              <a:spcBef>
                <a:spcPts val="0"/>
              </a:spcBef>
              <a:spcAft>
                <a:spcPts val="0"/>
              </a:spcAft>
              <a:buNone/>
            </a:pPr>
            <a:r>
              <a:rPr lang="en-GB" sz="1800">
                <a:solidFill>
                  <a:schemeClr val="lt1"/>
                </a:solidFill>
              </a:rPr>
              <a:t>Overall, personality development plays a fundamental role in shaping individuals' emotional, social, and cognitive capabilities.</a:t>
            </a:r>
            <a:endParaRPr sz="1800">
              <a:solidFill>
                <a:schemeClr val="lt1"/>
              </a:solidFill>
            </a:endParaRPr>
          </a:p>
          <a:p>
            <a:pPr marL="0" lvl="0" indent="0" algn="ctr" rtl="0">
              <a:lnSpc>
                <a:spcPct val="115000"/>
              </a:lnSpc>
              <a:spcBef>
                <a:spcPts val="1500"/>
              </a:spcBef>
              <a:spcAft>
                <a:spcPts val="1500"/>
              </a:spcAft>
              <a:buNone/>
            </a:pPr>
            <a:r>
              <a:rPr lang="en-GB" sz="1800">
                <a:solidFill>
                  <a:schemeClr val="lt1"/>
                </a:solidFill>
              </a:rPr>
              <a:t>By fostering these aspects, we prepare individuals not only for personal success but also for contributing positively to society.</a:t>
            </a:r>
            <a:endParaRPr sz="1800">
              <a:solidFill>
                <a:schemeClr val="lt1"/>
              </a:solidFill>
            </a:endParaRPr>
          </a:p>
        </p:txBody>
      </p:sp>
      <p:sp>
        <p:nvSpPr>
          <p:cNvPr id="367" name="Google Shape;367;p47" descr="title"/>
          <p:cNvSpPr txBox="1"/>
          <p:nvPr>
            <p:ph type="title"/>
          </p:nvPr>
        </p:nvSpPr>
        <p:spPr>
          <a:xfrm>
            <a:off x="404850" y="521275"/>
            <a:ext cx="8334300" cy="572700"/>
          </a:xfrm>
          <a:prstGeom prst="rect">
            <a:avLst/>
          </a:prstGeom>
        </p:spPr>
        <p:txBody>
          <a:bodyPr spcFirstLastPara="1" wrap="square" lIns="0" tIns="91425" rIns="0" bIns="91425" anchor="b" anchorCtr="0">
            <a:noAutofit/>
          </a:bodyPr>
          <a:lstStyle/>
          <a:p>
            <a:pPr marL="0" lvl="0" indent="0" algn="ctr" rtl="0">
              <a:spcBef>
                <a:spcPts val="0"/>
              </a:spcBef>
              <a:spcAft>
                <a:spcPts val="0"/>
              </a:spcAft>
              <a:buSzPts val="990"/>
              <a:buNone/>
            </a:pPr>
            <a:r>
              <a:rPr lang="en-GB" sz="2400" b="1">
                <a:latin typeface="Bodoni Moda"/>
                <a:ea typeface="Bodoni Moda"/>
                <a:cs typeface="Bodoni Moda"/>
                <a:sym typeface="Bodoni Moda"/>
              </a:rPr>
              <a:t>Conclusion</a:t>
            </a:r>
            <a:endParaRPr sz="2400" b="1">
              <a:solidFill>
                <a:schemeClr val="lt1"/>
              </a:solidFill>
              <a:latin typeface="Bodoni Moda"/>
              <a:ea typeface="Bodoni Moda"/>
              <a:cs typeface="Bodoni Moda"/>
              <a:sym typeface="Bodoni Moda"/>
            </a:endParaRPr>
          </a:p>
        </p:txBody>
      </p:sp>
      <p:sp>
        <p:nvSpPr>
          <p:cNvPr id="368" name="Google Shape;368;p47" descr="chapter"/>
          <p:cNvSpPr txBox="1"/>
          <p:nvPr/>
        </p:nvSpPr>
        <p:spPr>
          <a:xfrm>
            <a:off x="2940300" y="280075"/>
            <a:ext cx="3263400" cy="241200"/>
          </a:xfrm>
          <a:prstGeom prst="rect">
            <a:avLst/>
          </a:prstGeom>
          <a:noFill/>
          <a:ln>
            <a:noFill/>
          </a:ln>
        </p:spPr>
        <p:txBody>
          <a:bodyPr spcFirstLastPara="1" wrap="square" lIns="0" tIns="91425" rIns="91425" bIns="91425" anchor="t" anchorCtr="0">
            <a:noAutofit/>
          </a:bodyPr>
          <a:lstStyle/>
          <a:p>
            <a:pPr marL="0" lvl="0" indent="0" algn="ctr"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Summary</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369" name="Google Shape;369;p47"/>
          <p:cNvSpPr/>
          <p:nvPr/>
        </p:nvSpPr>
        <p:spPr>
          <a:xfrm>
            <a:off x="4531200" y="14332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grpSp>
        <p:nvGrpSpPr>
          <p:cNvPr id="370" name="Google Shape;370;p47"/>
          <p:cNvGrpSpPr/>
          <p:nvPr/>
        </p:nvGrpSpPr>
        <p:grpSpPr>
          <a:xfrm>
            <a:off x="6892000" y="3769475"/>
            <a:ext cx="2057400" cy="1033200"/>
            <a:chOff x="6922975" y="1548525"/>
            <a:chExt cx="2057400" cy="1033200"/>
          </a:xfrm>
        </p:grpSpPr>
        <p:grpSp>
          <p:nvGrpSpPr>
            <p:cNvPr id="371" name="Google Shape;371;p47"/>
            <p:cNvGrpSpPr/>
            <p:nvPr/>
          </p:nvGrpSpPr>
          <p:grpSpPr>
            <a:xfrm>
              <a:off x="6922975" y="1548525"/>
              <a:ext cx="2057400" cy="1033200"/>
              <a:chOff x="6172200" y="152400"/>
              <a:chExt cx="2057400" cy="1033200"/>
            </a:xfrm>
          </p:grpSpPr>
          <p:sp>
            <p:nvSpPr>
              <p:cNvPr id="372" name="Google Shape;372;p47"/>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73" name="Google Shape;373;p4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74" name="Google Shape;374;p4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personality development programs or theories discussed in earlier slides to enhance this conclusion.</a:t>
              </a:r>
              <a:endParaRPr sz="800">
                <a:latin typeface="Inter" panose="02000503000000020004"/>
                <a:ea typeface="Inter" panose="02000503000000020004"/>
                <a:cs typeface="Inter" panose="02000503000000020004"/>
                <a:sym typeface="Inter" panose="02000503000000020004"/>
              </a:endParaRPr>
            </a:p>
          </p:txBody>
        </p:sp>
        <p:pic>
          <p:nvPicPr>
            <p:cNvPr id="375" name="Google Shape;375;p47"/>
            <p:cNvPicPr preferRelativeResize="0"/>
            <p:nvPr/>
          </p:nvPicPr>
          <p:blipFill>
            <a:blip r:embed="rId1"/>
            <a:stretch>
              <a:fillRect/>
            </a:stretch>
          </p:blipFill>
          <p:spPr>
            <a:xfrm>
              <a:off x="7016628" y="1652466"/>
              <a:ext cx="164591" cy="164591"/>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379" name="Shape 379"/>
        <p:cNvGrpSpPr/>
        <p:nvPr/>
      </p:nvGrpSpPr>
      <p:grpSpPr>
        <a:xfrm>
          <a:off x="0" y="0"/>
          <a:ext cx="0" cy="0"/>
          <a:chOff x="0" y="0"/>
          <a:chExt cx="0" cy="0"/>
        </a:xfrm>
      </p:grpSpPr>
      <p:cxnSp>
        <p:nvCxnSpPr>
          <p:cNvPr id="381" name="Google Shape;381;p48"/>
          <p:cNvCxnSpPr/>
          <p:nvPr/>
        </p:nvCxnSpPr>
        <p:spPr>
          <a:xfrm>
            <a:off x="222800" y="4869775"/>
            <a:ext cx="8697600" cy="0"/>
          </a:xfrm>
          <a:prstGeom prst="straightConnector1">
            <a:avLst/>
          </a:prstGeom>
          <a:noFill/>
          <a:ln w="9525" cap="flat" cmpd="sng">
            <a:solidFill>
              <a:schemeClr val="dk2"/>
            </a:solidFill>
            <a:prstDash val="solid"/>
            <a:round/>
            <a:headEnd type="none" w="med" len="med"/>
            <a:tailEnd type="none" w="med" len="med"/>
          </a:ln>
        </p:spPr>
      </p:cxnSp>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bg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bg1"/>
              </a:solidFill>
              <a:latin typeface="Outfit" charset="0"/>
              <a:cs typeface="Outfit" charset="0"/>
            </a:endParaRPr>
          </a:p>
        </p:txBody>
      </p:sp>
      <p:pic>
        <p:nvPicPr>
          <p:cNvPr id="3" name="Picture 2" descr="pixelcut-export (1)"/>
          <p:cNvPicPr>
            <a:picLocks noChangeAspect="1"/>
          </p:cNvPicPr>
          <p:nvPr/>
        </p:nvPicPr>
        <p:blipFill>
          <a:blip r:embed="rId1"/>
          <a:srcRect t="22967" b="48563"/>
          <a:stretch>
            <a:fillRect/>
          </a:stretch>
        </p:blipFill>
        <p:spPr>
          <a:xfrm>
            <a:off x="6649720" y="4364990"/>
            <a:ext cx="2733040" cy="778510"/>
          </a:xfrm>
          <a:prstGeom prst="rect">
            <a:avLst/>
          </a:prstGeom>
        </p:spPr>
      </p:pic>
      <p:pic>
        <p:nvPicPr>
          <p:cNvPr id="4" name="Picture 3" descr="Inspiration"/>
          <p:cNvPicPr>
            <a:picLocks noChangeAspect="1"/>
          </p:cNvPicPr>
          <p:nvPr/>
        </p:nvPicPr>
        <p:blipFill>
          <a:blip r:embed="rId2"/>
          <a:stretch>
            <a:fillRect/>
          </a:stretch>
        </p:blipFill>
        <p:spPr>
          <a:xfrm>
            <a:off x="-635" y="-5715"/>
            <a:ext cx="9145270" cy="3766185"/>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itorial">
  <a:themeElements>
    <a:clrScheme name="Custom">
      <a:dk1>
        <a:srgbClr val="FFFFFF"/>
      </a:dk1>
      <a:lt1>
        <a:srgbClr val="0E0E0E"/>
      </a:lt1>
      <a:dk2>
        <a:srgbClr val="434343"/>
      </a:dk2>
      <a:lt2>
        <a:srgbClr val="E6E6E6"/>
      </a:lt2>
      <a:accent1>
        <a:srgbClr val="D60202"/>
      </a:accent1>
      <a:accent2>
        <a:srgbClr val="C4E0AD"/>
      </a:accent2>
      <a:accent3>
        <a:srgbClr val="F8F186"/>
      </a:accent3>
      <a:accent4>
        <a:srgbClr val="406E8E"/>
      </a:accent4>
      <a:accent5>
        <a:srgbClr val="7DA4B3"/>
      </a:accent5>
      <a:accent6>
        <a:srgbClr val="F4F5F6"/>
      </a:accent6>
      <a:hlink>
        <a:srgbClr val="453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11039</Words>
  <Application>WPS Writer</Application>
  <PresentationFormat/>
  <Paragraphs>299</Paragraphs>
  <Slides>18</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18</vt:i4>
      </vt:variant>
    </vt:vector>
  </HeadingPairs>
  <TitlesOfParts>
    <vt:vector size="41" baseType="lpstr">
      <vt:lpstr>Arial</vt:lpstr>
      <vt:lpstr>SimSun</vt:lpstr>
      <vt:lpstr>Wingdings</vt:lpstr>
      <vt:lpstr>Arial</vt:lpstr>
      <vt:lpstr>Bodoni Moda ExtraBold</vt:lpstr>
      <vt:lpstr>Georgia</vt:lpstr>
      <vt:lpstr>Inter Medium</vt:lpstr>
      <vt:lpstr>Inter</vt:lpstr>
      <vt:lpstr>Bodoni Moda</vt:lpstr>
      <vt:lpstr>Noto Sans</vt:lpstr>
      <vt:lpstr>Microsoft YaHei</vt:lpstr>
      <vt:lpstr>汉仪旗黑</vt:lpstr>
      <vt:lpstr>Arial Unicode MS</vt:lpstr>
      <vt:lpstr>Libre Franklin Medium</vt:lpstr>
      <vt:lpstr>Thonburi</vt:lpstr>
      <vt:lpstr>Hanken Grotesk</vt:lpstr>
      <vt:lpstr>Heiti SC Medium</vt:lpstr>
      <vt:lpstr>Calibri</vt:lpstr>
      <vt:lpstr>Helvetica Neue</vt:lpstr>
      <vt:lpstr>Outfit</vt:lpstr>
      <vt:lpstr>苹方-简</vt:lpstr>
      <vt:lpstr>Simple Light</vt:lpstr>
      <vt:lpstr>Editorial</vt:lpstr>
      <vt:lpstr>Understanding Personality Development</vt:lpstr>
      <vt:lpstr>PowerPoint 演示文稿</vt:lpstr>
      <vt:lpstr>Introduction to Personality Development</vt:lpstr>
      <vt:lpstr>Theories of Personality Development</vt:lpstr>
      <vt:lpstr>PowerPoint 演示文稿</vt:lpstr>
      <vt:lpstr>Emotional Wellbeing</vt:lpstr>
      <vt:lpstr>Social Skills and Relationships</vt:lpstr>
      <vt:lpstr>Academic and Professional Success</vt:lpstr>
      <vt:lpstr>Self Awareness and Personal Growth</vt:lpstr>
      <vt:lpstr>Cultural and Ethical Understanding</vt:lpstr>
      <vt:lpstr>Adaptability and Flexibility</vt:lpstr>
      <vt:lpstr>Leadership Skills</vt:lpstr>
      <vt:lpstr>Life Satisfaction and Happiness</vt:lpstr>
      <vt:lpstr>Components of Emotional Intelligence</vt:lpstr>
      <vt:lpstr>Building Resilience</vt:lpstr>
      <vt:lpstr>Activities for Personality Development</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Personality Development</dc:title>
  <dc:creator/>
  <cp:lastModifiedBy>apple</cp:lastModifiedBy>
  <cp:revision>1</cp:revision>
  <dcterms:created xsi:type="dcterms:W3CDTF">2024-11-04T03:40:05Z</dcterms:created>
  <dcterms:modified xsi:type="dcterms:W3CDTF">2024-11-04T03:40:05Z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C50E0D89BF96FE781442286766F94A06_43</vt:lpwstr>
  </property>
  <property fmtid="{D5CDD505-2E9C-101B-9397-08002B2CF9AE}" pid="3" name="KSOProductBuildVer">
    <vt:lpwstr>1033-6.10.1.8203</vt:lpwstr>
  </property>
</Properties>
</file>
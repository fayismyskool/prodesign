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70"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71" r:id="rId19"/>
  </p:sldIdLst>
  <p:sldSz cx="9144000" cy="5143500"/>
  <p:notesSz cx="6858000" cy="9144000"/>
  <p:embeddedFontLst>
    <p:embeddedFont>
      <p:font typeface="Bodoni Moda ExtraBold"/>
      <p:regular r:id="rId23"/>
    </p:embeddedFont>
    <p:embeddedFont>
      <p:font typeface="Inter Medium"/>
      <p:regular r:id="rId24"/>
    </p:embeddedFont>
    <p:embeddedFont>
      <p:font typeface="Inter" panose="02000503000000020004"/>
      <p:regular r:id="rId25"/>
    </p:embeddedFont>
    <p:embeddedFont>
      <p:font typeface="Bodoni Moda"/>
      <p:regular r:id="rId26"/>
    </p:embeddedFont>
    <p:embeddedFont>
      <p:font typeface="Noto Sans" panose="020B0502040504020204"/>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SLIDES_API1580376437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SLIDES_API1580376437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SLIDES_API618050623_2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SLIDES_API618050623_27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SLIDES_API1580376437_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SLIDES_API1580376437_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SLIDES_API1580376437_1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SLIDES_API1580376437_1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SLIDES_API1580376437_2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SLIDES_API1580376437_2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SLIDES_API1580376437_37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SLIDES_API1580376437_37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SLIDES_API1580376437_4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SLIDES_API1580376437_4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215"/>
        <p:cNvGrpSpPr/>
        <p:nvPr/>
      </p:nvGrpSpPr>
      <p:grpSpPr>
        <a:xfrm>
          <a:off x="0" y="0"/>
          <a:ext cx="0" cy="0"/>
          <a:chOff x="0" y="0"/>
          <a:chExt cx="0" cy="0"/>
        </a:xfrm>
      </p:grpSpPr>
      <p:sp>
        <p:nvSpPr>
          <p:cNvPr id="216" name="Google Shape;216;SLIDES_API1580376437_5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SLIDES_API1580376437_5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6" name="Shape 236"/>
        <p:cNvGrpSpPr/>
        <p:nvPr/>
      </p:nvGrpSpPr>
      <p:grpSpPr>
        <a:xfrm>
          <a:off x="0" y="0"/>
          <a:ext cx="0" cy="0"/>
          <a:chOff x="0" y="0"/>
          <a:chExt cx="0" cy="0"/>
        </a:xfrm>
      </p:grpSpPr>
      <p:sp>
        <p:nvSpPr>
          <p:cNvPr id="237" name="Google Shape;237;SLIDES_API1580376437_67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SLIDES_API1580376437_6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2" name="Shape 252"/>
        <p:cNvGrpSpPr/>
        <p:nvPr/>
      </p:nvGrpSpPr>
      <p:grpSpPr>
        <a:xfrm>
          <a:off x="0" y="0"/>
          <a:ext cx="0" cy="0"/>
          <a:chOff x="0" y="0"/>
          <a:chExt cx="0" cy="0"/>
        </a:xfrm>
      </p:grpSpPr>
      <p:sp>
        <p:nvSpPr>
          <p:cNvPr id="253" name="Google Shape;253;SLIDES_API1580376437_7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SLIDES_API1580376437_7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SLIDES_API1580376437_87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SLIDES_API1580376437_87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4" name="Shape 284"/>
        <p:cNvGrpSpPr/>
        <p:nvPr/>
      </p:nvGrpSpPr>
      <p:grpSpPr>
        <a:xfrm>
          <a:off x="0" y="0"/>
          <a:ext cx="0" cy="0"/>
          <a:chOff x="0" y="0"/>
          <a:chExt cx="0" cy="0"/>
        </a:xfrm>
      </p:grpSpPr>
      <p:sp>
        <p:nvSpPr>
          <p:cNvPr id="285" name="Google Shape;285;SLIDES_API1580376437_9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SLIDES_API1580376437_9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2" name="Shape 302"/>
        <p:cNvGrpSpPr/>
        <p:nvPr/>
      </p:nvGrpSpPr>
      <p:grpSpPr>
        <a:xfrm>
          <a:off x="0" y="0"/>
          <a:ext cx="0" cy="0"/>
          <a:chOff x="0" y="0"/>
          <a:chExt cx="0" cy="0"/>
        </a:xfrm>
      </p:grpSpPr>
      <p:sp>
        <p:nvSpPr>
          <p:cNvPr id="303" name="Google Shape;303;SLIDES_API1580376437_10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SLIDES_API1580376437_10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SLIDES_API1580376437_116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SLIDES_API1580376437_116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dk1"/>
        </a:solidFill>
        <a:effectLst/>
      </p:bgPr>
    </p:bg>
    <p:spTree>
      <p:nvGrpSpPr>
        <p:cNvPr id="55" name="Shape 55"/>
        <p:cNvGrpSpPr/>
        <p:nvPr/>
      </p:nvGrpSpPr>
      <p:grpSpPr>
        <a:xfrm>
          <a:off x="0" y="0"/>
          <a:ext cx="0" cy="0"/>
          <a:chOff x="0" y="0"/>
          <a:chExt cx="0" cy="0"/>
        </a:xfrm>
      </p:grpSpPr>
      <p:sp>
        <p:nvSpPr>
          <p:cNvPr id="56" name="Google Shape;56;p14"/>
          <p:cNvSpPr txBox="1"/>
          <p:nvPr>
            <p:ph type="ctrTitle"/>
          </p:nvPr>
        </p:nvSpPr>
        <p:spPr>
          <a:xfrm>
            <a:off x="570225" y="1545450"/>
            <a:ext cx="56019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lt1"/>
              </a:buClr>
              <a:buSzPts val="5200"/>
              <a:buNone/>
              <a:defRPr sz="5200">
                <a:solidFill>
                  <a:schemeClr val="lt1"/>
                </a:solidFill>
              </a:defRPr>
            </a:lvl1pPr>
            <a:lvl2pPr lvl="1">
              <a:lnSpc>
                <a:spcPct val="75000"/>
              </a:lnSpc>
              <a:spcBef>
                <a:spcPts val="0"/>
              </a:spcBef>
              <a:spcAft>
                <a:spcPts val="0"/>
              </a:spcAft>
              <a:buClr>
                <a:schemeClr val="lt1"/>
              </a:buClr>
              <a:buSzPts val="5200"/>
              <a:buNone/>
              <a:defRPr sz="5200">
                <a:solidFill>
                  <a:schemeClr val="lt1"/>
                </a:solidFill>
              </a:defRPr>
            </a:lvl2pPr>
            <a:lvl3pPr lvl="2">
              <a:lnSpc>
                <a:spcPct val="75000"/>
              </a:lnSpc>
              <a:spcBef>
                <a:spcPts val="0"/>
              </a:spcBef>
              <a:spcAft>
                <a:spcPts val="0"/>
              </a:spcAft>
              <a:buClr>
                <a:schemeClr val="lt1"/>
              </a:buClr>
              <a:buSzPts val="5200"/>
              <a:buNone/>
              <a:defRPr sz="5200">
                <a:solidFill>
                  <a:schemeClr val="lt1"/>
                </a:solidFill>
              </a:defRPr>
            </a:lvl3pPr>
            <a:lvl4pPr lvl="3">
              <a:lnSpc>
                <a:spcPct val="75000"/>
              </a:lnSpc>
              <a:spcBef>
                <a:spcPts val="0"/>
              </a:spcBef>
              <a:spcAft>
                <a:spcPts val="0"/>
              </a:spcAft>
              <a:buClr>
                <a:schemeClr val="lt1"/>
              </a:buClr>
              <a:buSzPts val="5200"/>
              <a:buNone/>
              <a:defRPr sz="5200">
                <a:solidFill>
                  <a:schemeClr val="lt1"/>
                </a:solidFill>
              </a:defRPr>
            </a:lvl4pPr>
            <a:lvl5pPr lvl="4">
              <a:lnSpc>
                <a:spcPct val="75000"/>
              </a:lnSpc>
              <a:spcBef>
                <a:spcPts val="0"/>
              </a:spcBef>
              <a:spcAft>
                <a:spcPts val="0"/>
              </a:spcAft>
              <a:buClr>
                <a:schemeClr val="lt1"/>
              </a:buClr>
              <a:buSzPts val="5200"/>
              <a:buNone/>
              <a:defRPr sz="5200">
                <a:solidFill>
                  <a:schemeClr val="lt1"/>
                </a:solidFill>
              </a:defRPr>
            </a:lvl5pPr>
            <a:lvl6pPr lvl="5">
              <a:lnSpc>
                <a:spcPct val="75000"/>
              </a:lnSpc>
              <a:spcBef>
                <a:spcPts val="0"/>
              </a:spcBef>
              <a:spcAft>
                <a:spcPts val="0"/>
              </a:spcAft>
              <a:buClr>
                <a:schemeClr val="lt1"/>
              </a:buClr>
              <a:buSzPts val="5200"/>
              <a:buNone/>
              <a:defRPr sz="5200">
                <a:solidFill>
                  <a:schemeClr val="lt1"/>
                </a:solidFill>
              </a:defRPr>
            </a:lvl6pPr>
            <a:lvl7pPr lvl="6">
              <a:lnSpc>
                <a:spcPct val="75000"/>
              </a:lnSpc>
              <a:spcBef>
                <a:spcPts val="0"/>
              </a:spcBef>
              <a:spcAft>
                <a:spcPts val="0"/>
              </a:spcAft>
              <a:buClr>
                <a:schemeClr val="lt1"/>
              </a:buClr>
              <a:buSzPts val="5200"/>
              <a:buNone/>
              <a:defRPr sz="5200">
                <a:solidFill>
                  <a:schemeClr val="lt1"/>
                </a:solidFill>
              </a:defRPr>
            </a:lvl7pPr>
            <a:lvl8pPr lvl="7">
              <a:lnSpc>
                <a:spcPct val="75000"/>
              </a:lnSpc>
              <a:spcBef>
                <a:spcPts val="0"/>
              </a:spcBef>
              <a:spcAft>
                <a:spcPts val="0"/>
              </a:spcAft>
              <a:buClr>
                <a:schemeClr val="lt1"/>
              </a:buClr>
              <a:buSzPts val="5200"/>
              <a:buNone/>
              <a:defRPr sz="5200">
                <a:solidFill>
                  <a:schemeClr val="lt1"/>
                </a:solidFill>
              </a:defRPr>
            </a:lvl8pPr>
            <a:lvl9pPr lvl="8">
              <a:lnSpc>
                <a:spcPct val="75000"/>
              </a:lnSpc>
              <a:spcBef>
                <a:spcPts val="0"/>
              </a:spcBef>
              <a:spcAft>
                <a:spcPts val="0"/>
              </a:spcAft>
              <a:buClr>
                <a:schemeClr val="lt1"/>
              </a:buClr>
              <a:buSzPts val="5200"/>
              <a:buNone/>
              <a:defRPr sz="5200">
                <a:solidFill>
                  <a:schemeClr val="lt1"/>
                </a:solidFill>
              </a:defRPr>
            </a:lvl9pPr>
          </a:lstStyle>
          <a:p/>
        </p:txBody>
      </p:sp>
      <p:sp>
        <p:nvSpPr>
          <p:cNvPr id="57" name="Google Shape;57;p14"/>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
        <p:nvSpPr>
          <p:cNvPr id="58" name="Google Shape;58;p14"/>
          <p:cNvSpPr txBox="1"/>
          <p:nvPr>
            <p:ph type="subTitle" idx="2"/>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 name="Google Shape;64;p16"/>
          <p:cNvSpPr txBox="1"/>
          <p:nvPr>
            <p:ph type="body" idx="1"/>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65" name="Google Shape;65;p1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66" name="Shape 66"/>
        <p:cNvGrpSpPr/>
        <p:nvPr/>
      </p:nvGrpSpPr>
      <p:grpSpPr>
        <a:xfrm>
          <a:off x="0" y="0"/>
          <a:ext cx="0" cy="0"/>
          <a:chOff x="0" y="0"/>
          <a:chExt cx="0" cy="0"/>
        </a:xfrm>
      </p:grpSpPr>
      <p:sp>
        <p:nvSpPr>
          <p:cNvPr id="67" name="Google Shape;67;p17"/>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8" name="Google Shape;68;p17"/>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69" name="Google Shape;69;p1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0" name="Google Shape;70;p17"/>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1" name="Shape 71"/>
        <p:cNvGrpSpPr/>
        <p:nvPr/>
      </p:nvGrpSpPr>
      <p:grpSpPr>
        <a:xfrm>
          <a:off x="0" y="0"/>
          <a:ext cx="0" cy="0"/>
          <a:chOff x="0" y="0"/>
          <a:chExt cx="0" cy="0"/>
        </a:xfrm>
      </p:grpSpPr>
      <p:sp>
        <p:nvSpPr>
          <p:cNvPr id="72" name="Google Shape;72;p18"/>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3" name="Google Shape;73;p1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4" name="Google Shape;74;p18"/>
          <p:cNvSpPr/>
          <p:nvPr>
            <p:ph type="pic" idx="2"/>
          </p:nvPr>
        </p:nvSpPr>
        <p:spPr>
          <a:xfrm>
            <a:off x="6173525" y="-13300"/>
            <a:ext cx="2970600" cy="5156700"/>
          </a:xfrm>
          <a:prstGeom prst="rect">
            <a:avLst/>
          </a:prstGeom>
          <a:noFill/>
          <a:ln>
            <a:noFill/>
          </a:ln>
        </p:spPr>
      </p:sp>
      <p:sp>
        <p:nvSpPr>
          <p:cNvPr id="75" name="Google Shape;75;p18"/>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76" name="Shape 76"/>
        <p:cNvGrpSpPr/>
        <p:nvPr/>
      </p:nvGrpSpPr>
      <p:grpSpPr>
        <a:xfrm>
          <a:off x="0" y="0"/>
          <a:ext cx="0" cy="0"/>
          <a:chOff x="0" y="0"/>
          <a:chExt cx="0" cy="0"/>
        </a:xfrm>
      </p:grpSpPr>
      <p:sp>
        <p:nvSpPr>
          <p:cNvPr id="77" name="Google Shape;77;p19"/>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78" name="Google Shape;78;p1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9" name="Google Shape;79;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19"/>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1" name="Google Shape;81;p19"/>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2" name="Google Shape;82;p19"/>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3" name="Google Shape;83;p19"/>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4" name="Google Shape;84;p19"/>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dk1"/>
        </a:solidFill>
        <a:effectLst/>
      </p:bgPr>
    </p:bg>
    <p:spTree>
      <p:nvGrpSpPr>
        <p:cNvPr id="85" name="Shape 85"/>
        <p:cNvGrpSpPr/>
        <p:nvPr/>
      </p:nvGrpSpPr>
      <p:grpSpPr>
        <a:xfrm>
          <a:off x="0" y="0"/>
          <a:ext cx="0" cy="0"/>
          <a:chOff x="0" y="0"/>
          <a:chExt cx="0" cy="0"/>
        </a:xfrm>
      </p:grpSpPr>
      <p:sp>
        <p:nvSpPr>
          <p:cNvPr id="86" name="Google Shape;86;p20"/>
          <p:cNvSpPr txBox="1"/>
          <p:nvPr>
            <p:ph type="body" idx="1"/>
          </p:nvPr>
        </p:nvSpPr>
        <p:spPr>
          <a:xfrm>
            <a:off x="910425" y="342900"/>
            <a:ext cx="7921800" cy="4226100"/>
          </a:xfrm>
          <a:prstGeom prst="rect">
            <a:avLst/>
          </a:prstGeom>
        </p:spPr>
        <p:txBody>
          <a:bodyPr spcFirstLastPara="1" wrap="square" lIns="91425" tIns="91425" rIns="91425" bIns="91425" anchor="ctr" anchorCtr="0">
            <a:normAutofit/>
          </a:bodyPr>
          <a:lstStyle>
            <a:lvl1pPr marL="457200" lvl="0" indent="-381000">
              <a:lnSpc>
                <a:spcPct val="200000"/>
              </a:lnSpc>
              <a:spcBef>
                <a:spcPts val="0"/>
              </a:spcBef>
              <a:spcAft>
                <a:spcPts val="0"/>
              </a:spcAft>
              <a:buClr>
                <a:schemeClr val="lt1"/>
              </a:buClr>
              <a:buSzPts val="2400"/>
              <a:buChar char="•"/>
              <a:defRPr sz="2400" b="1">
                <a:solidFill>
                  <a:schemeClr val="lt1"/>
                </a:solidFill>
              </a:defRPr>
            </a:lvl1pPr>
            <a:lvl2pPr marL="914400" lvl="1" indent="-381000">
              <a:lnSpc>
                <a:spcPct val="200000"/>
              </a:lnSpc>
              <a:spcBef>
                <a:spcPts val="800"/>
              </a:spcBef>
              <a:spcAft>
                <a:spcPts val="0"/>
              </a:spcAft>
              <a:buClr>
                <a:schemeClr val="lt1"/>
              </a:buClr>
              <a:buSzPts val="2400"/>
              <a:buChar char="•"/>
              <a:defRPr sz="2400" b="1">
                <a:solidFill>
                  <a:schemeClr val="lt1"/>
                </a:solidFill>
              </a:defRPr>
            </a:lvl2pPr>
            <a:lvl3pPr marL="1371600" lvl="2" indent="-381000">
              <a:lnSpc>
                <a:spcPct val="200000"/>
              </a:lnSpc>
              <a:spcBef>
                <a:spcPts val="800"/>
              </a:spcBef>
              <a:spcAft>
                <a:spcPts val="0"/>
              </a:spcAft>
              <a:buClr>
                <a:schemeClr val="lt1"/>
              </a:buClr>
              <a:buSzPts val="2400"/>
              <a:buChar char="•"/>
              <a:defRPr sz="2400" b="1">
                <a:solidFill>
                  <a:schemeClr val="lt1"/>
                </a:solidFill>
              </a:defRPr>
            </a:lvl3pPr>
            <a:lvl4pPr marL="1828800" lvl="3" indent="-381000">
              <a:lnSpc>
                <a:spcPct val="200000"/>
              </a:lnSpc>
              <a:spcBef>
                <a:spcPts val="800"/>
              </a:spcBef>
              <a:spcAft>
                <a:spcPts val="0"/>
              </a:spcAft>
              <a:buClr>
                <a:schemeClr val="lt1"/>
              </a:buClr>
              <a:buSzPts val="2400"/>
              <a:buChar char="•"/>
              <a:defRPr sz="2400" b="1">
                <a:solidFill>
                  <a:schemeClr val="lt1"/>
                </a:solidFill>
              </a:defRPr>
            </a:lvl4pPr>
            <a:lvl5pPr marL="2286000" lvl="4" indent="-381000">
              <a:lnSpc>
                <a:spcPct val="200000"/>
              </a:lnSpc>
              <a:spcBef>
                <a:spcPts val="800"/>
              </a:spcBef>
              <a:spcAft>
                <a:spcPts val="0"/>
              </a:spcAft>
              <a:buClr>
                <a:schemeClr val="lt1"/>
              </a:buClr>
              <a:buSzPts val="2400"/>
              <a:buChar char="•"/>
              <a:defRPr sz="2400" b="1">
                <a:solidFill>
                  <a:schemeClr val="lt1"/>
                </a:solidFill>
              </a:defRPr>
            </a:lvl5pPr>
            <a:lvl6pPr marL="2743200" lvl="5" indent="-381000">
              <a:lnSpc>
                <a:spcPct val="200000"/>
              </a:lnSpc>
              <a:spcBef>
                <a:spcPts val="800"/>
              </a:spcBef>
              <a:spcAft>
                <a:spcPts val="0"/>
              </a:spcAft>
              <a:buClr>
                <a:schemeClr val="lt1"/>
              </a:buClr>
              <a:buSzPts val="2400"/>
              <a:buChar char="•"/>
              <a:defRPr sz="2400" b="1">
                <a:solidFill>
                  <a:schemeClr val="lt1"/>
                </a:solidFill>
              </a:defRPr>
            </a:lvl6pPr>
            <a:lvl7pPr marL="3200400" lvl="6" indent="-381000">
              <a:lnSpc>
                <a:spcPct val="200000"/>
              </a:lnSpc>
              <a:spcBef>
                <a:spcPts val="800"/>
              </a:spcBef>
              <a:spcAft>
                <a:spcPts val="0"/>
              </a:spcAft>
              <a:buClr>
                <a:schemeClr val="lt1"/>
              </a:buClr>
              <a:buSzPts val="2400"/>
              <a:buChar char="•"/>
              <a:defRPr sz="2400" b="1">
                <a:solidFill>
                  <a:schemeClr val="lt1"/>
                </a:solidFill>
              </a:defRPr>
            </a:lvl7pPr>
            <a:lvl8pPr marL="3657600" lvl="7" indent="-381000">
              <a:lnSpc>
                <a:spcPct val="200000"/>
              </a:lnSpc>
              <a:spcBef>
                <a:spcPts val="800"/>
              </a:spcBef>
              <a:spcAft>
                <a:spcPts val="0"/>
              </a:spcAft>
              <a:buClr>
                <a:schemeClr val="lt1"/>
              </a:buClr>
              <a:buSzPts val="2400"/>
              <a:buChar char="•"/>
              <a:defRPr sz="2400" b="1">
                <a:solidFill>
                  <a:schemeClr val="lt1"/>
                </a:solidFill>
              </a:defRPr>
            </a:lvl8pPr>
            <a:lvl9pPr marL="4114800" lvl="8" indent="-381000">
              <a:lnSpc>
                <a:spcPct val="200000"/>
              </a:lnSpc>
              <a:spcBef>
                <a:spcPts val="800"/>
              </a:spcBef>
              <a:spcAft>
                <a:spcPts val="800"/>
              </a:spcAft>
              <a:buClr>
                <a:schemeClr val="lt1"/>
              </a:buClr>
              <a:buSzPts val="2400"/>
              <a:buChar char="•"/>
              <a:defRPr sz="2400" b="1">
                <a:solidFill>
                  <a:schemeClr val="lt1"/>
                </a:solidFill>
              </a:defRPr>
            </a:lvl9pPr>
          </a:lstStyle>
          <a:p/>
        </p:txBody>
      </p:sp>
      <p:sp>
        <p:nvSpPr>
          <p:cNvPr id="87" name="Google Shape;87;p2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88" name="Shape 88"/>
        <p:cNvGrpSpPr/>
        <p:nvPr/>
      </p:nvGrpSpPr>
      <p:grpSpPr>
        <a:xfrm>
          <a:off x="0" y="0"/>
          <a:ext cx="0" cy="0"/>
          <a:chOff x="0" y="0"/>
          <a:chExt cx="0" cy="0"/>
        </a:xfrm>
      </p:grpSpPr>
      <p:sp>
        <p:nvSpPr>
          <p:cNvPr id="89" name="Google Shape;89;p21"/>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 name="Google Shape;90;p21"/>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1" name="Google Shape;91;p21"/>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2" name="Google Shape;92;p2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3" name="Shape 93"/>
        <p:cNvGrpSpPr/>
        <p:nvPr/>
      </p:nvGrpSpPr>
      <p:grpSpPr>
        <a:xfrm>
          <a:off x="0" y="0"/>
          <a:ext cx="0" cy="0"/>
          <a:chOff x="0" y="0"/>
          <a:chExt cx="0" cy="0"/>
        </a:xfrm>
      </p:grpSpPr>
      <p:sp>
        <p:nvSpPr>
          <p:cNvPr id="94" name="Google Shape;94;p22"/>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 name="Google Shape;95;p2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96" name="Shape 96"/>
        <p:cNvGrpSpPr/>
        <p:nvPr/>
      </p:nvGrpSpPr>
      <p:grpSpPr>
        <a:xfrm>
          <a:off x="0" y="0"/>
          <a:ext cx="0" cy="0"/>
          <a:chOff x="0" y="0"/>
          <a:chExt cx="0" cy="0"/>
        </a:xfrm>
      </p:grpSpPr>
      <p:sp>
        <p:nvSpPr>
          <p:cNvPr id="97" name="Google Shape;97;p23"/>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8" name="Google Shape;98;p23"/>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99" name="Google Shape;99;p2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00" name="Shape 100"/>
        <p:cNvGrpSpPr/>
        <p:nvPr/>
      </p:nvGrpSpPr>
      <p:grpSpPr>
        <a:xfrm>
          <a:off x="0" y="0"/>
          <a:ext cx="0" cy="0"/>
          <a:chOff x="0" y="0"/>
          <a:chExt cx="0" cy="0"/>
        </a:xfrm>
      </p:grpSpPr>
      <p:sp>
        <p:nvSpPr>
          <p:cNvPr id="101" name="Google Shape;101;p24"/>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2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03" name="Shape 103"/>
        <p:cNvGrpSpPr/>
        <p:nvPr/>
      </p:nvGrpSpPr>
      <p:grpSpPr>
        <a:xfrm>
          <a:off x="0" y="0"/>
          <a:ext cx="0" cy="0"/>
          <a:chOff x="0" y="0"/>
          <a:chExt cx="0" cy="0"/>
        </a:xfrm>
      </p:grpSpPr>
      <p:sp>
        <p:nvSpPr>
          <p:cNvPr id="104" name="Google Shape;104;p25"/>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05" name="Google Shape;105;p2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106" name="Google Shape;106;p25"/>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07" name="Shape 107"/>
        <p:cNvGrpSpPr/>
        <p:nvPr/>
      </p:nvGrpSpPr>
      <p:grpSpPr>
        <a:xfrm>
          <a:off x="0" y="0"/>
          <a:ext cx="0" cy="0"/>
          <a:chOff x="0" y="0"/>
          <a:chExt cx="0" cy="0"/>
        </a:xfrm>
      </p:grpSpPr>
      <p:sp>
        <p:nvSpPr>
          <p:cNvPr id="108" name="Google Shape;108;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09;p26"/>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0" name="Google Shape;110;p26"/>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1" name="Google Shape;111;p26"/>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12" name="Google Shape;112;p2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3" name="Shape 113"/>
        <p:cNvGrpSpPr/>
        <p:nvPr/>
      </p:nvGrpSpPr>
      <p:grpSpPr>
        <a:xfrm>
          <a:off x="0" y="0"/>
          <a:ext cx="0" cy="0"/>
          <a:chOff x="0" y="0"/>
          <a:chExt cx="0" cy="0"/>
        </a:xfrm>
      </p:grpSpPr>
      <p:sp>
        <p:nvSpPr>
          <p:cNvPr id="114" name="Google Shape;114;p27"/>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15" name="Google Shape;115;p2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16" name="Shape 116"/>
        <p:cNvGrpSpPr/>
        <p:nvPr/>
      </p:nvGrpSpPr>
      <p:grpSpPr>
        <a:xfrm>
          <a:off x="0" y="0"/>
          <a:ext cx="0" cy="0"/>
          <a:chOff x="0" y="0"/>
          <a:chExt cx="0" cy="0"/>
        </a:xfrm>
      </p:grpSpPr>
      <p:sp>
        <p:nvSpPr>
          <p:cNvPr id="117" name="Google Shape;117;p28"/>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8" name="Google Shape;118;p28"/>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19" name="Google Shape;119;p2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0" name="Shape 120"/>
        <p:cNvGrpSpPr/>
        <p:nvPr/>
      </p:nvGrpSpPr>
      <p:grpSpPr>
        <a:xfrm>
          <a:off x="0" y="0"/>
          <a:ext cx="0" cy="0"/>
          <a:chOff x="0" y="0"/>
          <a:chExt cx="0" cy="0"/>
        </a:xfrm>
      </p:grpSpPr>
      <p:sp>
        <p:nvSpPr>
          <p:cNvPr id="121" name="Google Shape;121;p2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22" name="Shape 122"/>
        <p:cNvGrpSpPr/>
        <p:nvPr/>
      </p:nvGrpSpPr>
      <p:grpSpPr>
        <a:xfrm>
          <a:off x="0" y="0"/>
          <a:ext cx="0" cy="0"/>
          <a:chOff x="0" y="0"/>
          <a:chExt cx="0" cy="0"/>
        </a:xfrm>
      </p:grpSpPr>
      <p:sp>
        <p:nvSpPr>
          <p:cNvPr id="123" name="Google Shape;123;p30"/>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124" name="Google Shape;124;p30"/>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section-2">
  <p:cSld name="CUSTOM_3_2_1_1_1_1_1">
    <p:bg>
      <p:bgPr>
        <a:solidFill>
          <a:schemeClr val="lt1"/>
        </a:solidFill>
        <a:effectLst/>
      </p:bgPr>
    </p:bg>
    <p:spTree>
      <p:nvGrpSpPr>
        <p:cNvPr id="125" name="Shape 125"/>
        <p:cNvGrpSpPr/>
        <p:nvPr/>
      </p:nvGrpSpPr>
      <p:grpSpPr>
        <a:xfrm>
          <a:off x="0" y="0"/>
          <a:ext cx="0" cy="0"/>
          <a:chOff x="0" y="0"/>
          <a:chExt cx="0" cy="0"/>
        </a:xfrm>
      </p:grpSpPr>
      <p:sp>
        <p:nvSpPr>
          <p:cNvPr id="126" name="Google Shape;126;p31"/>
          <p:cNvSpPr txBox="1"/>
          <p:nvPr>
            <p:ph type="body" idx="1"/>
          </p:nvPr>
        </p:nvSpPr>
        <p:spPr>
          <a:xfrm>
            <a:off x="4572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27" name="Google Shape;127;p31"/>
          <p:cNvSpPr txBox="1"/>
          <p:nvPr>
            <p:ph type="subTitle" idx="2"/>
          </p:nvPr>
        </p:nvSpPr>
        <p:spPr>
          <a:xfrm>
            <a:off x="4572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28" name="Google Shape;128;p31"/>
          <p:cNvSpPr txBox="1"/>
          <p:nvPr>
            <p:ph type="body" idx="3"/>
          </p:nvPr>
        </p:nvSpPr>
        <p:spPr>
          <a:xfrm>
            <a:off x="326895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29" name="Google Shape;129;p31"/>
          <p:cNvSpPr txBox="1"/>
          <p:nvPr>
            <p:ph type="subTitle" idx="4"/>
          </p:nvPr>
        </p:nvSpPr>
        <p:spPr>
          <a:xfrm>
            <a:off x="326895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0" name="Google Shape;130;p31"/>
          <p:cNvSpPr txBox="1"/>
          <p:nvPr>
            <p:ph type="body" idx="5"/>
          </p:nvPr>
        </p:nvSpPr>
        <p:spPr>
          <a:xfrm>
            <a:off x="60807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31" name="Google Shape;131;p31"/>
          <p:cNvSpPr txBox="1"/>
          <p:nvPr>
            <p:ph type="subTitle" idx="6"/>
          </p:nvPr>
        </p:nvSpPr>
        <p:spPr>
          <a:xfrm>
            <a:off x="60807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2" name="Google Shape;132;p31"/>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Sections">
  <p:cSld name="4-Sections">
    <p:spTree>
      <p:nvGrpSpPr>
        <p:cNvPr id="128" name="Shape 128"/>
        <p:cNvGrpSpPr/>
        <p:nvPr/>
      </p:nvGrpSpPr>
      <p:grpSpPr>
        <a:xfrm>
          <a:off x="0" y="0"/>
          <a:ext cx="0" cy="0"/>
          <a:chOff x="0" y="0"/>
          <a:chExt cx="0" cy="0"/>
        </a:xfrm>
      </p:grpSpPr>
      <p:sp>
        <p:nvSpPr>
          <p:cNvPr id="129" name="Google Shape;129;p19"/>
          <p:cNvSpPr txBox="1"/>
          <p:nvPr>
            <p:ph type="title"/>
          </p:nvPr>
        </p:nvSpPr>
        <p:spPr>
          <a:xfrm>
            <a:off x="457200" y="342900"/>
            <a:ext cx="8229600" cy="5943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19"/>
          <p:cNvSpPr txBox="1"/>
          <p:nvPr>
            <p:ph type="body" idx="1"/>
          </p:nvPr>
        </p:nvSpPr>
        <p:spPr>
          <a:xfrm>
            <a:off x="457200"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1" name="Google Shape;131;p19"/>
          <p:cNvSpPr txBox="1"/>
          <p:nvPr>
            <p:ph type="body" idx="2"/>
          </p:nvPr>
        </p:nvSpPr>
        <p:spPr>
          <a:xfrm>
            <a:off x="2539746"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2" name="Google Shape;132;p19"/>
          <p:cNvSpPr txBox="1"/>
          <p:nvPr>
            <p:ph type="dt" idx="10"/>
          </p:nvPr>
        </p:nvSpPr>
        <p:spPr>
          <a:xfrm>
            <a:off x="457200" y="4800600"/>
            <a:ext cx="2229000" cy="240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type="ftr" idx="11"/>
          </p:nvPr>
        </p:nvSpPr>
        <p:spPr>
          <a:xfrm>
            <a:off x="2775585" y="4800600"/>
            <a:ext cx="3592800" cy="2406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txBox="1"/>
          <p:nvPr>
            <p:ph type="sldNum" idx="12"/>
          </p:nvPr>
        </p:nvSpPr>
        <p:spPr>
          <a:xfrm>
            <a:off x="6865620" y="4800600"/>
            <a:ext cx="1821300" cy="2406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
        <p:nvSpPr>
          <p:cNvPr id="135" name="Google Shape;135;p19"/>
          <p:cNvSpPr txBox="1"/>
          <p:nvPr>
            <p:ph type="body" idx="3"/>
          </p:nvPr>
        </p:nvSpPr>
        <p:spPr>
          <a:xfrm>
            <a:off x="457200"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6" name="Google Shape;136;p19"/>
          <p:cNvSpPr txBox="1"/>
          <p:nvPr>
            <p:ph type="body" idx="4"/>
          </p:nvPr>
        </p:nvSpPr>
        <p:spPr>
          <a:xfrm>
            <a:off x="2539746"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7" name="Google Shape;137;p19"/>
          <p:cNvSpPr txBox="1"/>
          <p:nvPr>
            <p:ph type="body" idx="5"/>
          </p:nvPr>
        </p:nvSpPr>
        <p:spPr>
          <a:xfrm>
            <a:off x="4622292"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8" name="Google Shape;138;p19"/>
          <p:cNvSpPr txBox="1"/>
          <p:nvPr>
            <p:ph type="body" idx="6"/>
          </p:nvPr>
        </p:nvSpPr>
        <p:spPr>
          <a:xfrm>
            <a:off x="6704838" y="1877673"/>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9" name="Google Shape;139;p19"/>
          <p:cNvSpPr txBox="1"/>
          <p:nvPr>
            <p:ph type="body" idx="7"/>
          </p:nvPr>
        </p:nvSpPr>
        <p:spPr>
          <a:xfrm>
            <a:off x="4622292"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40" name="Google Shape;140;p19"/>
          <p:cNvSpPr txBox="1"/>
          <p:nvPr>
            <p:ph type="body" idx="8"/>
          </p:nvPr>
        </p:nvSpPr>
        <p:spPr>
          <a:xfrm>
            <a:off x="6704838"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628650" y="4767263"/>
            <a:ext cx="2057400" cy="273844"/>
          </a:xfrm>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a:xfrm>
            <a:off x="3028950" y="4767263"/>
            <a:ext cx="3086100" cy="273844"/>
          </a:xfrm>
        </p:spPr>
        <p:txBody>
          <a:bodyPr/>
          <a:lstStyle/>
          <a:p>
            <a:endParaRPr lang="en-US"/>
          </a:p>
        </p:txBody>
      </p:sp>
      <p:sp>
        <p:nvSpPr>
          <p:cNvPr id="6" name="Slide Number Placeholder 5"/>
          <p:cNvSpPr>
            <a:spLocks noGrp="1"/>
          </p:cNvSpPr>
          <p:nvPr>
            <p:ph type="sldNum" sz="quarter" idx="12"/>
          </p:nvPr>
        </p:nvSpPr>
        <p:spPr>
          <a:xfrm>
            <a:off x="8536302" y="4749851"/>
            <a:ext cx="548700" cy="393600"/>
          </a:xfrm>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1pPr>
            <a:lvl2pPr lvl="1">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2pPr>
            <a:lvl3pPr lvl="2">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3pPr>
            <a:lvl4pPr lvl="3">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4pPr>
            <a:lvl5pPr lvl="4">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5pPr>
            <a:lvl6pPr lvl="5">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6pPr>
            <a:lvl7pPr lvl="6">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7pPr>
            <a:lvl8pPr lvl="7">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8pPr>
            <a:lvl9pPr lvl="8">
              <a:lnSpc>
                <a:spcPct val="75000"/>
              </a:lnSpc>
              <a:spcBef>
                <a:spcPts val="0"/>
              </a:spcBef>
              <a:spcAft>
                <a:spcPts val="0"/>
              </a:spcAft>
              <a:buClr>
                <a:schemeClr val="lt1"/>
              </a:buClr>
              <a:buSzPts val="3000"/>
              <a:buFont typeface="Bodoni Moda ExtraBold"/>
              <a:buNone/>
              <a:defRPr sz="3000">
                <a:solidFill>
                  <a:schemeClr val="lt1"/>
                </a:solidFill>
                <a:latin typeface="Bodoni Moda ExtraBold"/>
                <a:ea typeface="Bodoni Moda ExtraBold"/>
                <a:cs typeface="Bodoni Moda ExtraBold"/>
                <a:sym typeface="Bodoni Moda ExtraBold"/>
              </a:defRPr>
            </a:lvl9pPr>
          </a:lstStyle>
          <a:p/>
        </p:txBody>
      </p:sp>
      <p:sp>
        <p:nvSpPr>
          <p:cNvPr id="52" name="Google Shape;52;p13"/>
          <p:cNvSpPr txBox="1"/>
          <p:nvPr>
            <p:ph type="body" idx="1"/>
          </p:nvPr>
        </p:nvSpPr>
        <p:spPr>
          <a:xfrm>
            <a:off x="457200" y="915600"/>
            <a:ext cx="5709600" cy="36534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1pPr>
            <a:lvl2pPr marL="914400" lvl="1"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2pPr>
            <a:lvl3pPr marL="1371600" lvl="2"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3pPr>
            <a:lvl4pPr marL="1828800" lvl="3"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4pPr>
            <a:lvl5pPr marL="2286000" lvl="4"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5pPr>
            <a:lvl6pPr marL="2743200" lvl="5"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6pPr>
            <a:lvl7pPr marL="3200400" lvl="6"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7pPr>
            <a:lvl8pPr marL="3657600" lvl="7" indent="-317500">
              <a:lnSpc>
                <a:spcPct val="100000"/>
              </a:lnSpc>
              <a:spcBef>
                <a:spcPts val="800"/>
              </a:spcBef>
              <a:spcAft>
                <a:spcPts val="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8pPr>
            <a:lvl9pPr marL="4114800" lvl="8" indent="-317500">
              <a:lnSpc>
                <a:spcPct val="100000"/>
              </a:lnSpc>
              <a:spcBef>
                <a:spcPts val="800"/>
              </a:spcBef>
              <a:spcAft>
                <a:spcPts val="800"/>
              </a:spcAft>
              <a:buClr>
                <a:schemeClr val="dk2"/>
              </a:buClr>
              <a:buSzPts val="1400"/>
              <a:buFont typeface="Georgia" panose="02040502050405090303"/>
              <a:buChar char="•"/>
              <a:defRPr>
                <a:solidFill>
                  <a:schemeClr val="dk2"/>
                </a:solidFill>
                <a:latin typeface="Georgia" panose="02040502050405090303"/>
                <a:ea typeface="Georgia" panose="02040502050405090303"/>
                <a:cs typeface="Georgia" panose="02040502050405090303"/>
                <a:sym typeface="Georgia" panose="02040502050405090303"/>
              </a:defRPr>
            </a:lvl9pPr>
          </a:lstStyle>
          <a:p/>
        </p:txBody>
      </p:sp>
      <p:cxnSp>
        <p:nvCxnSpPr>
          <p:cNvPr id="53" name="Google Shape;53;p13"/>
          <p:cNvCxnSpPr/>
          <p:nvPr/>
        </p:nvCxnSpPr>
        <p:spPr>
          <a:xfrm>
            <a:off x="224675" y="224675"/>
            <a:ext cx="8694900" cy="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54;p13"/>
          <p:cNvCxnSpPr/>
          <p:nvPr/>
        </p:nvCxnSpPr>
        <p:spPr>
          <a:xfrm>
            <a:off x="224675" y="4915825"/>
            <a:ext cx="8694900" cy="0"/>
          </a:xfrm>
          <a:prstGeom prst="straightConnector1">
            <a:avLst/>
          </a:prstGeom>
          <a:noFill/>
          <a:ln w="9525" cap="flat" cmpd="sng">
            <a:solidFill>
              <a:schemeClr val="dk2"/>
            </a:solidFill>
            <a:prstDash val="solid"/>
            <a:round/>
            <a:headEnd type="none" w="med" len="med"/>
            <a:tailEnd type="none" w="med" len="med"/>
          </a:ln>
        </p:spPr>
      </p:cxn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0.xml"/><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5.xml"/><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5.xml"/><Relationship Id="rId5" Type="http://schemas.openxmlformats.org/officeDocument/2006/relationships/image" Target="../media/image1.png"/><Relationship Id="rId4" Type="http://schemas.openxmlformats.org/officeDocument/2006/relationships/image" Target="../media/image4.pn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image" Target="../media/image1.png"/><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36" name="Shape 136"/>
        <p:cNvGrpSpPr/>
        <p:nvPr/>
      </p:nvGrpSpPr>
      <p:grpSpPr>
        <a:xfrm>
          <a:off x="0" y="0"/>
          <a:ext cx="0" cy="0"/>
          <a:chOff x="0" y="0"/>
          <a:chExt cx="0" cy="0"/>
        </a:xfrm>
      </p:grpSpPr>
      <p:sp>
        <p:nvSpPr>
          <p:cNvPr id="137" name="Google Shape;137;p32" descr="presentation_title"/>
          <p:cNvSpPr txBox="1"/>
          <p:nvPr>
            <p:ph type="ctrTitle"/>
          </p:nvPr>
        </p:nvSpPr>
        <p:spPr>
          <a:xfrm>
            <a:off x="570225" y="1545450"/>
            <a:ext cx="7659300" cy="2052600"/>
          </a:xfrm>
          <a:prstGeom prst="rect">
            <a:avLst/>
          </a:prstGeom>
        </p:spPr>
        <p:txBody>
          <a:bodyPr spcFirstLastPara="1" wrap="square" lIns="0" tIns="91425" rIns="0" bIns="91425" anchor="ctr" anchorCtr="0">
            <a:noAutofit/>
          </a:bodyPr>
          <a:lstStyle/>
          <a:p>
            <a:pPr marL="0" lvl="0" indent="0" algn="l" rtl="0">
              <a:spcBef>
                <a:spcPts val="0"/>
              </a:spcBef>
              <a:spcAft>
                <a:spcPts val="0"/>
              </a:spcAft>
              <a:buNone/>
            </a:pPr>
            <a:r>
              <a:rPr lang="en-GB" sz="5400" b="1">
                <a:latin typeface="Bodoni Moda"/>
                <a:ea typeface="Bodoni Moda"/>
                <a:cs typeface="Bodoni Moda"/>
                <a:sym typeface="Bodoni Moda"/>
              </a:rPr>
              <a:t>Introduction to NLP</a:t>
            </a:r>
            <a:endParaRPr sz="5400" b="1">
              <a:latin typeface="Bodoni Moda"/>
              <a:ea typeface="Bodoni Moda"/>
              <a:cs typeface="Bodoni Moda"/>
              <a:sym typeface="Bodoni Moda"/>
            </a:endParaRPr>
          </a:p>
        </p:txBody>
      </p:sp>
      <p:sp>
        <p:nvSpPr>
          <p:cNvPr id="139" name="Google Shape;139;p32"/>
          <p:cNvSpPr/>
          <p:nvPr/>
        </p:nvSpPr>
        <p:spPr>
          <a:xfrm>
            <a:off x="570225" y="1171000"/>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pic>
        <p:nvPicPr>
          <p:cNvPr id="7" name="Picture 6" descr="pixelcut-export (1)"/>
          <p:cNvPicPr>
            <a:picLocks noChangeAspect="1"/>
          </p:cNvPicPr>
          <p:nvPr/>
        </p:nvPicPr>
        <p:blipFill>
          <a:blip r:embed="rId1"/>
          <a:srcRect t="22967" b="48563"/>
          <a:stretch>
            <a:fillRect/>
          </a:stretch>
        </p:blipFill>
        <p:spPr>
          <a:xfrm>
            <a:off x="4837430" y="264795"/>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1" name="Google Shape;121;p21"/>
          <p:cNvSpPr/>
          <p:nvPr/>
        </p:nvSpPr>
        <p:spPr>
          <a:xfrm>
            <a:off x="4567750" y="0"/>
            <a:ext cx="45765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 </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tx1"/>
              </a:solidFill>
              <a:latin typeface="Calibri"/>
              <a:ea typeface="Arial" panose="020B0604020202090204"/>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r>
              <a:rPr sz="1200" b="1">
                <a:solidFill>
                  <a:schemeClr val="tx1"/>
                </a:solidFill>
                <a:latin typeface="Calibri"/>
                <a:sym typeface="+mn-ea"/>
              </a:rPr>
              <a:t> </a:t>
            </a:r>
            <a:endParaRPr sz="1200" b="1" i="0">
              <a:solidFill>
                <a:schemeClr val="tx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tx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tx1"/>
                </a:solidFill>
                <a:latin typeface="Heiti SC Medium" panose="02000000000000000000" charset="-122"/>
                <a:ea typeface="Heiti SC Medium" panose="02000000000000000000" charset="-122"/>
              </a:rPr>
              <a:t>Empowering Mankind</a:t>
            </a:r>
            <a:endParaRPr lang="en-US" sz="2400" b="1">
              <a:solidFill>
                <a:schemeClr val="tx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33"/>
          <p:cNvSpPr txBox="1"/>
          <p:nvPr>
            <p:ph type="subTitle" idx="4294967295"/>
          </p:nvPr>
        </p:nvSpPr>
        <p:spPr>
          <a:xfrm>
            <a:off x="348525" y="342900"/>
            <a:ext cx="1918200" cy="396600"/>
          </a:xfrm>
          <a:prstGeom prst="rect">
            <a:avLst/>
          </a:prstGeom>
        </p:spPr>
        <p:txBody>
          <a:bodyPr spcFirstLastPara="1" wrap="square" lIns="0" tIns="91425" rIns="0" bIns="91425" anchor="t" anchorCtr="0">
            <a:noAutofit/>
          </a:bodyPr>
          <a:lstStyle/>
          <a:p>
            <a:pPr marL="0" lvl="0" indent="0" algn="l" rtl="0">
              <a:spcBef>
                <a:spcPts val="0"/>
              </a:spcBef>
              <a:spcAft>
                <a:spcPts val="800"/>
              </a:spcAft>
              <a:buNone/>
            </a:pPr>
            <a:r>
              <a:rPr lang="en-GB" sz="2400" b="1" i="1">
                <a:solidFill>
                  <a:schemeClr val="lt1"/>
                </a:solidFill>
                <a:latin typeface="Bodoni Moda"/>
                <a:ea typeface="Bodoni Moda"/>
                <a:cs typeface="Bodoni Moda"/>
                <a:sym typeface="Bodoni Moda"/>
              </a:rPr>
              <a:t>Agenda</a:t>
            </a:r>
            <a:endParaRPr sz="2400" b="1" i="1">
              <a:solidFill>
                <a:schemeClr val="lt1"/>
              </a:solidFill>
              <a:latin typeface="Bodoni Moda"/>
              <a:ea typeface="Bodoni Moda"/>
              <a:cs typeface="Bodoni Moda"/>
              <a:sym typeface="Bodoni Moda"/>
            </a:endParaRPr>
          </a:p>
        </p:txBody>
      </p:sp>
      <p:sp>
        <p:nvSpPr>
          <p:cNvPr id="145" name="Google Shape;145;p33" descr="agenda_0"/>
          <p:cNvSpPr txBox="1"/>
          <p:nvPr/>
        </p:nvSpPr>
        <p:spPr>
          <a:xfrm>
            <a:off x="348525" y="1118850"/>
            <a:ext cx="4220400" cy="3681600"/>
          </a:xfrm>
          <a:prstGeom prst="rect">
            <a:avLst/>
          </a:prstGeom>
          <a:noFill/>
          <a:ln>
            <a:noFill/>
          </a:ln>
        </p:spPr>
        <p:txBody>
          <a:bodyPr spcFirstLastPara="1" wrap="square" lIns="0" tIns="91425" rIns="91425" bIns="0" anchor="b" anchorCtr="0">
            <a:noAutofit/>
          </a:bodyPr>
          <a:lstStyle/>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Understanding the Basics of NLP</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Purpose of NLP</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History of NLP</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Principles of NLP</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Applications of NLP in Everyday Life</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Key NLP Techniques: Anchoring and Reframing</a:t>
            </a:r>
            <a:endParaRPr sz="1200">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146" name="Google Shape;146;p33" descr="agenda_1"/>
          <p:cNvSpPr txBox="1"/>
          <p:nvPr/>
        </p:nvSpPr>
        <p:spPr>
          <a:xfrm>
            <a:off x="4568825" y="1119010"/>
            <a:ext cx="4167900" cy="3681600"/>
          </a:xfrm>
          <a:prstGeom prst="rect">
            <a:avLst/>
          </a:prstGeom>
          <a:noFill/>
          <a:ln>
            <a:noFill/>
          </a:ln>
        </p:spPr>
        <p:txBody>
          <a:bodyPr spcFirstLastPara="1" wrap="square" lIns="0" tIns="91425" rIns="91425" bIns="0" anchor="b" anchorCtr="0">
            <a:noAutofit/>
          </a:bodyPr>
          <a:lstStyle/>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Visualization and Modeling in NLP</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Advanced Techniques: Swish Patterns and Timelines</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Metaphor, Storytelling, and Role Playing</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Feedback and Reflection in NLP</a:t>
            </a:r>
            <a:endParaRPr sz="1200">
              <a:solidFill>
                <a:schemeClr val="lt1"/>
              </a:solidFill>
              <a:latin typeface="Georgia" panose="02040502050405090303"/>
              <a:ea typeface="Georgia" panose="02040502050405090303"/>
              <a:cs typeface="Georgia" panose="02040502050405090303"/>
              <a:sym typeface="Georgia" panose="02040502050405090303"/>
            </a:endParaRPr>
          </a:p>
          <a:p>
            <a:pPr marL="0" lvl="0" indent="-190500" algn="l" rtl="0">
              <a:lnSpc>
                <a:spcPct val="150000"/>
              </a:lnSpc>
              <a:spcBef>
                <a:spcPts val="0"/>
              </a:spcBef>
              <a:spcAft>
                <a:spcPts val="0"/>
              </a:spcAft>
              <a:buClr>
                <a:schemeClr val="dk1"/>
              </a:buClr>
              <a:buSzPts val="1200"/>
              <a:buFont typeface="Georgia" panose="02040502050405090303"/>
              <a:buChar char="•"/>
            </a:pPr>
            <a:r>
              <a:rPr lang="en-GB" sz="1200">
                <a:solidFill>
                  <a:schemeClr val="lt1"/>
                </a:solidFill>
                <a:latin typeface="Georgia" panose="02040502050405090303"/>
                <a:ea typeface="Georgia" panose="02040502050405090303"/>
                <a:cs typeface="Georgia" panose="02040502050405090303"/>
                <a:sym typeface="Georgia" panose="02040502050405090303"/>
              </a:rPr>
              <a:t>Conclusion on NLP Techniques</a:t>
            </a:r>
            <a:endParaRPr sz="1200">
              <a:solidFill>
                <a:schemeClr val="lt1"/>
              </a:solidFill>
              <a:latin typeface="Georgia" panose="02040502050405090303"/>
              <a:ea typeface="Georgia" panose="02040502050405090303"/>
              <a:cs typeface="Georgia" panose="02040502050405090303"/>
              <a:sym typeface="Georgia" panose="02040502050405090303"/>
            </a:endParaRPr>
          </a:p>
        </p:txBody>
      </p:sp>
      <p:sp>
        <p:nvSpPr>
          <p:cNvPr id="147" name="Google Shape;147;p33"/>
          <p:cNvSpPr/>
          <p:nvPr/>
        </p:nvSpPr>
        <p:spPr>
          <a:xfrm>
            <a:off x="1532650" y="657900"/>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51" name="Shape 151"/>
        <p:cNvGrpSpPr/>
        <p:nvPr/>
      </p:nvGrpSpPr>
      <p:grpSpPr>
        <a:xfrm>
          <a:off x="0" y="0"/>
          <a:ext cx="0" cy="0"/>
          <a:chOff x="0" y="0"/>
          <a:chExt cx="0" cy="0"/>
        </a:xfrm>
      </p:grpSpPr>
      <p:sp>
        <p:nvSpPr>
          <p:cNvPr id="152" name="Google Shape;152;p34" descr="detail_0"/>
          <p:cNvSpPr txBox="1"/>
          <p:nvPr>
            <p:ph type="body" idx="1"/>
          </p:nvPr>
        </p:nvSpPr>
        <p:spPr>
          <a:xfrm>
            <a:off x="3669000" y="2414325"/>
            <a:ext cx="5126400" cy="2319300"/>
          </a:xfrm>
          <a:prstGeom prst="rect">
            <a:avLst/>
          </a:prstGeom>
        </p:spPr>
        <p:txBody>
          <a:bodyPr spcFirstLastPara="1" wrap="square" lIns="0" tIns="91425" rIns="91425" bIns="91425" anchor="t" anchorCtr="0">
            <a:noAutofit/>
          </a:bodyPr>
          <a:lstStyle/>
          <a:p>
            <a:pPr marL="0" lvl="0" indent="228600" algn="l" rtl="0">
              <a:lnSpc>
                <a:spcPct val="115000"/>
              </a:lnSpc>
              <a:spcBef>
                <a:spcPts val="0"/>
              </a:spcBef>
              <a:spcAft>
                <a:spcPts val="0"/>
              </a:spcAft>
              <a:buNone/>
            </a:pPr>
            <a:r>
              <a:rPr lang="en-GB">
                <a:solidFill>
                  <a:schemeClr val="lt2"/>
                </a:solidFill>
              </a:rPr>
              <a:t>Neuro Linguistic Programming (NLP) is a psychological approach that involves understanding and changing human behavior patterns through the relationship between language, thought processes, and emotional states.</a:t>
            </a:r>
            <a:endParaRPr>
              <a:solidFill>
                <a:schemeClr val="lt2"/>
              </a:solidFill>
            </a:endParaRPr>
          </a:p>
          <a:p>
            <a:pPr marL="0" lvl="0" indent="228600" algn="l" rtl="0">
              <a:lnSpc>
                <a:spcPct val="115000"/>
              </a:lnSpc>
              <a:spcBef>
                <a:spcPts val="1500"/>
              </a:spcBef>
              <a:spcAft>
                <a:spcPts val="1500"/>
              </a:spcAft>
              <a:buNone/>
            </a:pPr>
            <a:r>
              <a:rPr lang="en-GB">
                <a:solidFill>
                  <a:schemeClr val="lt2"/>
                </a:solidFill>
              </a:rPr>
              <a:t>It focuses on the connection between neurological processes ('neuro'), language ('linguistic'), and behavioral patterns learned through experience ('programming').</a:t>
            </a:r>
            <a:endParaRPr>
              <a:solidFill>
                <a:schemeClr val="lt2"/>
              </a:solidFill>
            </a:endParaRPr>
          </a:p>
        </p:txBody>
      </p:sp>
      <p:sp>
        <p:nvSpPr>
          <p:cNvPr id="153" name="Google Shape;153;p34" descr="title"/>
          <p:cNvSpPr txBox="1"/>
          <p:nvPr>
            <p:ph type="title"/>
          </p:nvPr>
        </p:nvSpPr>
        <p:spPr>
          <a:xfrm>
            <a:off x="348600" y="521275"/>
            <a:ext cx="3528000" cy="1649400"/>
          </a:xfrm>
          <a:prstGeom prst="rect">
            <a:avLst/>
          </a:prstGeom>
        </p:spPr>
        <p:txBody>
          <a:bodyPr spcFirstLastPara="1" wrap="square" lIns="0" tIns="91425" rIns="0" bIns="91425" anchor="t" anchorCtr="0">
            <a:noAutofit/>
          </a:bodyPr>
          <a:lstStyle/>
          <a:p>
            <a:pPr marL="0" lvl="0" indent="0" algn="l" rtl="0">
              <a:lnSpc>
                <a:spcPct val="100000"/>
              </a:lnSpc>
              <a:spcBef>
                <a:spcPts val="0"/>
              </a:spcBef>
              <a:spcAft>
                <a:spcPts val="0"/>
              </a:spcAft>
              <a:buSzPts val="990"/>
              <a:buNone/>
            </a:pPr>
            <a:r>
              <a:rPr lang="en-GB" sz="2400" b="1">
                <a:solidFill>
                  <a:schemeClr val="lt2"/>
                </a:solidFill>
                <a:latin typeface="Bodoni Moda"/>
                <a:ea typeface="Bodoni Moda"/>
                <a:cs typeface="Bodoni Moda"/>
                <a:sym typeface="Bodoni Moda"/>
              </a:rPr>
              <a:t>Understanding the Basics of NLP</a:t>
            </a:r>
            <a:endParaRPr sz="2400" b="1">
              <a:solidFill>
                <a:schemeClr val="lt2"/>
              </a:solidFill>
              <a:latin typeface="Bodoni Moda"/>
              <a:ea typeface="Bodoni Moda"/>
              <a:cs typeface="Bodoni Moda"/>
              <a:sym typeface="Bodoni Moda"/>
            </a:endParaRPr>
          </a:p>
        </p:txBody>
      </p:sp>
      <p:sp>
        <p:nvSpPr>
          <p:cNvPr id="154" name="Google Shape;154;p34"/>
          <p:cNvSpPr/>
          <p:nvPr/>
        </p:nvSpPr>
        <p:spPr>
          <a:xfrm>
            <a:off x="3728725" y="2567100"/>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155" name="Google Shape;155;p34"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Basics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156" name="Google Shape;156;p34"/>
          <p:cNvGrpSpPr/>
          <p:nvPr/>
        </p:nvGrpSpPr>
        <p:grpSpPr>
          <a:xfrm>
            <a:off x="6892000" y="340475"/>
            <a:ext cx="2057400" cy="1033200"/>
            <a:chOff x="6922975" y="1548525"/>
            <a:chExt cx="2057400" cy="1033200"/>
          </a:xfrm>
        </p:grpSpPr>
        <p:grpSp>
          <p:nvGrpSpPr>
            <p:cNvPr id="157" name="Google Shape;157;p34"/>
            <p:cNvGrpSpPr/>
            <p:nvPr/>
          </p:nvGrpSpPr>
          <p:grpSpPr>
            <a:xfrm>
              <a:off x="6922975" y="1548525"/>
              <a:ext cx="2057400" cy="1033200"/>
              <a:chOff x="6172200" y="152400"/>
              <a:chExt cx="2057400" cy="1033200"/>
            </a:xfrm>
          </p:grpSpPr>
          <p:sp>
            <p:nvSpPr>
              <p:cNvPr id="158" name="Google Shape;158;p34"/>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159" name="Google Shape;159;p3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160" name="Google Shape;160;p3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how NLP can be used in real-life situations to illustrate its practical applications.</a:t>
              </a:r>
              <a:endParaRPr sz="800">
                <a:latin typeface="Inter" panose="02000503000000020004"/>
                <a:ea typeface="Inter" panose="02000503000000020004"/>
                <a:cs typeface="Inter" panose="02000503000000020004"/>
                <a:sym typeface="Inter" panose="02000503000000020004"/>
              </a:endParaRPr>
            </a:p>
          </p:txBody>
        </p:sp>
        <p:pic>
          <p:nvPicPr>
            <p:cNvPr id="161" name="Google Shape;161;p34"/>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65" name="Shape 165"/>
        <p:cNvGrpSpPr/>
        <p:nvPr/>
      </p:nvGrpSpPr>
      <p:grpSpPr>
        <a:xfrm>
          <a:off x="0" y="0"/>
          <a:ext cx="0" cy="0"/>
          <a:chOff x="0" y="0"/>
          <a:chExt cx="0" cy="0"/>
        </a:xfrm>
      </p:grpSpPr>
      <p:sp>
        <p:nvSpPr>
          <p:cNvPr id="166" name="Google Shape;166;p35" descr="header_0"/>
          <p:cNvSpPr txBox="1"/>
          <p:nvPr>
            <p:ph type="subTitle" idx="4294967295"/>
          </p:nvPr>
        </p:nvSpPr>
        <p:spPr>
          <a:xfrm>
            <a:off x="348525" y="114430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i="1"/>
              <a:t>Enhancing Communication and Relationships</a:t>
            </a:r>
            <a:endParaRPr sz="1200" b="1" i="1"/>
          </a:p>
        </p:txBody>
      </p:sp>
      <p:sp>
        <p:nvSpPr>
          <p:cNvPr id="167" name="Google Shape;167;p35" descr="detail_0"/>
          <p:cNvSpPr txBox="1"/>
          <p:nvPr>
            <p:ph type="body" idx="1"/>
          </p:nvPr>
        </p:nvSpPr>
        <p:spPr>
          <a:xfrm>
            <a:off x="707232" y="158075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SzPts val="1000"/>
              <a:buChar char="●"/>
            </a:pPr>
            <a:r>
              <a:rPr lang="en-GB" sz="1000">
                <a:solidFill>
                  <a:schemeClr val="lt1"/>
                </a:solidFill>
              </a:rPr>
              <a:t>NLP provides tools and techniques to improve self-awareness and emotional intelligence.</a:t>
            </a:r>
            <a:endParaRPr sz="1000">
              <a:solidFill>
                <a:schemeClr val="lt1"/>
              </a:solidFill>
            </a:endParaRPr>
          </a:p>
          <a:p>
            <a:pPr marL="342900" lvl="0" indent="-206375" algn="l" rtl="0">
              <a:spcBef>
                <a:spcPts val="800"/>
              </a:spcBef>
              <a:spcAft>
                <a:spcPts val="0"/>
              </a:spcAft>
              <a:buSzPts val="1000"/>
              <a:buChar char="●"/>
            </a:pPr>
            <a:r>
              <a:rPr lang="en-GB" sz="1000">
                <a:solidFill>
                  <a:schemeClr val="lt1"/>
                </a:solidFill>
              </a:rPr>
              <a:t>It enhances interpersonal communication and relationship building.</a:t>
            </a:r>
            <a:endParaRPr sz="1000">
              <a:solidFill>
                <a:schemeClr val="lt1"/>
              </a:solidFill>
            </a:endParaRPr>
          </a:p>
          <a:p>
            <a:pPr marL="342900" lvl="0" indent="-206375" algn="l" rtl="0">
              <a:spcBef>
                <a:spcPts val="800"/>
              </a:spcBef>
              <a:spcAft>
                <a:spcPts val="800"/>
              </a:spcAft>
              <a:buSzPts val="1000"/>
              <a:buChar char="●"/>
            </a:pPr>
            <a:r>
              <a:rPr lang="en-GB" sz="1000">
                <a:solidFill>
                  <a:schemeClr val="lt1"/>
                </a:solidFill>
              </a:rPr>
              <a:t>NLP strategies foster effective communication in personal and professional settings.</a:t>
            </a:r>
            <a:endParaRPr sz="1000">
              <a:solidFill>
                <a:schemeClr val="lt1"/>
              </a:solidFill>
            </a:endParaRPr>
          </a:p>
        </p:txBody>
      </p:sp>
      <p:sp>
        <p:nvSpPr>
          <p:cNvPr id="168" name="Google Shape;168;p35" descr="header_1"/>
          <p:cNvSpPr txBox="1"/>
          <p:nvPr>
            <p:ph type="subTitle" idx="4294967295"/>
          </p:nvPr>
        </p:nvSpPr>
        <p:spPr>
          <a:xfrm>
            <a:off x="348525" y="293435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i="1"/>
              <a:t>Facilitating Personal Development</a:t>
            </a:r>
            <a:endParaRPr sz="1200" b="1" i="1"/>
          </a:p>
        </p:txBody>
      </p:sp>
      <p:sp>
        <p:nvSpPr>
          <p:cNvPr id="169" name="Google Shape;169;p35" descr="detail_1"/>
          <p:cNvSpPr txBox="1"/>
          <p:nvPr>
            <p:ph type="body" idx="1"/>
          </p:nvPr>
        </p:nvSpPr>
        <p:spPr>
          <a:xfrm>
            <a:off x="707232" y="337080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SzPts val="1000"/>
              <a:buChar char="●"/>
            </a:pPr>
            <a:r>
              <a:rPr lang="en-GB" sz="1000">
                <a:solidFill>
                  <a:schemeClr val="lt1"/>
                </a:solidFill>
              </a:rPr>
              <a:t>NLP helps modify unhelpful behaviors and thought patterns.</a:t>
            </a:r>
            <a:endParaRPr sz="1000">
              <a:solidFill>
                <a:schemeClr val="lt1"/>
              </a:solidFill>
            </a:endParaRPr>
          </a:p>
          <a:p>
            <a:pPr marL="342900" lvl="0" indent="-206375" algn="l" rtl="0">
              <a:spcBef>
                <a:spcPts val="800"/>
              </a:spcBef>
              <a:spcAft>
                <a:spcPts val="0"/>
              </a:spcAft>
              <a:buSzPts val="1000"/>
              <a:buChar char="●"/>
            </a:pPr>
            <a:r>
              <a:rPr lang="en-GB" sz="1000">
                <a:solidFill>
                  <a:schemeClr val="lt1"/>
                </a:solidFill>
              </a:rPr>
              <a:t>It assists individuals in achieving personal and professional goals.</a:t>
            </a:r>
            <a:endParaRPr sz="1000">
              <a:solidFill>
                <a:schemeClr val="lt1"/>
              </a:solidFill>
            </a:endParaRPr>
          </a:p>
          <a:p>
            <a:pPr marL="342900" lvl="0" indent="-206375" algn="l" rtl="0">
              <a:spcBef>
                <a:spcPts val="800"/>
              </a:spcBef>
              <a:spcAft>
                <a:spcPts val="800"/>
              </a:spcAft>
              <a:buSzPts val="1000"/>
              <a:buChar char="●"/>
            </a:pPr>
            <a:r>
              <a:rPr lang="en-GB" sz="1000">
                <a:solidFill>
                  <a:schemeClr val="lt1"/>
                </a:solidFill>
              </a:rPr>
              <a:t>Techniques empower individuals to overcome fears and limiting beliefs.</a:t>
            </a:r>
            <a:endParaRPr sz="1000">
              <a:solidFill>
                <a:schemeClr val="lt1"/>
              </a:solidFill>
            </a:endParaRPr>
          </a:p>
        </p:txBody>
      </p:sp>
      <p:sp>
        <p:nvSpPr>
          <p:cNvPr id="170" name="Google Shape;170;p35"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Purpose of NLP</a:t>
            </a:r>
            <a:endParaRPr sz="2400" b="1">
              <a:solidFill>
                <a:schemeClr val="lt1"/>
              </a:solidFill>
              <a:latin typeface="Bodoni Moda"/>
              <a:ea typeface="Bodoni Moda"/>
              <a:cs typeface="Bodoni Moda"/>
              <a:sym typeface="Bodoni Moda"/>
            </a:endParaRPr>
          </a:p>
        </p:txBody>
      </p:sp>
      <p:sp>
        <p:nvSpPr>
          <p:cNvPr id="171" name="Google Shape;171;p35"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Objectives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172" name="Google Shape;172;p35"/>
          <p:cNvGrpSpPr/>
          <p:nvPr/>
        </p:nvGrpSpPr>
        <p:grpSpPr>
          <a:xfrm>
            <a:off x="6892000" y="340475"/>
            <a:ext cx="2057400" cy="1033200"/>
            <a:chOff x="6922975" y="1548525"/>
            <a:chExt cx="2057400" cy="1033200"/>
          </a:xfrm>
        </p:grpSpPr>
        <p:grpSp>
          <p:nvGrpSpPr>
            <p:cNvPr id="173" name="Google Shape;173;p35"/>
            <p:cNvGrpSpPr/>
            <p:nvPr/>
          </p:nvGrpSpPr>
          <p:grpSpPr>
            <a:xfrm>
              <a:off x="6922975" y="1548525"/>
              <a:ext cx="2057400" cy="1033200"/>
              <a:chOff x="6172200" y="152400"/>
              <a:chExt cx="2057400" cy="1033200"/>
            </a:xfrm>
          </p:grpSpPr>
          <p:sp>
            <p:nvSpPr>
              <p:cNvPr id="174" name="Google Shape;174;p35"/>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175" name="Google Shape;175;p3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176" name="Google Shape;176;p3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NLP techniques that aid in communication and personal development.</a:t>
              </a:r>
              <a:endParaRPr sz="800">
                <a:latin typeface="Inter" panose="02000503000000020004"/>
                <a:ea typeface="Inter" panose="02000503000000020004"/>
                <a:cs typeface="Inter" panose="02000503000000020004"/>
                <a:sym typeface="Inter" panose="02000503000000020004"/>
              </a:endParaRPr>
            </a:p>
          </p:txBody>
        </p:sp>
        <p:pic>
          <p:nvPicPr>
            <p:cNvPr id="177" name="Google Shape;177;p35"/>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81" name="Shape 181"/>
        <p:cNvGrpSpPr/>
        <p:nvPr/>
      </p:nvGrpSpPr>
      <p:grpSpPr>
        <a:xfrm>
          <a:off x="0" y="0"/>
          <a:ext cx="0" cy="0"/>
          <a:chOff x="0" y="0"/>
          <a:chExt cx="0" cy="0"/>
        </a:xfrm>
      </p:grpSpPr>
      <p:pic>
        <p:nvPicPr>
          <p:cNvPr id="182" name="Google Shape;182;p36"/>
          <p:cNvPicPr preferRelativeResize="0"/>
          <p:nvPr/>
        </p:nvPicPr>
        <p:blipFill rotWithShape="1">
          <a:blip r:embed="rId1"/>
          <a:srcRect t="16666" b="16666"/>
          <a:stretch>
            <a:fillRect/>
          </a:stretch>
        </p:blipFill>
        <p:spPr>
          <a:xfrm>
            <a:off x="4234075" y="1252151"/>
            <a:ext cx="4357100" cy="2904724"/>
          </a:xfrm>
          <a:prstGeom prst="rect">
            <a:avLst/>
          </a:prstGeom>
          <a:noFill/>
          <a:ln>
            <a:noFill/>
          </a:ln>
        </p:spPr>
      </p:pic>
      <p:cxnSp>
        <p:nvCxnSpPr>
          <p:cNvPr id="183" name="Google Shape;183;p36"/>
          <p:cNvCxnSpPr/>
          <p:nvPr/>
        </p:nvCxnSpPr>
        <p:spPr>
          <a:xfrm>
            <a:off x="5312371" y="4302225"/>
            <a:ext cx="2200500" cy="0"/>
          </a:xfrm>
          <a:prstGeom prst="straightConnector1">
            <a:avLst/>
          </a:prstGeom>
          <a:noFill/>
          <a:ln w="9525" cap="flat" cmpd="sng">
            <a:solidFill>
              <a:schemeClr val="dk2"/>
            </a:solidFill>
            <a:prstDash val="solid"/>
            <a:round/>
            <a:headEnd type="none" w="med" len="med"/>
            <a:tailEnd type="none" w="med" len="med"/>
          </a:ln>
        </p:spPr>
      </p:cxnSp>
      <p:sp>
        <p:nvSpPr>
          <p:cNvPr id="184" name="Google Shape;184;p36" descr="header_0"/>
          <p:cNvSpPr txBox="1"/>
          <p:nvPr>
            <p:ph type="subTitle" idx="4294967295"/>
          </p:nvPr>
        </p:nvSpPr>
        <p:spPr>
          <a:xfrm>
            <a:off x="348525" y="1267575"/>
            <a:ext cx="3661800" cy="620700"/>
          </a:xfrm>
          <a:prstGeom prst="rect">
            <a:avLst/>
          </a:prstGeom>
        </p:spPr>
        <p:txBody>
          <a:bodyPr spcFirstLastPara="1" wrap="square" lIns="0" tIns="91425" rIns="91425" bIns="91425" anchor="b" anchorCtr="0">
            <a:noAutofit/>
          </a:bodyPr>
          <a:lstStyle/>
          <a:p>
            <a:pPr marL="0" lvl="0" indent="0" algn="l" rtl="0">
              <a:spcBef>
                <a:spcPts val="0"/>
              </a:spcBef>
              <a:spcAft>
                <a:spcPts val="800"/>
              </a:spcAft>
              <a:buNone/>
            </a:pPr>
            <a:r>
              <a:rPr lang="en-GB" sz="1500">
                <a:solidFill>
                  <a:schemeClr val="lt1"/>
                </a:solidFill>
                <a:latin typeface="Noto Sans" panose="020B0502040504020204"/>
                <a:ea typeface="Noto Sans" panose="020B0502040504020204"/>
                <a:cs typeface="Noto Sans" panose="020B0502040504020204"/>
                <a:sym typeface="Noto Sans" panose="020B0502040504020204"/>
              </a:rPr>
              <a:t>Origins and Evolution of NLP</a:t>
            </a:r>
            <a:endParaRPr sz="1500">
              <a:solidFill>
                <a:schemeClr val="lt1"/>
              </a:solidFill>
              <a:latin typeface="Noto Sans" panose="020B0502040504020204"/>
              <a:ea typeface="Noto Sans" panose="020B0502040504020204"/>
              <a:cs typeface="Noto Sans" panose="020B0502040504020204"/>
              <a:sym typeface="Noto Sans" panose="020B0502040504020204"/>
            </a:endParaRPr>
          </a:p>
        </p:txBody>
      </p:sp>
      <p:sp>
        <p:nvSpPr>
          <p:cNvPr id="185" name="Google Shape;185;p36" descr="detail_0"/>
          <p:cNvSpPr txBox="1"/>
          <p:nvPr>
            <p:ph type="body" idx="1"/>
          </p:nvPr>
        </p:nvSpPr>
        <p:spPr>
          <a:xfrm>
            <a:off x="348525" y="1973375"/>
            <a:ext cx="3661800" cy="2679900"/>
          </a:xfrm>
          <a:prstGeom prst="rect">
            <a:avLst/>
          </a:prstGeom>
        </p:spPr>
        <p:txBody>
          <a:bodyPr spcFirstLastPara="1" wrap="square" lIns="0" tIns="91425" rIns="0" bIns="91425" anchor="t" anchorCtr="0">
            <a:noAutofit/>
          </a:bodyPr>
          <a:lstStyle/>
          <a:p>
            <a:pPr marL="342900" lvl="0" indent="-193675" algn="l" rtl="0">
              <a:spcBef>
                <a:spcPts val="0"/>
              </a:spcBef>
              <a:spcAft>
                <a:spcPts val="0"/>
              </a:spcAft>
              <a:buSzPts val="800"/>
              <a:buChar char="●"/>
            </a:pPr>
            <a:r>
              <a:rPr lang="en-GB" sz="800">
                <a:solidFill>
                  <a:schemeClr val="lt1"/>
                </a:solidFill>
              </a:rPr>
              <a:t>NLP was developed in the 1970s by Richard Bandler, a mathematician, and John Grinder, a linguist.</a:t>
            </a:r>
            <a:endParaRPr sz="800">
              <a:solidFill>
                <a:schemeClr val="lt1"/>
              </a:solidFill>
            </a:endParaRPr>
          </a:p>
          <a:p>
            <a:pPr marL="342900" lvl="0" indent="-193675" algn="l" rtl="0">
              <a:spcBef>
                <a:spcPts val="1000"/>
              </a:spcBef>
              <a:spcAft>
                <a:spcPts val="0"/>
              </a:spcAft>
              <a:buSzPts val="800"/>
              <a:buChar char="●"/>
            </a:pPr>
            <a:r>
              <a:rPr lang="en-GB" sz="800">
                <a:solidFill>
                  <a:schemeClr val="lt1"/>
                </a:solidFill>
              </a:rPr>
              <a:t>They studied successful therapists, including Fritz Perls (Gestalt therapy), Virginia Satir (family therapy), and Milton Erickson (hypnotherapy).</a:t>
            </a:r>
            <a:endParaRPr sz="800">
              <a:solidFill>
                <a:schemeClr val="lt1"/>
              </a:solidFill>
            </a:endParaRPr>
          </a:p>
          <a:p>
            <a:pPr marL="342900" lvl="0" indent="-193675" algn="l" rtl="0">
              <a:spcBef>
                <a:spcPts val="1000"/>
              </a:spcBef>
              <a:spcAft>
                <a:spcPts val="0"/>
              </a:spcAft>
              <a:buSzPts val="800"/>
              <a:buChar char="●"/>
            </a:pPr>
            <a:r>
              <a:rPr lang="en-GB" sz="800">
                <a:solidFill>
                  <a:schemeClr val="lt1"/>
                </a:solidFill>
              </a:rPr>
              <a:t>By analyzing their techniques, Bandler and Grinder identified key patterns in effective communication and behavior change.</a:t>
            </a:r>
            <a:endParaRPr sz="800">
              <a:solidFill>
                <a:schemeClr val="lt1"/>
              </a:solidFill>
            </a:endParaRPr>
          </a:p>
          <a:p>
            <a:pPr marL="342900" lvl="0" indent="-193675" algn="l" rtl="0">
              <a:spcBef>
                <a:spcPts val="1000"/>
              </a:spcBef>
              <a:spcAft>
                <a:spcPts val="0"/>
              </a:spcAft>
              <a:buSzPts val="800"/>
              <a:buChar char="●"/>
            </a:pPr>
            <a:r>
              <a:rPr lang="en-GB" sz="800">
                <a:solidFill>
                  <a:schemeClr val="lt1"/>
                </a:solidFill>
              </a:rPr>
              <a:t>The first book on NLP, 'The Structure of Magic,' published in 1975, laid the groundwork for the methodology.</a:t>
            </a:r>
            <a:endParaRPr sz="800">
              <a:solidFill>
                <a:schemeClr val="lt1"/>
              </a:solidFill>
            </a:endParaRPr>
          </a:p>
          <a:p>
            <a:pPr marL="342900" lvl="0" indent="-193675" algn="l" rtl="0">
              <a:spcBef>
                <a:spcPts val="1000"/>
              </a:spcBef>
              <a:spcAft>
                <a:spcPts val="1000"/>
              </a:spcAft>
              <a:buSzPts val="800"/>
              <a:buChar char="●"/>
            </a:pPr>
            <a:r>
              <a:rPr lang="en-GB" sz="800">
                <a:solidFill>
                  <a:schemeClr val="lt1"/>
                </a:solidFill>
              </a:rPr>
              <a:t>Over the years, NLP has evolved, gaining popularity in various fields such as psychotherapy, coaching, education, and business.</a:t>
            </a:r>
            <a:endParaRPr sz="800">
              <a:solidFill>
                <a:schemeClr val="lt1"/>
              </a:solidFill>
            </a:endParaRPr>
          </a:p>
        </p:txBody>
      </p:sp>
      <p:sp>
        <p:nvSpPr>
          <p:cNvPr id="186" name="Google Shape;186;p36"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History of NLP</a:t>
            </a:r>
            <a:endParaRPr sz="2400" b="1">
              <a:solidFill>
                <a:schemeClr val="lt1"/>
              </a:solidFill>
              <a:latin typeface="Bodoni Moda"/>
              <a:ea typeface="Bodoni Moda"/>
              <a:cs typeface="Bodoni Moda"/>
              <a:sym typeface="Bodoni Moda"/>
            </a:endParaRPr>
          </a:p>
        </p:txBody>
      </p:sp>
      <p:sp>
        <p:nvSpPr>
          <p:cNvPr id="187" name="Google Shape;187;p36"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Foundations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188" name="Google Shape;188;p36"/>
          <p:cNvGrpSpPr/>
          <p:nvPr/>
        </p:nvGrpSpPr>
        <p:grpSpPr>
          <a:xfrm>
            <a:off x="6892000" y="3767400"/>
            <a:ext cx="2057400" cy="1033200"/>
            <a:chOff x="6922975" y="1548525"/>
            <a:chExt cx="2057400" cy="1033200"/>
          </a:xfrm>
        </p:grpSpPr>
        <p:grpSp>
          <p:nvGrpSpPr>
            <p:cNvPr id="189" name="Google Shape;189;p36"/>
            <p:cNvGrpSpPr/>
            <p:nvPr/>
          </p:nvGrpSpPr>
          <p:grpSpPr>
            <a:xfrm>
              <a:off x="6922975" y="1548525"/>
              <a:ext cx="2057400" cy="1033200"/>
              <a:chOff x="6172200" y="152400"/>
              <a:chExt cx="2057400" cy="1033200"/>
            </a:xfrm>
          </p:grpSpPr>
          <p:sp>
            <p:nvSpPr>
              <p:cNvPr id="190" name="Google Shape;190;p36"/>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191" name="Google Shape;191;p3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192" name="Google Shape;192;p3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more recent examples of NLP applications in modern therapy or coaching to illustrate its ongoing evolution.</a:t>
              </a:r>
              <a:endParaRPr sz="800">
                <a:latin typeface="Inter" panose="02000503000000020004"/>
                <a:ea typeface="Inter" panose="02000503000000020004"/>
                <a:cs typeface="Inter" panose="02000503000000020004"/>
                <a:sym typeface="Inter" panose="02000503000000020004"/>
              </a:endParaRPr>
            </a:p>
          </p:txBody>
        </p:sp>
        <p:pic>
          <p:nvPicPr>
            <p:cNvPr id="193" name="Google Shape;193;p36"/>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4030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97" name="Shape 197"/>
        <p:cNvGrpSpPr/>
        <p:nvPr/>
      </p:nvGrpSpPr>
      <p:grpSpPr>
        <a:xfrm>
          <a:off x="0" y="0"/>
          <a:ext cx="0" cy="0"/>
          <a:chOff x="0" y="0"/>
          <a:chExt cx="0" cy="0"/>
        </a:xfrm>
      </p:grpSpPr>
      <p:sp>
        <p:nvSpPr>
          <p:cNvPr id="198" name="Google Shape;198;p37" descr="header_0"/>
          <p:cNvSpPr txBox="1"/>
          <p:nvPr>
            <p:ph type="subTitle" idx="4294967295"/>
          </p:nvPr>
        </p:nvSpPr>
        <p:spPr>
          <a:xfrm>
            <a:off x="348525"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The Map is Not the Territory</a:t>
            </a:r>
            <a:endParaRPr sz="1200" b="1">
              <a:solidFill>
                <a:schemeClr val="lt1"/>
              </a:solidFill>
            </a:endParaRPr>
          </a:p>
        </p:txBody>
      </p:sp>
      <p:sp>
        <p:nvSpPr>
          <p:cNvPr id="199" name="Google Shape;199;p37" descr="header_1"/>
          <p:cNvSpPr txBox="1"/>
          <p:nvPr>
            <p:ph type="subTitle" idx="4294967295"/>
          </p:nvPr>
        </p:nvSpPr>
        <p:spPr>
          <a:xfrm>
            <a:off x="3264859"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Every Behavior Has a Positive Intention</a:t>
            </a:r>
            <a:endParaRPr sz="1200" b="1">
              <a:solidFill>
                <a:schemeClr val="lt1"/>
              </a:solidFill>
            </a:endParaRPr>
          </a:p>
        </p:txBody>
      </p:sp>
      <p:sp>
        <p:nvSpPr>
          <p:cNvPr id="200" name="Google Shape;200;p37" descr="header_2"/>
          <p:cNvSpPr txBox="1"/>
          <p:nvPr>
            <p:ph type="subTitle" idx="4294967295"/>
          </p:nvPr>
        </p:nvSpPr>
        <p:spPr>
          <a:xfrm>
            <a:off x="6181175" y="1444825"/>
            <a:ext cx="2509500" cy="601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Rapport and Flexibility</a:t>
            </a:r>
            <a:endParaRPr sz="1200" b="1">
              <a:solidFill>
                <a:schemeClr val="lt1"/>
              </a:solidFill>
            </a:endParaRPr>
          </a:p>
        </p:txBody>
      </p:sp>
      <p:sp>
        <p:nvSpPr>
          <p:cNvPr id="201" name="Google Shape;201;p37" descr="detail_0"/>
          <p:cNvSpPr txBox="1"/>
          <p:nvPr>
            <p:ph type="body" idx="1"/>
          </p:nvPr>
        </p:nvSpPr>
        <p:spPr>
          <a:xfrm>
            <a:off x="348525"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This principle emphasizes that our perceptions of the world are subjective. People interpret experiences differently based on their beliefs and backgrounds.</a:t>
            </a:r>
            <a:endParaRPr sz="1200">
              <a:solidFill>
                <a:schemeClr val="lt1"/>
              </a:solidFill>
            </a:endParaRPr>
          </a:p>
        </p:txBody>
      </p:sp>
      <p:sp>
        <p:nvSpPr>
          <p:cNvPr id="202" name="Google Shape;202;p37" descr="detail_1"/>
          <p:cNvSpPr txBox="1"/>
          <p:nvPr>
            <p:ph type="body" idx="1"/>
          </p:nvPr>
        </p:nvSpPr>
        <p:spPr>
          <a:xfrm>
            <a:off x="3264850"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NLP posits that all behaviors, even those that seem negative, are driven by positive intentions. Understanding this can foster compassion and change.</a:t>
            </a:r>
            <a:endParaRPr sz="1200">
              <a:solidFill>
                <a:schemeClr val="lt1"/>
              </a:solidFill>
            </a:endParaRPr>
          </a:p>
        </p:txBody>
      </p:sp>
      <p:sp>
        <p:nvSpPr>
          <p:cNvPr id="203" name="Google Shape;203;p37" descr="detail_2"/>
          <p:cNvSpPr txBox="1"/>
          <p:nvPr>
            <p:ph type="body" idx="1"/>
          </p:nvPr>
        </p:nvSpPr>
        <p:spPr>
          <a:xfrm>
            <a:off x="6181150" y="2183451"/>
            <a:ext cx="2509500" cy="2364900"/>
          </a:xfrm>
          <a:prstGeom prst="rect">
            <a:avLst/>
          </a:prstGeom>
        </p:spPr>
        <p:txBody>
          <a:bodyPr spcFirstLastPara="1" wrap="square" lIns="0" tIns="91425" rIns="0" bIns="91425" anchor="t" anchorCtr="0">
            <a:noAutofit/>
          </a:bodyPr>
          <a:lstStyle/>
          <a:p>
            <a:pPr marL="0" lvl="0" indent="228600" algn="l" rtl="0">
              <a:lnSpc>
                <a:spcPct val="150000"/>
              </a:lnSpc>
              <a:spcBef>
                <a:spcPts val="0"/>
              </a:spcBef>
              <a:spcAft>
                <a:spcPts val="1000"/>
              </a:spcAft>
              <a:buNone/>
            </a:pPr>
            <a:r>
              <a:rPr lang="en-GB" sz="1200">
                <a:solidFill>
                  <a:schemeClr val="lt1"/>
                </a:solidFill>
              </a:rPr>
              <a:t>Building rapport is essential for effective communication. Successful individuals are adaptable and can change their approach based on feedback from their environment.</a:t>
            </a:r>
            <a:endParaRPr sz="1200">
              <a:solidFill>
                <a:schemeClr val="lt1"/>
              </a:solidFill>
            </a:endParaRPr>
          </a:p>
        </p:txBody>
      </p:sp>
      <p:sp>
        <p:nvSpPr>
          <p:cNvPr id="204" name="Google Shape;204;p37"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Principles of NLP</a:t>
            </a:r>
            <a:endParaRPr sz="2400" b="1">
              <a:solidFill>
                <a:schemeClr val="lt1"/>
              </a:solidFill>
              <a:latin typeface="Bodoni Moda"/>
              <a:ea typeface="Bodoni Moda"/>
              <a:cs typeface="Bodoni Moda"/>
              <a:sym typeface="Bodoni Moda"/>
            </a:endParaRPr>
          </a:p>
        </p:txBody>
      </p:sp>
      <p:sp>
        <p:nvSpPr>
          <p:cNvPr id="205" name="Google Shape;205;p37"/>
          <p:cNvSpPr/>
          <p:nvPr/>
        </p:nvSpPr>
        <p:spPr>
          <a:xfrm>
            <a:off x="375600"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06" name="Google Shape;206;p37"/>
          <p:cNvSpPr/>
          <p:nvPr/>
        </p:nvSpPr>
        <p:spPr>
          <a:xfrm>
            <a:off x="3278363"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07" name="Google Shape;207;p37"/>
          <p:cNvSpPr/>
          <p:nvPr/>
        </p:nvSpPr>
        <p:spPr>
          <a:xfrm>
            <a:off x="6211338" y="23435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208" name="Google Shape;208;p37"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Principles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09" name="Google Shape;209;p37"/>
          <p:cNvGrpSpPr/>
          <p:nvPr/>
        </p:nvGrpSpPr>
        <p:grpSpPr>
          <a:xfrm>
            <a:off x="6892000" y="340475"/>
            <a:ext cx="2057400" cy="1033200"/>
            <a:chOff x="6922975" y="1548525"/>
            <a:chExt cx="2057400" cy="1033200"/>
          </a:xfrm>
        </p:grpSpPr>
        <p:grpSp>
          <p:nvGrpSpPr>
            <p:cNvPr id="210" name="Google Shape;210;p37"/>
            <p:cNvGrpSpPr/>
            <p:nvPr/>
          </p:nvGrpSpPr>
          <p:grpSpPr>
            <a:xfrm>
              <a:off x="6922975" y="1548525"/>
              <a:ext cx="2057400" cy="1033200"/>
              <a:chOff x="6172200" y="152400"/>
              <a:chExt cx="2057400" cy="1033200"/>
            </a:xfrm>
          </p:grpSpPr>
          <p:sp>
            <p:nvSpPr>
              <p:cNvPr id="211" name="Google Shape;211;p37"/>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12" name="Google Shape;212;p3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13" name="Google Shape;213;p3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expanding on each principle with real-life examples or anecdotes to enhance understanding.</a:t>
              </a:r>
              <a:endParaRPr sz="800">
                <a:latin typeface="Inter" panose="02000503000000020004"/>
                <a:ea typeface="Inter" panose="02000503000000020004"/>
                <a:cs typeface="Inter" panose="02000503000000020004"/>
                <a:sym typeface="Inter" panose="02000503000000020004"/>
              </a:endParaRPr>
            </a:p>
          </p:txBody>
        </p:sp>
        <p:pic>
          <p:nvPicPr>
            <p:cNvPr id="214" name="Google Shape;214;p37"/>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284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18" name="Shape 218"/>
        <p:cNvGrpSpPr/>
        <p:nvPr/>
      </p:nvGrpSpPr>
      <p:grpSpPr>
        <a:xfrm>
          <a:off x="0" y="0"/>
          <a:ext cx="0" cy="0"/>
          <a:chOff x="0" y="0"/>
          <a:chExt cx="0" cy="0"/>
        </a:xfrm>
      </p:grpSpPr>
      <p:sp>
        <p:nvSpPr>
          <p:cNvPr id="219" name="Google Shape;219;p38" descr="header_1"/>
          <p:cNvSpPr txBox="1"/>
          <p:nvPr>
            <p:ph type="subTitle" idx="4294967295"/>
          </p:nvPr>
        </p:nvSpPr>
        <p:spPr>
          <a:xfrm>
            <a:off x="2638350" y="2470614"/>
            <a:ext cx="1910100" cy="1155300"/>
          </a:xfrm>
          <a:prstGeom prst="rect">
            <a:avLst/>
          </a:prstGeom>
        </p:spPr>
        <p:txBody>
          <a:bodyPr spcFirstLastPara="1" wrap="square" lIns="0" tIns="0" rIns="0" bIns="91425" anchor="t" anchorCtr="0">
            <a:noAutofit/>
          </a:bodyPr>
          <a:lstStyle/>
          <a:p>
            <a:pPr marL="0" lvl="0" indent="0" algn="l" rtl="0">
              <a:lnSpc>
                <a:spcPct val="115000"/>
              </a:lnSpc>
              <a:spcBef>
                <a:spcPts val="0"/>
              </a:spcBef>
              <a:spcAft>
                <a:spcPts val="800"/>
              </a:spcAft>
              <a:buNone/>
            </a:pPr>
            <a:r>
              <a:rPr lang="en-GB" sz="1000" b="1">
                <a:solidFill>
                  <a:schemeClr val="lt1"/>
                </a:solidFill>
              </a:rPr>
              <a:t>Communication Skills</a:t>
            </a:r>
            <a:endParaRPr sz="1000" b="1">
              <a:solidFill>
                <a:schemeClr val="lt1"/>
              </a:solidFill>
            </a:endParaRPr>
          </a:p>
        </p:txBody>
      </p:sp>
      <p:sp>
        <p:nvSpPr>
          <p:cNvPr id="220" name="Google Shape;220;p38" descr="detail_1"/>
          <p:cNvSpPr txBox="1"/>
          <p:nvPr>
            <p:ph type="body" idx="1"/>
          </p:nvPr>
        </p:nvSpPr>
        <p:spPr>
          <a:xfrm>
            <a:off x="4812625" y="2470550"/>
            <a:ext cx="4073400" cy="1155300"/>
          </a:xfrm>
          <a:prstGeom prst="rect">
            <a:avLst/>
          </a:prstGeom>
        </p:spPr>
        <p:txBody>
          <a:bodyPr spcFirstLastPara="1" wrap="square" lIns="0" tIns="0" rIns="0" bIns="91425" anchor="t" anchorCtr="0">
            <a:noAutofit/>
          </a:bodyPr>
          <a:lstStyle/>
          <a:p>
            <a:pPr marL="0" lvl="0" indent="0" algn="l" rtl="0">
              <a:lnSpc>
                <a:spcPct val="115000"/>
              </a:lnSpc>
              <a:spcBef>
                <a:spcPts val="0"/>
              </a:spcBef>
              <a:spcAft>
                <a:spcPts val="1000"/>
              </a:spcAft>
              <a:buNone/>
            </a:pPr>
            <a:r>
              <a:rPr lang="en-GB" sz="1000">
                <a:solidFill>
                  <a:schemeClr val="lt1"/>
                </a:solidFill>
              </a:rPr>
              <a:t>Learning to use language effectively can improve personal and professional relationships. NLP teaches strategies for active listening, persuasive communication, and nonverbal cues.</a:t>
            </a:r>
            <a:endParaRPr sz="1000">
              <a:solidFill>
                <a:schemeClr val="lt1"/>
              </a:solidFill>
            </a:endParaRPr>
          </a:p>
        </p:txBody>
      </p:sp>
      <p:sp>
        <p:nvSpPr>
          <p:cNvPr id="221" name="Google Shape;221;p38" descr="header_2"/>
          <p:cNvSpPr txBox="1"/>
          <p:nvPr>
            <p:ph type="subTitle" idx="4294967295"/>
          </p:nvPr>
        </p:nvSpPr>
        <p:spPr>
          <a:xfrm>
            <a:off x="2638350" y="3696929"/>
            <a:ext cx="1910100" cy="1155300"/>
          </a:xfrm>
          <a:prstGeom prst="rect">
            <a:avLst/>
          </a:prstGeom>
        </p:spPr>
        <p:txBody>
          <a:bodyPr spcFirstLastPara="1" wrap="square" lIns="0" tIns="0" rIns="0" bIns="91425" anchor="t" anchorCtr="0">
            <a:noAutofit/>
          </a:bodyPr>
          <a:lstStyle/>
          <a:p>
            <a:pPr marL="0" lvl="0" indent="0" algn="l" rtl="0">
              <a:lnSpc>
                <a:spcPct val="115000"/>
              </a:lnSpc>
              <a:spcBef>
                <a:spcPts val="0"/>
              </a:spcBef>
              <a:spcAft>
                <a:spcPts val="800"/>
              </a:spcAft>
              <a:buNone/>
            </a:pPr>
            <a:r>
              <a:rPr lang="en-GB" sz="1000" b="1">
                <a:solidFill>
                  <a:schemeClr val="lt1"/>
                </a:solidFill>
              </a:rPr>
              <a:t>Business and Leadership</a:t>
            </a:r>
            <a:endParaRPr sz="1000" b="1">
              <a:solidFill>
                <a:schemeClr val="lt1"/>
              </a:solidFill>
            </a:endParaRPr>
          </a:p>
        </p:txBody>
      </p:sp>
      <p:sp>
        <p:nvSpPr>
          <p:cNvPr id="222" name="Google Shape;222;p38" descr="detail_2"/>
          <p:cNvSpPr txBox="1"/>
          <p:nvPr>
            <p:ph type="body" idx="1"/>
          </p:nvPr>
        </p:nvSpPr>
        <p:spPr>
          <a:xfrm>
            <a:off x="4812625" y="3696875"/>
            <a:ext cx="4073400" cy="1155300"/>
          </a:xfrm>
          <a:prstGeom prst="rect">
            <a:avLst/>
          </a:prstGeom>
        </p:spPr>
        <p:txBody>
          <a:bodyPr spcFirstLastPara="1" wrap="square" lIns="0" tIns="0" rIns="0" bIns="91425" anchor="t" anchorCtr="0">
            <a:noAutofit/>
          </a:bodyPr>
          <a:lstStyle/>
          <a:p>
            <a:pPr marL="0" lvl="0" indent="0" algn="l" rtl="0">
              <a:lnSpc>
                <a:spcPct val="115000"/>
              </a:lnSpc>
              <a:spcBef>
                <a:spcPts val="0"/>
              </a:spcBef>
              <a:spcAft>
                <a:spcPts val="1000"/>
              </a:spcAft>
              <a:buNone/>
            </a:pPr>
            <a:r>
              <a:rPr lang="en-GB" sz="1000">
                <a:solidFill>
                  <a:schemeClr val="lt1"/>
                </a:solidFill>
              </a:rPr>
              <a:t>NLP is applied in sales, negotiation, and team dynamics to enhance communication, leadership skills, and performance.</a:t>
            </a:r>
            <a:endParaRPr sz="1000">
              <a:solidFill>
                <a:schemeClr val="lt1"/>
              </a:solidFill>
            </a:endParaRPr>
          </a:p>
        </p:txBody>
      </p:sp>
      <p:sp>
        <p:nvSpPr>
          <p:cNvPr id="223" name="Google Shape;223;p38" descr="header_0"/>
          <p:cNvSpPr txBox="1"/>
          <p:nvPr>
            <p:ph type="subTitle" idx="4294967295"/>
          </p:nvPr>
        </p:nvSpPr>
        <p:spPr>
          <a:xfrm>
            <a:off x="2638350" y="1244325"/>
            <a:ext cx="1910100" cy="1155300"/>
          </a:xfrm>
          <a:prstGeom prst="rect">
            <a:avLst/>
          </a:prstGeom>
        </p:spPr>
        <p:txBody>
          <a:bodyPr spcFirstLastPara="1" wrap="square" lIns="0" tIns="0" rIns="0" bIns="91425" anchor="t" anchorCtr="0">
            <a:noAutofit/>
          </a:bodyPr>
          <a:lstStyle/>
          <a:p>
            <a:pPr marL="0" lvl="0" indent="0" algn="l" rtl="0">
              <a:lnSpc>
                <a:spcPct val="115000"/>
              </a:lnSpc>
              <a:spcBef>
                <a:spcPts val="0"/>
              </a:spcBef>
              <a:spcAft>
                <a:spcPts val="800"/>
              </a:spcAft>
              <a:buNone/>
            </a:pPr>
            <a:r>
              <a:rPr lang="en-GB" sz="1000" b="1">
                <a:solidFill>
                  <a:schemeClr val="lt1"/>
                </a:solidFill>
              </a:rPr>
              <a:t>Personal Development</a:t>
            </a:r>
            <a:endParaRPr sz="1000" b="1">
              <a:solidFill>
                <a:schemeClr val="lt1"/>
              </a:solidFill>
            </a:endParaRPr>
          </a:p>
        </p:txBody>
      </p:sp>
      <p:sp>
        <p:nvSpPr>
          <p:cNvPr id="224" name="Google Shape;224;p38" descr="detail_0"/>
          <p:cNvSpPr txBox="1"/>
          <p:nvPr>
            <p:ph type="body" idx="1"/>
          </p:nvPr>
        </p:nvSpPr>
        <p:spPr>
          <a:xfrm>
            <a:off x="4812625" y="1244250"/>
            <a:ext cx="4073400" cy="1155300"/>
          </a:xfrm>
          <a:prstGeom prst="rect">
            <a:avLst/>
          </a:prstGeom>
        </p:spPr>
        <p:txBody>
          <a:bodyPr spcFirstLastPara="1" wrap="square" lIns="0" tIns="0" rIns="0" bIns="91425" anchor="t" anchorCtr="0">
            <a:noAutofit/>
          </a:bodyPr>
          <a:lstStyle/>
          <a:p>
            <a:pPr marL="0" lvl="0" indent="0" algn="l" rtl="0">
              <a:lnSpc>
                <a:spcPct val="115000"/>
              </a:lnSpc>
              <a:spcBef>
                <a:spcPts val="0"/>
              </a:spcBef>
              <a:spcAft>
                <a:spcPts val="1000"/>
              </a:spcAft>
              <a:buNone/>
            </a:pPr>
            <a:r>
              <a:rPr lang="en-GB" sz="1000">
                <a:solidFill>
                  <a:schemeClr val="lt1"/>
                </a:solidFill>
              </a:rPr>
              <a:t>NLP techniques can help individuals overcome fears, phobias, and limiting beliefs, fostering greater confidence and resilience.</a:t>
            </a:r>
            <a:endParaRPr sz="1000">
              <a:solidFill>
                <a:schemeClr val="lt1"/>
              </a:solidFill>
            </a:endParaRPr>
          </a:p>
        </p:txBody>
      </p:sp>
      <p:pic>
        <p:nvPicPr>
          <p:cNvPr id="225" name="Google Shape;225;p38"/>
          <p:cNvPicPr preferRelativeResize="0"/>
          <p:nvPr/>
        </p:nvPicPr>
        <p:blipFill rotWithShape="1">
          <a:blip r:embed="rId1"/>
          <a:srcRect t="23391" b="23386"/>
          <a:stretch>
            <a:fillRect/>
          </a:stretch>
        </p:blipFill>
        <p:spPr>
          <a:xfrm>
            <a:off x="348600" y="1244250"/>
            <a:ext cx="2170923" cy="1155400"/>
          </a:xfrm>
          <a:prstGeom prst="rect">
            <a:avLst/>
          </a:prstGeom>
          <a:noFill/>
          <a:ln>
            <a:noFill/>
          </a:ln>
        </p:spPr>
      </p:pic>
      <p:pic>
        <p:nvPicPr>
          <p:cNvPr id="226" name="Google Shape;226;p38"/>
          <p:cNvPicPr preferRelativeResize="0"/>
          <p:nvPr/>
        </p:nvPicPr>
        <p:blipFill rotWithShape="1">
          <a:blip r:embed="rId2"/>
          <a:srcRect t="23390" b="23390"/>
          <a:stretch>
            <a:fillRect/>
          </a:stretch>
        </p:blipFill>
        <p:spPr>
          <a:xfrm>
            <a:off x="348600" y="2470556"/>
            <a:ext cx="2171004" cy="1155410"/>
          </a:xfrm>
          <a:prstGeom prst="rect">
            <a:avLst/>
          </a:prstGeom>
          <a:noFill/>
          <a:ln>
            <a:noFill/>
          </a:ln>
        </p:spPr>
      </p:pic>
      <p:pic>
        <p:nvPicPr>
          <p:cNvPr id="227" name="Google Shape;227;p38"/>
          <p:cNvPicPr preferRelativeResize="0"/>
          <p:nvPr/>
        </p:nvPicPr>
        <p:blipFill rotWithShape="1">
          <a:blip r:embed="rId3"/>
          <a:srcRect t="23390" b="23390"/>
          <a:stretch>
            <a:fillRect/>
          </a:stretch>
        </p:blipFill>
        <p:spPr>
          <a:xfrm>
            <a:off x="348637" y="3696872"/>
            <a:ext cx="2170931" cy="1155343"/>
          </a:xfrm>
          <a:prstGeom prst="rect">
            <a:avLst/>
          </a:prstGeom>
          <a:noFill/>
          <a:ln>
            <a:noFill/>
          </a:ln>
        </p:spPr>
      </p:pic>
      <p:sp>
        <p:nvSpPr>
          <p:cNvPr id="228" name="Google Shape;228;p38"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Applications of NLP in Everyday Life</a:t>
            </a:r>
            <a:endParaRPr sz="2400" b="1">
              <a:solidFill>
                <a:schemeClr val="lt1"/>
              </a:solidFill>
              <a:latin typeface="Bodoni Moda"/>
              <a:ea typeface="Bodoni Moda"/>
              <a:cs typeface="Bodoni Moda"/>
              <a:sym typeface="Bodoni Moda"/>
            </a:endParaRPr>
          </a:p>
        </p:txBody>
      </p:sp>
      <p:sp>
        <p:nvSpPr>
          <p:cNvPr id="229" name="Google Shape;229;p38"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Application</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30" name="Google Shape;230;p38"/>
          <p:cNvGrpSpPr/>
          <p:nvPr/>
        </p:nvGrpSpPr>
        <p:grpSpPr>
          <a:xfrm>
            <a:off x="6892000" y="111875"/>
            <a:ext cx="2057400" cy="1033200"/>
            <a:chOff x="6922975" y="1548525"/>
            <a:chExt cx="2057400" cy="1033200"/>
          </a:xfrm>
        </p:grpSpPr>
        <p:grpSp>
          <p:nvGrpSpPr>
            <p:cNvPr id="231" name="Google Shape;231;p38"/>
            <p:cNvGrpSpPr/>
            <p:nvPr/>
          </p:nvGrpSpPr>
          <p:grpSpPr>
            <a:xfrm>
              <a:off x="6922975" y="1548525"/>
              <a:ext cx="2057400" cy="1033200"/>
              <a:chOff x="6172200" y="152400"/>
              <a:chExt cx="2057400" cy="1033200"/>
            </a:xfrm>
          </p:grpSpPr>
          <p:sp>
            <p:nvSpPr>
              <p:cNvPr id="232" name="Google Shape;232;p38"/>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33" name="Google Shape;233;p3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34" name="Google Shape;234;p3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specific NLP techniques used in each area to enhance the content.</a:t>
              </a:r>
              <a:endParaRPr sz="800">
                <a:latin typeface="Inter" panose="02000503000000020004"/>
                <a:ea typeface="Inter" panose="02000503000000020004"/>
                <a:cs typeface="Inter" panose="02000503000000020004"/>
                <a:sym typeface="Inter" panose="02000503000000020004"/>
              </a:endParaRPr>
            </a:p>
          </p:txBody>
        </p:sp>
        <p:pic>
          <p:nvPicPr>
            <p:cNvPr id="235" name="Google Shape;235;p38"/>
            <p:cNvPicPr preferRelativeResize="0"/>
            <p:nvPr/>
          </p:nvPicPr>
          <p:blipFill>
            <a:blip r:embed="rId4"/>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5"/>
          <a:srcRect t="22967" b="48563"/>
          <a:stretch>
            <a:fillRect/>
          </a:stretch>
        </p:blipFill>
        <p:spPr>
          <a:xfrm>
            <a:off x="6606540" y="44284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239" name="Shape 239"/>
        <p:cNvGrpSpPr/>
        <p:nvPr/>
      </p:nvGrpSpPr>
      <p:grpSpPr>
        <a:xfrm>
          <a:off x="0" y="0"/>
          <a:ext cx="0" cy="0"/>
          <a:chOff x="0" y="0"/>
          <a:chExt cx="0" cy="0"/>
        </a:xfrm>
      </p:grpSpPr>
      <p:sp>
        <p:nvSpPr>
          <p:cNvPr id="240" name="Google Shape;240;p39" descr="header_0"/>
          <p:cNvSpPr txBox="1"/>
          <p:nvPr>
            <p:ph type="subTitle" idx="4294967295"/>
          </p:nvPr>
        </p:nvSpPr>
        <p:spPr>
          <a:xfrm>
            <a:off x="348525" y="114430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i="1"/>
              <a:t>Anchoring</a:t>
            </a:r>
            <a:endParaRPr sz="1200" b="1" i="1"/>
          </a:p>
        </p:txBody>
      </p:sp>
      <p:sp>
        <p:nvSpPr>
          <p:cNvPr id="241" name="Google Shape;241;p39" descr="detail_0"/>
          <p:cNvSpPr txBox="1"/>
          <p:nvPr>
            <p:ph type="body" idx="1"/>
          </p:nvPr>
        </p:nvSpPr>
        <p:spPr>
          <a:xfrm>
            <a:off x="707232" y="158075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SzPts val="1000"/>
              <a:buChar char="●"/>
            </a:pPr>
            <a:r>
              <a:rPr lang="en-GB" sz="1000">
                <a:solidFill>
                  <a:schemeClr val="lt1"/>
                </a:solidFill>
              </a:rPr>
              <a:t>Anchoring involves creating a mental or emotional 'anchor' that triggers a desired emotional state.</a:t>
            </a:r>
            <a:endParaRPr sz="1000">
              <a:solidFill>
                <a:schemeClr val="lt1"/>
              </a:solidFill>
            </a:endParaRPr>
          </a:p>
          <a:p>
            <a:pPr marL="342900" lvl="0" indent="-206375" algn="l" rtl="0">
              <a:spcBef>
                <a:spcPts val="800"/>
              </a:spcBef>
              <a:spcAft>
                <a:spcPts val="0"/>
              </a:spcAft>
              <a:buSzPts val="1000"/>
              <a:buChar char="●"/>
            </a:pPr>
            <a:r>
              <a:rPr lang="en-GB" sz="1000">
                <a:solidFill>
                  <a:schemeClr val="lt1"/>
                </a:solidFill>
              </a:rPr>
              <a:t>Participants recall a powerful, positive experience while associating it with a specific gesture or word.</a:t>
            </a:r>
            <a:endParaRPr sz="1000">
              <a:solidFill>
                <a:schemeClr val="lt1"/>
              </a:solidFill>
            </a:endParaRPr>
          </a:p>
          <a:p>
            <a:pPr marL="342900" lvl="0" indent="-206375" algn="l" rtl="0">
              <a:spcBef>
                <a:spcPts val="800"/>
              </a:spcBef>
              <a:spcAft>
                <a:spcPts val="800"/>
              </a:spcAft>
              <a:buSzPts val="1000"/>
              <a:buChar char="●"/>
            </a:pPr>
            <a:r>
              <a:rPr lang="en-GB" sz="1000">
                <a:solidFill>
                  <a:schemeClr val="lt1"/>
                </a:solidFill>
              </a:rPr>
              <a:t>This anchor can be used later to evoke that positive state on demand.</a:t>
            </a:r>
            <a:endParaRPr sz="1000">
              <a:solidFill>
                <a:schemeClr val="lt1"/>
              </a:solidFill>
            </a:endParaRPr>
          </a:p>
        </p:txBody>
      </p:sp>
      <p:sp>
        <p:nvSpPr>
          <p:cNvPr id="242" name="Google Shape;242;p39" descr="header_1"/>
          <p:cNvSpPr txBox="1"/>
          <p:nvPr>
            <p:ph type="subTitle" idx="4294967295"/>
          </p:nvPr>
        </p:nvSpPr>
        <p:spPr>
          <a:xfrm>
            <a:off x="348525" y="293435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i="1"/>
              <a:t>Reframing</a:t>
            </a:r>
            <a:endParaRPr sz="1200" b="1" i="1"/>
          </a:p>
        </p:txBody>
      </p:sp>
      <p:sp>
        <p:nvSpPr>
          <p:cNvPr id="243" name="Google Shape;243;p39" descr="detail_1"/>
          <p:cNvSpPr txBox="1"/>
          <p:nvPr>
            <p:ph type="body" idx="1"/>
          </p:nvPr>
        </p:nvSpPr>
        <p:spPr>
          <a:xfrm>
            <a:off x="707232" y="337080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SzPts val="1000"/>
              <a:buChar char="●"/>
            </a:pPr>
            <a:r>
              <a:rPr lang="en-GB" sz="1000">
                <a:solidFill>
                  <a:schemeClr val="lt1"/>
                </a:solidFill>
              </a:rPr>
              <a:t>Reframing changes the way an individual perceives a situation, allowing for different perspectives.</a:t>
            </a:r>
            <a:endParaRPr sz="1000">
              <a:solidFill>
                <a:schemeClr val="lt1"/>
              </a:solidFill>
            </a:endParaRPr>
          </a:p>
          <a:p>
            <a:pPr marL="342900" lvl="0" indent="-206375" algn="l" rtl="0">
              <a:spcBef>
                <a:spcPts val="800"/>
              </a:spcBef>
              <a:spcAft>
                <a:spcPts val="0"/>
              </a:spcAft>
              <a:buSzPts val="1000"/>
              <a:buChar char="●"/>
            </a:pPr>
            <a:r>
              <a:rPr lang="en-GB" sz="1000">
                <a:solidFill>
                  <a:schemeClr val="lt1"/>
                </a:solidFill>
              </a:rPr>
              <a:t>Participants identify a negative thought and find alternative interpretations or positive outcomes.</a:t>
            </a:r>
            <a:endParaRPr sz="1000">
              <a:solidFill>
                <a:schemeClr val="lt1"/>
              </a:solidFill>
            </a:endParaRPr>
          </a:p>
          <a:p>
            <a:pPr marL="342900" lvl="0" indent="-206375" algn="l" rtl="0">
              <a:spcBef>
                <a:spcPts val="800"/>
              </a:spcBef>
              <a:spcAft>
                <a:spcPts val="800"/>
              </a:spcAft>
              <a:buSzPts val="1000"/>
              <a:buChar char="●"/>
            </a:pPr>
            <a:r>
              <a:rPr lang="en-GB" sz="1000">
                <a:solidFill>
                  <a:schemeClr val="lt1"/>
                </a:solidFill>
              </a:rPr>
              <a:t>This technique helps individuals see situations in a more constructive light.</a:t>
            </a:r>
            <a:endParaRPr sz="1000">
              <a:solidFill>
                <a:schemeClr val="lt1"/>
              </a:solidFill>
            </a:endParaRPr>
          </a:p>
        </p:txBody>
      </p:sp>
      <p:sp>
        <p:nvSpPr>
          <p:cNvPr id="244" name="Google Shape;244;p39"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300" b="1">
                <a:latin typeface="Bodoni Moda"/>
                <a:ea typeface="Bodoni Moda"/>
                <a:cs typeface="Bodoni Moda"/>
                <a:sym typeface="Bodoni Moda"/>
              </a:rPr>
              <a:t>Key NLP Techniques: Anchoring and Reframing</a:t>
            </a:r>
            <a:endParaRPr sz="2300" b="1">
              <a:solidFill>
                <a:schemeClr val="lt1"/>
              </a:solidFill>
              <a:latin typeface="Bodoni Moda"/>
              <a:ea typeface="Bodoni Moda"/>
              <a:cs typeface="Bodoni Moda"/>
              <a:sym typeface="Bodoni Moda"/>
            </a:endParaRPr>
          </a:p>
        </p:txBody>
      </p:sp>
      <p:sp>
        <p:nvSpPr>
          <p:cNvPr id="245" name="Google Shape;245;p39"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Techniques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46" name="Google Shape;246;p39"/>
          <p:cNvGrpSpPr/>
          <p:nvPr/>
        </p:nvGrpSpPr>
        <p:grpSpPr>
          <a:xfrm>
            <a:off x="6892000" y="340475"/>
            <a:ext cx="2057400" cy="1033200"/>
            <a:chOff x="6922975" y="1548525"/>
            <a:chExt cx="2057400" cy="1033200"/>
          </a:xfrm>
        </p:grpSpPr>
        <p:grpSp>
          <p:nvGrpSpPr>
            <p:cNvPr id="247" name="Google Shape;247;p39"/>
            <p:cNvGrpSpPr/>
            <p:nvPr/>
          </p:nvGrpSpPr>
          <p:grpSpPr>
            <a:xfrm>
              <a:off x="6922975" y="1548525"/>
              <a:ext cx="2057400" cy="1033200"/>
              <a:chOff x="6172200" y="152400"/>
              <a:chExt cx="2057400" cy="1033200"/>
            </a:xfrm>
          </p:grpSpPr>
          <p:sp>
            <p:nvSpPr>
              <p:cNvPr id="248" name="Google Shape;248;p39"/>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49" name="Google Shape;249;p3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50" name="Google Shape;250;p3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providing specific examples of how these techniques can be applied in real-life situations.</a:t>
              </a:r>
              <a:endParaRPr sz="800">
                <a:latin typeface="Inter" panose="02000503000000020004"/>
                <a:ea typeface="Inter" panose="02000503000000020004"/>
                <a:cs typeface="Inter" panose="02000503000000020004"/>
                <a:sym typeface="Inter" panose="02000503000000020004"/>
              </a:endParaRPr>
            </a:p>
          </p:txBody>
        </p:sp>
        <p:pic>
          <p:nvPicPr>
            <p:cNvPr id="251" name="Google Shape;251;p39"/>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284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255" name="Shape 255"/>
        <p:cNvGrpSpPr/>
        <p:nvPr/>
      </p:nvGrpSpPr>
      <p:grpSpPr>
        <a:xfrm>
          <a:off x="0" y="0"/>
          <a:ext cx="0" cy="0"/>
          <a:chOff x="0" y="0"/>
          <a:chExt cx="0" cy="0"/>
        </a:xfrm>
      </p:grpSpPr>
      <p:sp>
        <p:nvSpPr>
          <p:cNvPr id="256" name="Google Shape;256;p40" descr="header_0"/>
          <p:cNvSpPr txBox="1"/>
          <p:nvPr>
            <p:ph type="subTitle" idx="4294967295"/>
          </p:nvPr>
        </p:nvSpPr>
        <p:spPr>
          <a:xfrm>
            <a:off x="348525" y="114430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i="1"/>
              <a:t>Visualization Techniques</a:t>
            </a:r>
            <a:endParaRPr sz="1200" b="1" i="1"/>
          </a:p>
        </p:txBody>
      </p:sp>
      <p:sp>
        <p:nvSpPr>
          <p:cNvPr id="257" name="Google Shape;257;p40" descr="detail_0"/>
          <p:cNvSpPr txBox="1"/>
          <p:nvPr>
            <p:ph type="body" idx="1"/>
          </p:nvPr>
        </p:nvSpPr>
        <p:spPr>
          <a:xfrm>
            <a:off x="707232" y="158075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SzPts val="1000"/>
              <a:buChar char="●"/>
            </a:pPr>
            <a:r>
              <a:rPr lang="en-GB" sz="1000">
                <a:solidFill>
                  <a:schemeClr val="lt1"/>
                </a:solidFill>
              </a:rPr>
              <a:t>Visualization uses mental imagery to create vivid scenarios representing desired outcomes.</a:t>
            </a:r>
            <a:endParaRPr sz="1000">
              <a:solidFill>
                <a:schemeClr val="lt1"/>
              </a:solidFill>
            </a:endParaRPr>
          </a:p>
          <a:p>
            <a:pPr marL="342900" lvl="0" indent="-206375" algn="l" rtl="0">
              <a:spcBef>
                <a:spcPts val="800"/>
              </a:spcBef>
              <a:spcAft>
                <a:spcPts val="0"/>
              </a:spcAft>
              <a:buSzPts val="1000"/>
              <a:buChar char="●"/>
            </a:pPr>
            <a:r>
              <a:rPr lang="en-GB" sz="1000">
                <a:solidFill>
                  <a:schemeClr val="lt1"/>
                </a:solidFill>
              </a:rPr>
              <a:t>Individuals visualize themselves achieving goals or overcoming challenges, enhancing motivation and confidence.</a:t>
            </a:r>
            <a:endParaRPr sz="1000">
              <a:solidFill>
                <a:schemeClr val="lt1"/>
              </a:solidFill>
            </a:endParaRPr>
          </a:p>
          <a:p>
            <a:pPr marL="342900" lvl="0" indent="-206375" algn="l" rtl="0">
              <a:spcBef>
                <a:spcPts val="800"/>
              </a:spcBef>
              <a:spcAft>
                <a:spcPts val="800"/>
              </a:spcAft>
              <a:buSzPts val="1000"/>
              <a:buChar char="●"/>
            </a:pPr>
            <a:r>
              <a:rPr lang="en-GB" sz="1000">
                <a:solidFill>
                  <a:schemeClr val="lt1"/>
                </a:solidFill>
              </a:rPr>
              <a:t>This technique can help in reinforcing positive behaviors and outcomes by mentally rehearsing success.</a:t>
            </a:r>
            <a:endParaRPr sz="1000">
              <a:solidFill>
                <a:schemeClr val="lt1"/>
              </a:solidFill>
            </a:endParaRPr>
          </a:p>
        </p:txBody>
      </p:sp>
      <p:sp>
        <p:nvSpPr>
          <p:cNvPr id="258" name="Google Shape;258;p40" descr="header_1"/>
          <p:cNvSpPr txBox="1"/>
          <p:nvPr>
            <p:ph type="subTitle" idx="4294967295"/>
          </p:nvPr>
        </p:nvSpPr>
        <p:spPr>
          <a:xfrm>
            <a:off x="348525" y="293435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i="1"/>
              <a:t>Modeling Techniques</a:t>
            </a:r>
            <a:endParaRPr sz="1200" b="1" i="1"/>
          </a:p>
        </p:txBody>
      </p:sp>
      <p:sp>
        <p:nvSpPr>
          <p:cNvPr id="259" name="Google Shape;259;p40" descr="detail_1"/>
          <p:cNvSpPr txBox="1"/>
          <p:nvPr>
            <p:ph type="body" idx="1"/>
          </p:nvPr>
        </p:nvSpPr>
        <p:spPr>
          <a:xfrm>
            <a:off x="707232" y="337080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SzPts val="1000"/>
              <a:buChar char="●"/>
            </a:pPr>
            <a:r>
              <a:rPr lang="en-GB" sz="1000">
                <a:solidFill>
                  <a:schemeClr val="lt1"/>
                </a:solidFill>
              </a:rPr>
              <a:t>Modeling involves observing and replicating the behaviors, beliefs, and strategies of successful individuals.</a:t>
            </a:r>
            <a:endParaRPr sz="1000">
              <a:solidFill>
                <a:schemeClr val="lt1"/>
              </a:solidFill>
            </a:endParaRPr>
          </a:p>
          <a:p>
            <a:pPr marL="342900" lvl="0" indent="-206375" algn="l" rtl="0">
              <a:spcBef>
                <a:spcPts val="800"/>
              </a:spcBef>
              <a:spcAft>
                <a:spcPts val="0"/>
              </a:spcAft>
              <a:buSzPts val="1000"/>
              <a:buChar char="●"/>
            </a:pPr>
            <a:r>
              <a:rPr lang="en-GB" sz="1000">
                <a:solidFill>
                  <a:schemeClr val="lt1"/>
                </a:solidFill>
              </a:rPr>
              <a:t>Participants study a role model’s approach in specific areas, such as communication or negotiation.</a:t>
            </a:r>
            <a:endParaRPr sz="1000">
              <a:solidFill>
                <a:schemeClr val="lt1"/>
              </a:solidFill>
            </a:endParaRPr>
          </a:p>
          <a:p>
            <a:pPr marL="342900" lvl="0" indent="-206375" algn="l" rtl="0">
              <a:spcBef>
                <a:spcPts val="800"/>
              </a:spcBef>
              <a:spcAft>
                <a:spcPts val="800"/>
              </a:spcAft>
              <a:buSzPts val="1000"/>
              <a:buChar char="●"/>
            </a:pPr>
            <a:r>
              <a:rPr lang="en-GB" sz="1000">
                <a:solidFill>
                  <a:schemeClr val="lt1"/>
                </a:solidFill>
              </a:rPr>
              <a:t>By practicing similar techniques, individuals can improve their own performance significantly.</a:t>
            </a:r>
            <a:endParaRPr sz="1000">
              <a:solidFill>
                <a:schemeClr val="lt1"/>
              </a:solidFill>
            </a:endParaRPr>
          </a:p>
        </p:txBody>
      </p:sp>
      <p:sp>
        <p:nvSpPr>
          <p:cNvPr id="260" name="Google Shape;260;p40"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Visualization and Modeling in NLP</a:t>
            </a:r>
            <a:endParaRPr sz="2400" b="1">
              <a:solidFill>
                <a:schemeClr val="lt1"/>
              </a:solidFill>
              <a:latin typeface="Bodoni Moda"/>
              <a:ea typeface="Bodoni Moda"/>
              <a:cs typeface="Bodoni Moda"/>
              <a:sym typeface="Bodoni Moda"/>
            </a:endParaRPr>
          </a:p>
        </p:txBody>
      </p:sp>
      <p:sp>
        <p:nvSpPr>
          <p:cNvPr id="261" name="Google Shape;261;p40"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Techniques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62" name="Google Shape;262;p40"/>
          <p:cNvGrpSpPr/>
          <p:nvPr/>
        </p:nvGrpSpPr>
        <p:grpSpPr>
          <a:xfrm>
            <a:off x="6892000" y="340475"/>
            <a:ext cx="2057400" cy="1033200"/>
            <a:chOff x="6922975" y="1548525"/>
            <a:chExt cx="2057400" cy="1033200"/>
          </a:xfrm>
        </p:grpSpPr>
        <p:grpSp>
          <p:nvGrpSpPr>
            <p:cNvPr id="263" name="Google Shape;263;p40"/>
            <p:cNvGrpSpPr/>
            <p:nvPr/>
          </p:nvGrpSpPr>
          <p:grpSpPr>
            <a:xfrm>
              <a:off x="6922975" y="1548525"/>
              <a:ext cx="2057400" cy="1033200"/>
              <a:chOff x="6172200" y="152400"/>
              <a:chExt cx="2057400" cy="1033200"/>
            </a:xfrm>
          </p:grpSpPr>
          <p:sp>
            <p:nvSpPr>
              <p:cNvPr id="264" name="Google Shape;264;p40"/>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65" name="Google Shape;265;p4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66" name="Google Shape;266;p4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including examples of successful individuals who have utilized these techniques in their fields to make the content more relatable.</a:t>
              </a:r>
              <a:endParaRPr sz="800">
                <a:latin typeface="Inter" panose="02000503000000020004"/>
                <a:ea typeface="Inter" panose="02000503000000020004"/>
                <a:cs typeface="Inter" panose="02000503000000020004"/>
                <a:sym typeface="Inter" panose="02000503000000020004"/>
              </a:endParaRPr>
            </a:p>
          </p:txBody>
        </p:sp>
        <p:pic>
          <p:nvPicPr>
            <p:cNvPr id="267" name="Google Shape;267;p40"/>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284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71" name="Shape 271"/>
        <p:cNvGrpSpPr/>
        <p:nvPr/>
      </p:nvGrpSpPr>
      <p:grpSpPr>
        <a:xfrm>
          <a:off x="0" y="0"/>
          <a:ext cx="0" cy="0"/>
          <a:chOff x="0" y="0"/>
          <a:chExt cx="0" cy="0"/>
        </a:xfrm>
      </p:grpSpPr>
      <p:sp>
        <p:nvSpPr>
          <p:cNvPr id="272" name="Google Shape;272;p41" descr="header_0"/>
          <p:cNvSpPr txBox="1"/>
          <p:nvPr>
            <p:ph type="subTitle" idx="4294967295"/>
          </p:nvPr>
        </p:nvSpPr>
        <p:spPr>
          <a:xfrm>
            <a:off x="348525" y="114430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a:solidFill>
                  <a:schemeClr val="accent4"/>
                </a:solidFill>
                <a:latin typeface="Noto Sans" panose="020B0502040504020204"/>
                <a:ea typeface="Noto Sans" panose="020B0502040504020204"/>
                <a:cs typeface="Noto Sans" panose="020B0502040504020204"/>
                <a:sym typeface="Noto Sans" panose="020B0502040504020204"/>
              </a:rPr>
              <a:t>Swish Patterns</a:t>
            </a:r>
            <a:endParaRPr sz="1200">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273" name="Google Shape;273;p41" descr="detail_0"/>
          <p:cNvSpPr txBox="1"/>
          <p:nvPr>
            <p:ph type="body" idx="1"/>
          </p:nvPr>
        </p:nvSpPr>
        <p:spPr>
          <a:xfrm>
            <a:off x="707232" y="1580750"/>
            <a:ext cx="6632400" cy="1353600"/>
          </a:xfrm>
          <a:prstGeom prst="rect">
            <a:avLst/>
          </a:prstGeom>
        </p:spPr>
        <p:txBody>
          <a:bodyPr spcFirstLastPara="1" wrap="square" lIns="0" tIns="91425" rIns="0" bIns="91425" anchor="t" anchorCtr="0">
            <a:noAutofit/>
          </a:bodyPr>
          <a:lstStyle/>
          <a:p>
            <a:pPr marL="342900" lvl="0" indent="-200025" algn="l" rtl="0">
              <a:spcBef>
                <a:spcPts val="0"/>
              </a:spcBef>
              <a:spcAft>
                <a:spcPts val="0"/>
              </a:spcAft>
              <a:buClr>
                <a:schemeClr val="accent1"/>
              </a:buClr>
              <a:buSzPts val="900"/>
              <a:buChar char="●"/>
            </a:pPr>
            <a:r>
              <a:rPr lang="en-GB" sz="900">
                <a:solidFill>
                  <a:schemeClr val="lt1"/>
                </a:solidFill>
              </a:rPr>
              <a:t>This technique changes unwanted behaviors by replacing them with desirable ones.</a:t>
            </a:r>
            <a:endParaRPr sz="900">
              <a:solidFill>
                <a:schemeClr val="lt1"/>
              </a:solidFill>
            </a:endParaRPr>
          </a:p>
          <a:p>
            <a:pPr marL="342900" lvl="0" indent="-200025" algn="l" rtl="0">
              <a:spcBef>
                <a:spcPts val="800"/>
              </a:spcBef>
              <a:spcAft>
                <a:spcPts val="0"/>
              </a:spcAft>
              <a:buClr>
                <a:schemeClr val="accent1"/>
              </a:buClr>
              <a:buSzPts val="900"/>
              <a:buChar char="●"/>
            </a:pPr>
            <a:r>
              <a:rPr lang="en-GB" sz="900">
                <a:solidFill>
                  <a:schemeClr val="lt1"/>
                </a:solidFill>
              </a:rPr>
              <a:t>Participants visualize the unwanted behavior alongside a negative image.</a:t>
            </a:r>
            <a:endParaRPr sz="900">
              <a:solidFill>
                <a:schemeClr val="lt1"/>
              </a:solidFill>
            </a:endParaRPr>
          </a:p>
          <a:p>
            <a:pPr marL="342900" lvl="0" indent="-200025" algn="l" rtl="0">
              <a:spcBef>
                <a:spcPts val="800"/>
              </a:spcBef>
              <a:spcAft>
                <a:spcPts val="0"/>
              </a:spcAft>
              <a:buClr>
                <a:schemeClr val="accent1"/>
              </a:buClr>
              <a:buSzPts val="900"/>
              <a:buChar char="●"/>
            </a:pPr>
            <a:r>
              <a:rPr lang="en-GB" sz="900">
                <a:solidFill>
                  <a:schemeClr val="lt1"/>
                </a:solidFill>
              </a:rPr>
              <a:t>They then replace it with a positive image of the desired behavior, creating a 'swish' effect.</a:t>
            </a:r>
            <a:endParaRPr sz="900">
              <a:solidFill>
                <a:schemeClr val="lt1"/>
              </a:solidFill>
            </a:endParaRPr>
          </a:p>
          <a:p>
            <a:pPr marL="342900" lvl="0" indent="-200025" algn="l" rtl="0">
              <a:spcBef>
                <a:spcPts val="800"/>
              </a:spcBef>
              <a:spcAft>
                <a:spcPts val="800"/>
              </a:spcAft>
              <a:buClr>
                <a:schemeClr val="accent1"/>
              </a:buClr>
              <a:buSzPts val="900"/>
              <a:buChar char="●"/>
            </a:pPr>
            <a:r>
              <a:rPr lang="en-GB" sz="900">
                <a:solidFill>
                  <a:schemeClr val="lt1"/>
                </a:solidFill>
              </a:rPr>
              <a:t>This process helps in creating a strong association with positive actions.</a:t>
            </a:r>
            <a:endParaRPr sz="900">
              <a:solidFill>
                <a:schemeClr val="lt1"/>
              </a:solidFill>
            </a:endParaRPr>
          </a:p>
        </p:txBody>
      </p:sp>
      <p:sp>
        <p:nvSpPr>
          <p:cNvPr id="274" name="Google Shape;274;p41" descr="header_1"/>
          <p:cNvSpPr txBox="1"/>
          <p:nvPr>
            <p:ph type="subTitle" idx="4294967295"/>
          </p:nvPr>
        </p:nvSpPr>
        <p:spPr>
          <a:xfrm>
            <a:off x="348525" y="2934350"/>
            <a:ext cx="6201000" cy="4365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a:solidFill>
                  <a:schemeClr val="accent4"/>
                </a:solidFill>
                <a:latin typeface="Noto Sans" panose="020B0502040504020204"/>
                <a:ea typeface="Noto Sans" panose="020B0502040504020204"/>
                <a:cs typeface="Noto Sans" panose="020B0502040504020204"/>
                <a:sym typeface="Noto Sans" panose="020B0502040504020204"/>
              </a:rPr>
              <a:t>Timelines</a:t>
            </a:r>
            <a:endParaRPr sz="1200">
              <a:solidFill>
                <a:schemeClr val="accent4"/>
              </a:solidFill>
              <a:latin typeface="Noto Sans" panose="020B0502040504020204"/>
              <a:ea typeface="Noto Sans" panose="020B0502040504020204"/>
              <a:cs typeface="Noto Sans" panose="020B0502040504020204"/>
              <a:sym typeface="Noto Sans" panose="020B0502040504020204"/>
            </a:endParaRPr>
          </a:p>
        </p:txBody>
      </p:sp>
      <p:sp>
        <p:nvSpPr>
          <p:cNvPr id="275" name="Google Shape;275;p41" descr="detail_1"/>
          <p:cNvSpPr txBox="1"/>
          <p:nvPr>
            <p:ph type="body" idx="1"/>
          </p:nvPr>
        </p:nvSpPr>
        <p:spPr>
          <a:xfrm>
            <a:off x="707232" y="3370800"/>
            <a:ext cx="6632400" cy="13536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Clr>
                <a:schemeClr val="accent1"/>
              </a:buClr>
              <a:buSzPts val="1000"/>
              <a:buChar char="●"/>
            </a:pPr>
            <a:r>
              <a:rPr lang="en-GB" sz="1000">
                <a:solidFill>
                  <a:schemeClr val="lt1"/>
                </a:solidFill>
              </a:rPr>
              <a:t>Timelines facilitate visualization of past, present, and future experiences.</a:t>
            </a:r>
            <a:endParaRPr sz="1000">
              <a:solidFill>
                <a:schemeClr val="lt1"/>
              </a:solidFill>
            </a:endParaRPr>
          </a:p>
          <a:p>
            <a:pPr marL="342900" lvl="0" indent="-206375" algn="l" rtl="0">
              <a:spcBef>
                <a:spcPts val="800"/>
              </a:spcBef>
              <a:spcAft>
                <a:spcPts val="0"/>
              </a:spcAft>
              <a:buClr>
                <a:schemeClr val="accent1"/>
              </a:buClr>
              <a:buSzPts val="1000"/>
              <a:buChar char="●"/>
            </a:pPr>
            <a:r>
              <a:rPr lang="en-GB" sz="1000">
                <a:solidFill>
                  <a:schemeClr val="lt1"/>
                </a:solidFill>
              </a:rPr>
              <a:t>Participants create a timeline of significant life events to identify patterns.</a:t>
            </a:r>
            <a:endParaRPr sz="1000">
              <a:solidFill>
                <a:schemeClr val="lt1"/>
              </a:solidFill>
            </a:endParaRPr>
          </a:p>
          <a:p>
            <a:pPr marL="342900" lvl="0" indent="-206375" algn="l" rtl="0">
              <a:spcBef>
                <a:spcPts val="800"/>
              </a:spcBef>
              <a:spcAft>
                <a:spcPts val="0"/>
              </a:spcAft>
              <a:buClr>
                <a:schemeClr val="accent1"/>
              </a:buClr>
              <a:buSzPts val="1000"/>
              <a:buChar char="●"/>
            </a:pPr>
            <a:r>
              <a:rPr lang="en-GB" sz="1000">
                <a:solidFill>
                  <a:schemeClr val="lt1"/>
                </a:solidFill>
              </a:rPr>
              <a:t>This technique allows for reframing and goal setting based on past experiences.</a:t>
            </a:r>
            <a:endParaRPr sz="1000">
              <a:solidFill>
                <a:schemeClr val="lt1"/>
              </a:solidFill>
            </a:endParaRPr>
          </a:p>
          <a:p>
            <a:pPr marL="342900" lvl="0" indent="-206375" algn="l" rtl="0">
              <a:spcBef>
                <a:spcPts val="800"/>
              </a:spcBef>
              <a:spcAft>
                <a:spcPts val="800"/>
              </a:spcAft>
              <a:buClr>
                <a:schemeClr val="accent1"/>
              </a:buClr>
              <a:buSzPts val="1000"/>
              <a:buChar char="●"/>
            </a:pPr>
            <a:r>
              <a:rPr lang="en-GB" sz="1000">
                <a:solidFill>
                  <a:schemeClr val="lt1"/>
                </a:solidFill>
              </a:rPr>
              <a:t>It aids in understanding how past events influence current behaviors.</a:t>
            </a:r>
            <a:endParaRPr sz="1000">
              <a:solidFill>
                <a:schemeClr val="lt1"/>
              </a:solidFill>
            </a:endParaRPr>
          </a:p>
        </p:txBody>
      </p:sp>
      <p:sp>
        <p:nvSpPr>
          <p:cNvPr id="276" name="Google Shape;276;p41"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000" b="1">
                <a:latin typeface="Bodoni Moda"/>
                <a:ea typeface="Bodoni Moda"/>
                <a:cs typeface="Bodoni Moda"/>
                <a:sym typeface="Bodoni Moda"/>
              </a:rPr>
              <a:t>Advanced Techniques: Swish Patterns and Timelines</a:t>
            </a:r>
            <a:endParaRPr sz="2000" b="1">
              <a:solidFill>
                <a:schemeClr val="lt1"/>
              </a:solidFill>
              <a:latin typeface="Bodoni Moda"/>
              <a:ea typeface="Bodoni Moda"/>
              <a:cs typeface="Bodoni Moda"/>
              <a:sym typeface="Bodoni Moda"/>
            </a:endParaRPr>
          </a:p>
        </p:txBody>
      </p:sp>
      <p:sp>
        <p:nvSpPr>
          <p:cNvPr id="277" name="Google Shape;277;p41"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Techniques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78" name="Google Shape;278;p41"/>
          <p:cNvGrpSpPr/>
          <p:nvPr/>
        </p:nvGrpSpPr>
        <p:grpSpPr>
          <a:xfrm>
            <a:off x="6892000" y="340475"/>
            <a:ext cx="2057400" cy="1033200"/>
            <a:chOff x="6922975" y="1548525"/>
            <a:chExt cx="2057400" cy="1033200"/>
          </a:xfrm>
        </p:grpSpPr>
        <p:grpSp>
          <p:nvGrpSpPr>
            <p:cNvPr id="279" name="Google Shape;279;p41"/>
            <p:cNvGrpSpPr/>
            <p:nvPr/>
          </p:nvGrpSpPr>
          <p:grpSpPr>
            <a:xfrm>
              <a:off x="6922975" y="1548525"/>
              <a:ext cx="2057400" cy="1033200"/>
              <a:chOff x="6172200" y="152400"/>
              <a:chExt cx="2057400" cy="1033200"/>
            </a:xfrm>
          </p:grpSpPr>
          <p:sp>
            <p:nvSpPr>
              <p:cNvPr id="280" name="Google Shape;280;p41"/>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81" name="Google Shape;281;p41"/>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82" name="Google Shape;282;p41"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how Swish Patterns and Timelines can be applied in real-life situations for better understanding.</a:t>
              </a:r>
              <a:endParaRPr sz="800">
                <a:latin typeface="Inter" panose="02000503000000020004"/>
                <a:ea typeface="Inter" panose="02000503000000020004"/>
                <a:cs typeface="Inter" panose="02000503000000020004"/>
                <a:sym typeface="Inter" panose="02000503000000020004"/>
              </a:endParaRPr>
            </a:p>
          </p:txBody>
        </p:sp>
        <p:pic>
          <p:nvPicPr>
            <p:cNvPr id="283" name="Google Shape;283;p41"/>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284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87" name="Shape 287"/>
        <p:cNvGrpSpPr/>
        <p:nvPr/>
      </p:nvGrpSpPr>
      <p:grpSpPr>
        <a:xfrm>
          <a:off x="0" y="0"/>
          <a:ext cx="0" cy="0"/>
          <a:chOff x="0" y="0"/>
          <a:chExt cx="0" cy="0"/>
        </a:xfrm>
      </p:grpSpPr>
      <p:sp>
        <p:nvSpPr>
          <p:cNvPr id="288" name="Google Shape;288;p42" descr="header_0"/>
          <p:cNvSpPr txBox="1"/>
          <p:nvPr>
            <p:ph type="subTitle" idx="4294967295"/>
          </p:nvPr>
        </p:nvSpPr>
        <p:spPr>
          <a:xfrm>
            <a:off x="348525" y="1241401"/>
            <a:ext cx="27312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Use of Metaphors</a:t>
            </a:r>
            <a:endParaRPr sz="1200" b="1">
              <a:solidFill>
                <a:schemeClr val="lt1"/>
              </a:solidFill>
            </a:endParaRPr>
          </a:p>
        </p:txBody>
      </p:sp>
      <p:sp>
        <p:nvSpPr>
          <p:cNvPr id="289" name="Google Shape;289;p42" descr="detail_0"/>
          <p:cNvSpPr txBox="1"/>
          <p:nvPr>
            <p:ph type="body" idx="1"/>
          </p:nvPr>
        </p:nvSpPr>
        <p:spPr>
          <a:xfrm>
            <a:off x="3200075" y="1241325"/>
            <a:ext cx="55953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Using metaphors can help convey complex ideas and facilitate emotional connections. Practitioners craft or share stories that illustrate specific lessons or insights, aiding individuals in understanding and integrating new concepts.</a:t>
            </a:r>
            <a:endParaRPr sz="1200">
              <a:solidFill>
                <a:schemeClr val="lt1"/>
              </a:solidFill>
            </a:endParaRPr>
          </a:p>
        </p:txBody>
      </p:sp>
      <p:sp>
        <p:nvSpPr>
          <p:cNvPr id="290" name="Google Shape;290;p42" descr="header_1"/>
          <p:cNvSpPr txBox="1"/>
          <p:nvPr>
            <p:ph type="subTitle" idx="4294967295"/>
          </p:nvPr>
        </p:nvSpPr>
        <p:spPr>
          <a:xfrm>
            <a:off x="348500" y="2427802"/>
            <a:ext cx="27312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Role Playing Techniques</a:t>
            </a:r>
            <a:endParaRPr sz="1200" b="1">
              <a:solidFill>
                <a:schemeClr val="lt1"/>
              </a:solidFill>
            </a:endParaRPr>
          </a:p>
        </p:txBody>
      </p:sp>
      <p:sp>
        <p:nvSpPr>
          <p:cNvPr id="291" name="Google Shape;291;p42" descr="detail_1"/>
          <p:cNvSpPr txBox="1"/>
          <p:nvPr>
            <p:ph type="body" idx="1"/>
          </p:nvPr>
        </p:nvSpPr>
        <p:spPr>
          <a:xfrm>
            <a:off x="3200050" y="2427726"/>
            <a:ext cx="55953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Roleplaying allows individuals to practice new behaviors in a safe environment. Participants take on different roles to simulate real-life situations, enabling them to experiment with communication styles and strategies.</a:t>
            </a:r>
            <a:endParaRPr sz="1200">
              <a:solidFill>
                <a:schemeClr val="lt1"/>
              </a:solidFill>
            </a:endParaRPr>
          </a:p>
        </p:txBody>
      </p:sp>
      <p:sp>
        <p:nvSpPr>
          <p:cNvPr id="292" name="Google Shape;292;p42" descr="header_2"/>
          <p:cNvSpPr txBox="1"/>
          <p:nvPr>
            <p:ph type="subTitle" idx="4294967295"/>
          </p:nvPr>
        </p:nvSpPr>
        <p:spPr>
          <a:xfrm>
            <a:off x="348500" y="3614269"/>
            <a:ext cx="27312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Impact on Learning and Change</a:t>
            </a:r>
            <a:endParaRPr sz="1200" b="1">
              <a:solidFill>
                <a:schemeClr val="lt1"/>
              </a:solidFill>
            </a:endParaRPr>
          </a:p>
        </p:txBody>
      </p:sp>
      <p:sp>
        <p:nvSpPr>
          <p:cNvPr id="293" name="Google Shape;293;p42" descr="detail_2"/>
          <p:cNvSpPr txBox="1"/>
          <p:nvPr>
            <p:ph type="body" idx="1"/>
          </p:nvPr>
        </p:nvSpPr>
        <p:spPr>
          <a:xfrm>
            <a:off x="3200050" y="3614193"/>
            <a:ext cx="55953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Both storytelling and role playing enhance engagement in the learning process, making it easier for individuals to internalize concepts and apply them in real-world contexts.</a:t>
            </a:r>
            <a:endParaRPr sz="1200">
              <a:solidFill>
                <a:schemeClr val="lt1"/>
              </a:solidFill>
            </a:endParaRPr>
          </a:p>
        </p:txBody>
      </p:sp>
      <p:sp>
        <p:nvSpPr>
          <p:cNvPr id="294" name="Google Shape;294;p42" descr="title"/>
          <p:cNvSpPr txBox="1"/>
          <p:nvPr>
            <p:ph type="title"/>
          </p:nvPr>
        </p:nvSpPr>
        <p:spPr>
          <a:xfrm>
            <a:off x="348600" y="521275"/>
            <a:ext cx="83343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400" b="1">
                <a:latin typeface="Bodoni Moda"/>
                <a:ea typeface="Bodoni Moda"/>
                <a:cs typeface="Bodoni Moda"/>
                <a:sym typeface="Bodoni Moda"/>
              </a:rPr>
              <a:t>Metaphor, Storytelling, and Role Playing</a:t>
            </a:r>
            <a:endParaRPr sz="2400" b="1">
              <a:solidFill>
                <a:schemeClr val="lt1"/>
              </a:solidFill>
              <a:latin typeface="Bodoni Moda"/>
              <a:ea typeface="Bodoni Moda"/>
              <a:cs typeface="Bodoni Moda"/>
              <a:sym typeface="Bodoni Moda"/>
            </a:endParaRPr>
          </a:p>
        </p:txBody>
      </p:sp>
      <p:sp>
        <p:nvSpPr>
          <p:cNvPr id="295" name="Google Shape;295;p42" descr="chapter"/>
          <p:cNvSpPr txBox="1"/>
          <p:nvPr/>
        </p:nvSpPr>
        <p:spPr>
          <a:xfrm>
            <a:off x="348600" y="28007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Applications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grpSp>
        <p:nvGrpSpPr>
          <p:cNvPr id="296" name="Google Shape;296;p42"/>
          <p:cNvGrpSpPr/>
          <p:nvPr/>
        </p:nvGrpSpPr>
        <p:grpSpPr>
          <a:xfrm>
            <a:off x="6892000" y="111875"/>
            <a:ext cx="2057400" cy="1033200"/>
            <a:chOff x="6922975" y="1548525"/>
            <a:chExt cx="2057400" cy="1033200"/>
          </a:xfrm>
        </p:grpSpPr>
        <p:grpSp>
          <p:nvGrpSpPr>
            <p:cNvPr id="297" name="Google Shape;297;p42"/>
            <p:cNvGrpSpPr/>
            <p:nvPr/>
          </p:nvGrpSpPr>
          <p:grpSpPr>
            <a:xfrm>
              <a:off x="6922975" y="1548525"/>
              <a:ext cx="2057400" cy="1033200"/>
              <a:chOff x="6172200" y="152400"/>
              <a:chExt cx="2057400" cy="1033200"/>
            </a:xfrm>
          </p:grpSpPr>
          <p:sp>
            <p:nvSpPr>
              <p:cNvPr id="298" name="Google Shape;298;p42"/>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99" name="Google Shape;299;p4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00" name="Google Shape;300;p4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specific metaphors or role-playing scenarios to illustrate their effectiveness in NLP.</a:t>
              </a:r>
              <a:endParaRPr sz="800">
                <a:latin typeface="Inter" panose="02000503000000020004"/>
                <a:ea typeface="Inter" panose="02000503000000020004"/>
                <a:cs typeface="Inter" panose="02000503000000020004"/>
                <a:sym typeface="Inter" panose="02000503000000020004"/>
              </a:endParaRPr>
            </a:p>
          </p:txBody>
        </p:sp>
        <p:pic>
          <p:nvPicPr>
            <p:cNvPr id="301" name="Google Shape;301;p42"/>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2849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05" name="Shape 305"/>
        <p:cNvGrpSpPr/>
        <p:nvPr/>
      </p:nvGrpSpPr>
      <p:grpSpPr>
        <a:xfrm>
          <a:off x="0" y="0"/>
          <a:ext cx="0" cy="0"/>
          <a:chOff x="0" y="0"/>
          <a:chExt cx="0" cy="0"/>
        </a:xfrm>
      </p:grpSpPr>
      <p:sp>
        <p:nvSpPr>
          <p:cNvPr id="306" name="Google Shape;306;p43" descr="detail_0"/>
          <p:cNvSpPr txBox="1"/>
          <p:nvPr>
            <p:ph type="body" idx="1"/>
          </p:nvPr>
        </p:nvSpPr>
        <p:spPr>
          <a:xfrm>
            <a:off x="1669800" y="1854175"/>
            <a:ext cx="5804400" cy="2371200"/>
          </a:xfrm>
          <a:prstGeom prst="rect">
            <a:avLst/>
          </a:prstGeom>
        </p:spPr>
        <p:txBody>
          <a:bodyPr spcFirstLastPara="1" wrap="square" lIns="0" tIns="91425" rIns="91425" bIns="91425" anchor="t" anchorCtr="0">
            <a:noAutofit/>
          </a:bodyPr>
          <a:lstStyle/>
          <a:p>
            <a:pPr marL="0" lvl="0" indent="0" algn="ctr" rtl="0">
              <a:lnSpc>
                <a:spcPct val="115000"/>
              </a:lnSpc>
              <a:spcBef>
                <a:spcPts val="0"/>
              </a:spcBef>
              <a:spcAft>
                <a:spcPts val="1500"/>
              </a:spcAft>
              <a:buNone/>
            </a:pPr>
            <a:r>
              <a:rPr lang="en-GB">
                <a:solidFill>
                  <a:schemeClr val="lt1"/>
                </a:solidFill>
              </a:rPr>
              <a:t>Feedback and reflection are crucial components of Neuro Linguistic Programming (NLP) for fostering personal growth and enhancing self-awareness. Gathering feedback allows individuals to engage in self-reflection and seek insights from others about their behaviors and communication styles, facilitating continuous improvement. This process helps individuals identify patterns and beliefs, enabling them to reframe negative thoughts and reinforce positive behaviors, thus promoting meaningful transformation in their personal and professional lives.</a:t>
            </a:r>
            <a:endParaRPr>
              <a:solidFill>
                <a:schemeClr val="lt1"/>
              </a:solidFill>
            </a:endParaRPr>
          </a:p>
        </p:txBody>
      </p:sp>
      <p:sp>
        <p:nvSpPr>
          <p:cNvPr id="307" name="Google Shape;307;p43" descr="title"/>
          <p:cNvSpPr txBox="1"/>
          <p:nvPr>
            <p:ph type="title"/>
          </p:nvPr>
        </p:nvSpPr>
        <p:spPr>
          <a:xfrm>
            <a:off x="404850" y="521275"/>
            <a:ext cx="8334300" cy="572700"/>
          </a:xfrm>
          <a:prstGeom prst="rect">
            <a:avLst/>
          </a:prstGeom>
        </p:spPr>
        <p:txBody>
          <a:bodyPr spcFirstLastPara="1" wrap="square" lIns="0" tIns="91425" rIns="0" bIns="91425" anchor="b" anchorCtr="0">
            <a:noAutofit/>
          </a:bodyPr>
          <a:lstStyle/>
          <a:p>
            <a:pPr marL="0" lvl="0" indent="0" algn="ctr" rtl="0">
              <a:spcBef>
                <a:spcPts val="0"/>
              </a:spcBef>
              <a:spcAft>
                <a:spcPts val="0"/>
              </a:spcAft>
              <a:buSzPts val="990"/>
              <a:buNone/>
            </a:pPr>
            <a:r>
              <a:rPr lang="en-GB" sz="2400" b="1">
                <a:latin typeface="Bodoni Moda"/>
                <a:ea typeface="Bodoni Moda"/>
                <a:cs typeface="Bodoni Moda"/>
                <a:sym typeface="Bodoni Moda"/>
              </a:rPr>
              <a:t>Feedback and Reflection in NLP</a:t>
            </a:r>
            <a:endParaRPr sz="2400" b="1">
              <a:solidFill>
                <a:schemeClr val="lt1"/>
              </a:solidFill>
              <a:latin typeface="Bodoni Moda"/>
              <a:ea typeface="Bodoni Moda"/>
              <a:cs typeface="Bodoni Moda"/>
              <a:sym typeface="Bodoni Moda"/>
            </a:endParaRPr>
          </a:p>
        </p:txBody>
      </p:sp>
      <p:sp>
        <p:nvSpPr>
          <p:cNvPr id="308" name="Google Shape;308;p43" descr="chapter"/>
          <p:cNvSpPr txBox="1"/>
          <p:nvPr/>
        </p:nvSpPr>
        <p:spPr>
          <a:xfrm>
            <a:off x="2940300" y="280075"/>
            <a:ext cx="3263400" cy="241200"/>
          </a:xfrm>
          <a:prstGeom prst="rect">
            <a:avLst/>
          </a:prstGeom>
          <a:noFill/>
          <a:ln>
            <a:noFill/>
          </a:ln>
        </p:spPr>
        <p:txBody>
          <a:bodyPr spcFirstLastPara="1" wrap="square" lIns="0" tIns="91425" rIns="91425" bIns="91425" anchor="t" anchorCtr="0">
            <a:noAutofit/>
          </a:bodyPr>
          <a:lstStyle/>
          <a:p>
            <a:pPr marL="0" lvl="0" indent="0" algn="ctr"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Principles</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sp>
        <p:nvSpPr>
          <p:cNvPr id="309" name="Google Shape;309;p43"/>
          <p:cNvSpPr/>
          <p:nvPr/>
        </p:nvSpPr>
        <p:spPr>
          <a:xfrm>
            <a:off x="4531200" y="1433275"/>
            <a:ext cx="81600" cy="8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grpSp>
        <p:nvGrpSpPr>
          <p:cNvPr id="310" name="Google Shape;310;p43"/>
          <p:cNvGrpSpPr/>
          <p:nvPr/>
        </p:nvGrpSpPr>
        <p:grpSpPr>
          <a:xfrm>
            <a:off x="6892000" y="3769475"/>
            <a:ext cx="2057400" cy="1033200"/>
            <a:chOff x="6922975" y="1548525"/>
            <a:chExt cx="2057400" cy="1033200"/>
          </a:xfrm>
        </p:grpSpPr>
        <p:grpSp>
          <p:nvGrpSpPr>
            <p:cNvPr id="311" name="Google Shape;311;p43"/>
            <p:cNvGrpSpPr/>
            <p:nvPr/>
          </p:nvGrpSpPr>
          <p:grpSpPr>
            <a:xfrm>
              <a:off x="6922975" y="1548525"/>
              <a:ext cx="2057400" cy="1033200"/>
              <a:chOff x="6172200" y="152400"/>
              <a:chExt cx="2057400" cy="1033200"/>
            </a:xfrm>
          </p:grpSpPr>
          <p:sp>
            <p:nvSpPr>
              <p:cNvPr id="312" name="Google Shape;312;p43"/>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13" name="Google Shape;313;p43"/>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14" name="Google Shape;314;p43"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personal examples or case studies that illustrate the impact of feedback and reflection in NLP.</a:t>
              </a:r>
              <a:endParaRPr sz="800">
                <a:latin typeface="Inter" panose="02000503000000020004"/>
                <a:ea typeface="Inter" panose="02000503000000020004"/>
                <a:cs typeface="Inter" panose="02000503000000020004"/>
                <a:sym typeface="Inter" panose="02000503000000020004"/>
              </a:endParaRPr>
            </a:p>
          </p:txBody>
        </p:sp>
        <p:pic>
          <p:nvPicPr>
            <p:cNvPr id="315" name="Google Shape;315;p43"/>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28490"/>
            <a:ext cx="2733040" cy="778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319" name="Shape 319"/>
        <p:cNvGrpSpPr/>
        <p:nvPr/>
      </p:nvGrpSpPr>
      <p:grpSpPr>
        <a:xfrm>
          <a:off x="0" y="0"/>
          <a:ext cx="0" cy="0"/>
          <a:chOff x="0" y="0"/>
          <a:chExt cx="0" cy="0"/>
        </a:xfrm>
      </p:grpSpPr>
      <p:sp>
        <p:nvSpPr>
          <p:cNvPr id="320" name="Google Shape;320;p44"/>
          <p:cNvSpPr/>
          <p:nvPr/>
        </p:nvSpPr>
        <p:spPr>
          <a:xfrm>
            <a:off x="4577150" y="0"/>
            <a:ext cx="4565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eorgia" panose="02040502050405090303"/>
              <a:ea typeface="Georgia" panose="02040502050405090303"/>
              <a:cs typeface="Georgia" panose="02040502050405090303"/>
              <a:sym typeface="Georgia" panose="02040502050405090303"/>
            </a:endParaRPr>
          </a:p>
        </p:txBody>
      </p:sp>
      <p:sp>
        <p:nvSpPr>
          <p:cNvPr id="321" name="Google Shape;321;p44" descr="statement_0"/>
          <p:cNvSpPr txBox="1"/>
          <p:nvPr>
            <p:ph type="title"/>
          </p:nvPr>
        </p:nvSpPr>
        <p:spPr>
          <a:xfrm>
            <a:off x="348600" y="1253100"/>
            <a:ext cx="4230000" cy="3322800"/>
          </a:xfrm>
          <a:prstGeom prst="rect">
            <a:avLst/>
          </a:prstGeom>
        </p:spPr>
        <p:txBody>
          <a:bodyPr spcFirstLastPara="1" wrap="square" lIns="0" tIns="91425" rIns="0" bIns="91425" anchor="t" anchorCtr="0">
            <a:noAutofit/>
          </a:bodyPr>
          <a:lstStyle/>
          <a:p>
            <a:pPr marL="0" lvl="0" indent="0" algn="l" rtl="0">
              <a:spcBef>
                <a:spcPts val="0"/>
              </a:spcBef>
              <a:spcAft>
                <a:spcPts val="0"/>
              </a:spcAft>
              <a:buSzPts val="990"/>
              <a:buNone/>
            </a:pPr>
            <a:r>
              <a:rPr lang="en-GB" sz="3700" b="1">
                <a:latin typeface="Bodoni Moda"/>
                <a:ea typeface="Bodoni Moda"/>
                <a:cs typeface="Bodoni Moda"/>
                <a:sym typeface="Bodoni Moda"/>
              </a:rPr>
              <a:t>NLP techniques offer valuable tools for personal and professional development.</a:t>
            </a:r>
            <a:endParaRPr sz="3700" b="1">
              <a:latin typeface="Bodoni Moda"/>
              <a:ea typeface="Bodoni Moda"/>
              <a:cs typeface="Bodoni Moda"/>
              <a:sym typeface="Bodoni Moda"/>
            </a:endParaRPr>
          </a:p>
        </p:txBody>
      </p:sp>
      <p:sp>
        <p:nvSpPr>
          <p:cNvPr id="322" name="Google Shape;322;p44" descr="chapter"/>
          <p:cNvSpPr txBox="1"/>
          <p:nvPr/>
        </p:nvSpPr>
        <p:spPr>
          <a:xfrm>
            <a:off x="348600" y="674400"/>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b="1">
                <a:solidFill>
                  <a:schemeClr val="accent1"/>
                </a:solidFill>
                <a:latin typeface="Noto Sans" panose="020B0502040504020204"/>
                <a:ea typeface="Noto Sans" panose="020B0502040504020204"/>
                <a:cs typeface="Noto Sans" panose="020B0502040504020204"/>
                <a:sym typeface="Noto Sans" panose="020B0502040504020204"/>
              </a:rPr>
              <a:t>Conclusion</a:t>
            </a:r>
            <a:endParaRPr sz="1000" b="1">
              <a:solidFill>
                <a:schemeClr val="accent1"/>
              </a:solidFill>
              <a:latin typeface="Noto Sans" panose="020B0502040504020204"/>
              <a:ea typeface="Noto Sans" panose="020B0502040504020204"/>
              <a:cs typeface="Noto Sans" panose="020B0502040504020204"/>
              <a:sym typeface="Noto Sans" panose="020B0502040504020204"/>
            </a:endParaRPr>
          </a:p>
        </p:txBody>
      </p:sp>
      <p:cxnSp>
        <p:nvCxnSpPr>
          <p:cNvPr id="323" name="Google Shape;323;p44"/>
          <p:cNvCxnSpPr/>
          <p:nvPr/>
        </p:nvCxnSpPr>
        <p:spPr>
          <a:xfrm>
            <a:off x="4578600" y="224675"/>
            <a:ext cx="4341000" cy="0"/>
          </a:xfrm>
          <a:prstGeom prst="straightConnector1">
            <a:avLst/>
          </a:prstGeom>
          <a:noFill/>
          <a:ln w="9525" cap="flat" cmpd="sng">
            <a:solidFill>
              <a:schemeClr val="dk2"/>
            </a:solidFill>
            <a:prstDash val="solid"/>
            <a:round/>
            <a:headEnd type="none" w="med" len="med"/>
            <a:tailEnd type="none" w="med" len="med"/>
          </a:ln>
        </p:spPr>
      </p:cxnSp>
      <p:cxnSp>
        <p:nvCxnSpPr>
          <p:cNvPr id="324" name="Google Shape;324;p44"/>
          <p:cNvCxnSpPr/>
          <p:nvPr/>
        </p:nvCxnSpPr>
        <p:spPr>
          <a:xfrm>
            <a:off x="4578600" y="4915825"/>
            <a:ext cx="4341000" cy="0"/>
          </a:xfrm>
          <a:prstGeom prst="straightConnector1">
            <a:avLst/>
          </a:prstGeom>
          <a:noFill/>
          <a:ln w="9525" cap="flat" cmpd="sng">
            <a:solidFill>
              <a:schemeClr val="dk2"/>
            </a:solidFill>
            <a:prstDash val="solid"/>
            <a:round/>
            <a:headEnd type="none" w="med" len="med"/>
            <a:tailEnd type="none" w="med" len="med"/>
          </a:ln>
        </p:spPr>
      </p:cxnSp>
      <p:sp>
        <p:nvSpPr>
          <p:cNvPr id="325" name="Google Shape;325;p44" descr="detail_0"/>
          <p:cNvSpPr txBox="1"/>
          <p:nvPr>
            <p:ph type="body" idx="1"/>
          </p:nvPr>
        </p:nvSpPr>
        <p:spPr>
          <a:xfrm>
            <a:off x="4919000" y="2287900"/>
            <a:ext cx="3881700" cy="26079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1500"/>
              </a:spcAft>
              <a:buNone/>
            </a:pPr>
            <a:r>
              <a:rPr lang="en-GB" sz="1300">
                <a:solidFill>
                  <a:schemeClr val="lt1"/>
                </a:solidFill>
              </a:rPr>
              <a:t>Neuro Linguistic Programming (NLP) provides activities and techniques designed to facilitate personal growth, improve communication, and enable behavioral change. Techniques like anchoring, reframing, and visualization enhance self-awareness and emotional intelligence. By engaging in these methods, individuals can foster positive change and achieve their goals effectively, making NLP a versatile framework for transformation.</a:t>
            </a:r>
            <a:endParaRPr sz="1300">
              <a:solidFill>
                <a:schemeClr val="lt1"/>
              </a:solidFill>
            </a:endParaRPr>
          </a:p>
        </p:txBody>
      </p:sp>
      <p:grpSp>
        <p:nvGrpSpPr>
          <p:cNvPr id="326" name="Google Shape;326;p44"/>
          <p:cNvGrpSpPr/>
          <p:nvPr/>
        </p:nvGrpSpPr>
        <p:grpSpPr>
          <a:xfrm>
            <a:off x="6892000" y="340475"/>
            <a:ext cx="2057400" cy="1033200"/>
            <a:chOff x="6922975" y="1548525"/>
            <a:chExt cx="2057400" cy="1033200"/>
          </a:xfrm>
        </p:grpSpPr>
        <p:grpSp>
          <p:nvGrpSpPr>
            <p:cNvPr id="327" name="Google Shape;327;p44"/>
            <p:cNvGrpSpPr/>
            <p:nvPr/>
          </p:nvGrpSpPr>
          <p:grpSpPr>
            <a:xfrm>
              <a:off x="6922975" y="1548525"/>
              <a:ext cx="2057400" cy="1033200"/>
              <a:chOff x="6172200" y="152400"/>
              <a:chExt cx="2057400" cy="1033200"/>
            </a:xfrm>
          </p:grpSpPr>
          <p:sp>
            <p:nvSpPr>
              <p:cNvPr id="328" name="Google Shape;328;p44"/>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29" name="Google Shape;329;p4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30" name="Google Shape;330;p4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adding specific examples or case studies of individuals or organizations that have successfully implemented NLP techniques to illustrate their benefits.</a:t>
              </a:r>
              <a:endParaRPr sz="700">
                <a:latin typeface="Inter" panose="02000503000000020004"/>
                <a:ea typeface="Inter" panose="02000503000000020004"/>
                <a:cs typeface="Inter" panose="02000503000000020004"/>
                <a:sym typeface="Inter" panose="02000503000000020004"/>
              </a:endParaRPr>
            </a:p>
          </p:txBody>
        </p:sp>
        <p:pic>
          <p:nvPicPr>
            <p:cNvPr id="331" name="Google Shape;331;p44"/>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428490"/>
            <a:ext cx="2733040" cy="7785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bg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bg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ditorial">
  <a:themeElements>
    <a:clrScheme name="Custom">
      <a:dk1>
        <a:srgbClr val="FFFFFF"/>
      </a:dk1>
      <a:lt1>
        <a:srgbClr val="0E0E0E"/>
      </a:lt1>
      <a:dk2>
        <a:srgbClr val="434343"/>
      </a:dk2>
      <a:lt2>
        <a:srgbClr val="E6E6E6"/>
      </a:lt2>
      <a:accent1>
        <a:srgbClr val="D60202"/>
      </a:accent1>
      <a:accent2>
        <a:srgbClr val="C4E0AD"/>
      </a:accent2>
      <a:accent3>
        <a:srgbClr val="F8F186"/>
      </a:accent3>
      <a:accent4>
        <a:srgbClr val="406E8E"/>
      </a:accent4>
      <a:accent5>
        <a:srgbClr val="7DA4B3"/>
      </a:accent5>
      <a:accent6>
        <a:srgbClr val="F4F5F6"/>
      </a:accent6>
      <a:hlink>
        <a:srgbClr val="453B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9301</Words>
  <Application>WPS Writer</Application>
  <PresentationFormat/>
  <Paragraphs>218</Paragraphs>
  <Slides>15</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15</vt:i4>
      </vt:variant>
    </vt:vector>
  </HeadingPairs>
  <TitlesOfParts>
    <vt:vector size="38" baseType="lpstr">
      <vt:lpstr>Arial</vt:lpstr>
      <vt:lpstr>SimSun</vt:lpstr>
      <vt:lpstr>Wingdings</vt:lpstr>
      <vt:lpstr>Arial</vt:lpstr>
      <vt:lpstr>Bodoni Moda ExtraBold</vt:lpstr>
      <vt:lpstr>Georgia</vt:lpstr>
      <vt:lpstr>Inter Medium</vt:lpstr>
      <vt:lpstr>Inter</vt:lpstr>
      <vt:lpstr>Bodoni Moda</vt:lpstr>
      <vt:lpstr>Noto Sans</vt:lpstr>
      <vt:lpstr>Microsoft YaHei</vt:lpstr>
      <vt:lpstr>汉仪旗黑</vt:lpstr>
      <vt:lpstr>Arial Unicode MS</vt:lpstr>
      <vt:lpstr>Libre Franklin Medium</vt:lpstr>
      <vt:lpstr>Thonburi</vt:lpstr>
      <vt:lpstr>Hanken Grotesk</vt:lpstr>
      <vt:lpstr>Heiti SC Medium</vt:lpstr>
      <vt:lpstr>Calibri</vt:lpstr>
      <vt:lpstr>Helvetica Neue</vt:lpstr>
      <vt:lpstr>Outfit</vt:lpstr>
      <vt:lpstr>苹方-简</vt:lpstr>
      <vt:lpstr>Simple Light</vt:lpstr>
      <vt:lpstr>Editorial</vt:lpstr>
      <vt:lpstr>Introduction to NLP</vt:lpstr>
      <vt:lpstr>PowerPoint 演示文稿</vt:lpstr>
      <vt:lpstr>PowerPoint 演示文稿</vt:lpstr>
      <vt:lpstr>Understanding the Basics of NLP</vt:lpstr>
      <vt:lpstr>Purpose of NLP</vt:lpstr>
      <vt:lpstr>History of NLP</vt:lpstr>
      <vt:lpstr>Principles of NLP</vt:lpstr>
      <vt:lpstr>Applications of NLP in Everyday Life</vt:lpstr>
      <vt:lpstr>Key NLP Techniques: Anchoring and Reframing</vt:lpstr>
      <vt:lpstr>Visualization and Modeling in NLP</vt:lpstr>
      <vt:lpstr>Advanced Techniques: Swish Patterns and Timelines</vt:lpstr>
      <vt:lpstr>Metaphor, Storytelling, and Role Playing</vt:lpstr>
      <vt:lpstr>Feedback and Reflection in NLP</vt:lpstr>
      <vt:lpstr>NLP techniques offer valuable tools for personal and professional development.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dc:title>
  <dc:creator/>
  <cp:lastModifiedBy>apple</cp:lastModifiedBy>
  <cp:revision>1</cp:revision>
  <dcterms:created xsi:type="dcterms:W3CDTF">2024-11-04T07:03:38Z</dcterms:created>
  <dcterms:modified xsi:type="dcterms:W3CDTF">2024-11-04T07:03:38Z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D3DE6153C61E0328C9712867788F7B8B_43</vt:lpwstr>
  </property>
  <property fmtid="{D5CDD505-2E9C-101B-9397-08002B2CF9AE}" pid="3" name="KSOProductBuildVer">
    <vt:lpwstr>1033-6.10.1.8203</vt:lpwstr>
  </property>
</Properties>
</file>
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27"/>
  </p:handoutMasterIdLst>
  <p:sldIdLst>
    <p:sldId id="256" r:id="rId3"/>
    <p:sldId id="257" r:id="rId4"/>
    <p:sldId id="291" r:id="rId5"/>
    <p:sldId id="273" r:id="rId6"/>
    <p:sldId id="258" r:id="rId7"/>
    <p:sldId id="259" r:id="rId8"/>
    <p:sldId id="260" r:id="rId9"/>
    <p:sldId id="262" r:id="rId10"/>
    <p:sldId id="263" r:id="rId11"/>
    <p:sldId id="261" r:id="rId12"/>
    <p:sldId id="264" r:id="rId13"/>
    <p:sldId id="294" r:id="rId14"/>
    <p:sldId id="265" r:id="rId15"/>
    <p:sldId id="292" r:id="rId16"/>
    <p:sldId id="293" r:id="rId17"/>
    <p:sldId id="266" r:id="rId18"/>
    <p:sldId id="267" r:id="rId19"/>
    <p:sldId id="269" r:id="rId20"/>
    <p:sldId id="268" r:id="rId21"/>
    <p:sldId id="271" r:id="rId22"/>
    <p:sldId id="272" r:id="rId23"/>
    <p:sldId id="274" r:id="rId24"/>
    <p:sldId id="27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lighthouse"/>
          <p:cNvPicPr>
            <a:picLocks noChangeAspect="1"/>
          </p:cNvPicPr>
          <p:nvPr/>
        </p:nvPicPr>
        <p:blipFill>
          <a:blip r:embed="rId1">
            <a:alphaModFix amt="70000"/>
          </a:blip>
          <a:stretch>
            <a:fillRect/>
          </a:stretch>
        </p:blipFill>
        <p:spPr>
          <a:xfrm>
            <a:off x="0" y="0"/>
            <a:ext cx="12192000" cy="7626985"/>
          </a:xfrm>
          <a:prstGeom prst="rect">
            <a:avLst/>
          </a:prstGeom>
          <a:ln>
            <a:solidFill>
              <a:schemeClr val="tx1"/>
            </a:solidFill>
          </a:ln>
          <a:effectLst/>
        </p:spPr>
      </p:pic>
      <p:sp>
        <p:nvSpPr>
          <p:cNvPr id="2" name="Title 1"/>
          <p:cNvSpPr>
            <a:spLocks noGrp="1"/>
          </p:cNvSpPr>
          <p:nvPr>
            <p:ph type="ctrTitle"/>
          </p:nvPr>
        </p:nvSpPr>
        <p:spPr>
          <a:xfrm>
            <a:off x="3124200" y="1343660"/>
            <a:ext cx="9516745" cy="2387600"/>
          </a:xfrm>
        </p:spPr>
        <p:txBody>
          <a:bodyPr>
            <a:normAutofit fontScale="90000"/>
          </a:bodyPr>
          <a:p>
            <a:r>
              <a:rPr lang="en-US" sz="8890" u="sng">
                <a:ln/>
                <a:solidFill>
                  <a:schemeClr val="tx1"/>
                </a:solidFill>
                <a:effectLst>
                  <a:outerShdw blurRad="38100" dist="19050" dir="2700000" algn="tl" rotWithShape="0">
                    <a:schemeClr val="dk1">
                      <a:alpha val="40000"/>
                      <a:alpha val="40000"/>
                    </a:schemeClr>
                  </a:outerShdw>
                </a:effectLst>
              </a:rPr>
              <a:t>Project Lighthouse</a:t>
            </a:r>
            <a:endParaRPr lang="en-US" sz="8890" u="sng">
              <a:ln/>
              <a:solidFill>
                <a:schemeClr val="tx1"/>
              </a:solidFill>
              <a:effectLst>
                <a:outerShdw blurRad="38100" dist="19050" dir="2700000" algn="tl" rotWithShape="0">
                  <a:schemeClr val="dk1">
                    <a:alpha val="40000"/>
                    <a:alpha val="40000"/>
                  </a:schemeClr>
                </a:outerShdw>
              </a:effectLst>
            </a:endParaRPr>
          </a:p>
        </p:txBody>
      </p:sp>
      <p:sp>
        <p:nvSpPr>
          <p:cNvPr id="3" name="Subtitle 2"/>
          <p:cNvSpPr>
            <a:spLocks noGrp="1"/>
          </p:cNvSpPr>
          <p:nvPr>
            <p:ph type="subTitle" idx="1"/>
          </p:nvPr>
        </p:nvSpPr>
        <p:spPr>
          <a:xfrm>
            <a:off x="3291840" y="3602038"/>
            <a:ext cx="9144000" cy="1655762"/>
          </a:xfrm>
        </p:spPr>
        <p:txBody>
          <a:bodyPr/>
          <a:p>
            <a:r>
              <a:rPr lang="en-US" sz="4000" b="1">
                <a:ln/>
                <a:solidFill>
                  <a:schemeClr val="tx2"/>
                </a:solidFill>
                <a:effectLst>
                  <a:outerShdw blurRad="38100" dist="25400" dir="5400000" algn="ctr" rotWithShape="0">
                    <a:srgbClr val="6E747A">
                      <a:alpha val="43000"/>
                      <a:alpha val="43000"/>
                    </a:srgbClr>
                  </a:outerShdw>
                </a:effectLst>
              </a:rPr>
              <a:t>Transformation Through Education</a:t>
            </a:r>
            <a:endParaRPr lang="en-US" sz="4000" b="1">
              <a:ln/>
              <a:solidFill>
                <a:schemeClr val="tx2"/>
              </a:solidFill>
              <a:effectLst>
                <a:outerShdw blurRad="38100" dist="25400" dir="5400000" algn="ctr" rotWithShape="0">
                  <a:srgbClr val="6E747A">
                    <a:alpha val="43000"/>
                    <a:alpha val="43000"/>
                  </a:srgbClr>
                </a:outerShdw>
              </a:effectLst>
            </a:endParaRPr>
          </a:p>
        </p:txBody>
      </p:sp>
      <p:sp>
        <p:nvSpPr>
          <p:cNvPr id="4" name="Text Box 3"/>
          <p:cNvSpPr txBox="1"/>
          <p:nvPr/>
        </p:nvSpPr>
        <p:spPr>
          <a:xfrm>
            <a:off x="0" y="6216650"/>
            <a:ext cx="12192000" cy="645160"/>
          </a:xfrm>
          <a:prstGeom prst="rect">
            <a:avLst/>
          </a:prstGeom>
          <a:noFill/>
        </p:spPr>
        <p:txBody>
          <a:bodyPr wrap="square" rtlCol="0">
            <a:spAutoFit/>
          </a:bodyPr>
          <a:p>
            <a:pPr algn="ctr"/>
            <a:r>
              <a:rPr lang="en-US">
                <a:solidFill>
                  <a:schemeClr val="bg1"/>
                </a:solidFill>
              </a:rPr>
              <a:t>Presented by Dhaniyal Mohammed Shahid.</a:t>
            </a:r>
            <a:endParaRPr lang="en-US">
              <a:solidFill>
                <a:schemeClr val="bg1"/>
              </a:solidFill>
            </a:endParaRPr>
          </a:p>
          <a:p>
            <a:pPr algn="ctr"/>
            <a:r>
              <a:rPr lang="en-US">
                <a:solidFill>
                  <a:schemeClr val="bg1"/>
                </a:solidFill>
              </a:rPr>
              <a:t>Copyright Edunext School Services - 2024-2025</a:t>
            </a:r>
            <a:endParaRPr lang="en-US">
              <a:solidFill>
                <a:schemeClr val="bg1"/>
              </a:solidFill>
            </a:endParaRPr>
          </a:p>
        </p:txBody>
      </p:sp>
      <p:sp>
        <p:nvSpPr>
          <p:cNvPr id="12" name="Text Box 11"/>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rPr>
              <a:t>Education</a:t>
            </a:r>
            <a:endParaRPr lang="en-US">
              <a:solidFill>
                <a:schemeClr val="accent1"/>
              </a:solidFill>
              <a:effectLst>
                <a:outerShdw blurRad="38100" dist="25400" dir="5400000" algn="ctr" rotWithShape="0">
                  <a:srgbClr val="6E747A">
                    <a:alpha val="43000"/>
                    <a:alpha val="43000"/>
                  </a:srgbClr>
                </a:outerShdw>
              </a:effectLst>
            </a:endParaRPr>
          </a:p>
        </p:txBody>
      </p:sp>
      <p:sp>
        <p:nvSpPr>
          <p:cNvPr id="3" name="Content Placeholder 2"/>
          <p:cNvSpPr>
            <a:spLocks noGrp="1"/>
          </p:cNvSpPr>
          <p:nvPr>
            <p:ph idx="1"/>
          </p:nvPr>
        </p:nvSpPr>
        <p:spPr>
          <a:xfrm>
            <a:off x="838200" y="1691640"/>
            <a:ext cx="5553710" cy="4485640"/>
          </a:xfrm>
        </p:spPr>
        <p:txBody>
          <a:bodyPr>
            <a:normAutofit fontScale="70000"/>
          </a:bodyPr>
          <a:p>
            <a:pPr marL="0" indent="0">
              <a:buNone/>
            </a:pPr>
            <a:r>
              <a:rPr lang="en-US">
                <a:solidFill>
                  <a:schemeClr val="accent6"/>
                </a:solidFill>
              </a:rPr>
              <a:t>The word "education" has its roots in the Latin word *educatio*, which comes from *educare*, meaning "to rear, to bring up, to educate." The prefix *e-* means "out" or "from," and *ducere* means "to lead." Thus, *educare* can be interpreted as "to lead out" or "to draw out," reflecting the idea of nurturing and developing a person's potential. </a:t>
            </a:r>
            <a:endParaRPr lang="en-US">
              <a:solidFill>
                <a:schemeClr val="accent6"/>
              </a:solidFill>
            </a:endParaRPr>
          </a:p>
          <a:p>
            <a:endParaRPr lang="en-US">
              <a:solidFill>
                <a:schemeClr val="accent6"/>
              </a:solidFill>
            </a:endParaRPr>
          </a:p>
          <a:p>
            <a:pPr marL="0" indent="0">
              <a:buNone/>
            </a:pPr>
            <a:r>
              <a:rPr lang="en-US">
                <a:solidFill>
                  <a:schemeClr val="accent6"/>
                </a:solidFill>
              </a:rPr>
              <a:t>Over time, the term evolved through Old French and Middle English before settling into its modern form in English. The concept of education encompasses not only formal schooling but also the broader process of learning and personal development.</a:t>
            </a:r>
            <a:endParaRPr lang="en-US">
              <a:solidFill>
                <a:schemeClr val="accent6"/>
              </a:solidFill>
            </a:endParaRPr>
          </a:p>
        </p:txBody>
      </p:sp>
      <p:pic>
        <p:nvPicPr>
          <p:cNvPr id="4" name="Picture 3" descr="Education"/>
          <p:cNvPicPr>
            <a:picLocks noChangeAspect="1"/>
          </p:cNvPicPr>
          <p:nvPr/>
        </p:nvPicPr>
        <p:blipFill>
          <a:blip r:embed="rId1"/>
          <a:srcRect l="18862" r="12118"/>
          <a:stretch>
            <a:fillRect/>
          </a:stretch>
        </p:blipFill>
        <p:spPr>
          <a:xfrm>
            <a:off x="6558915" y="1691005"/>
            <a:ext cx="5358130" cy="4082415"/>
          </a:xfrm>
          <a:prstGeom prst="rect">
            <a:avLst/>
          </a:prstGeom>
        </p:spPr>
      </p:pic>
      <p:sp>
        <p:nvSpPr>
          <p:cNvPr id="12" name="Text Box 11"/>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rPr>
              <a:t>Lighthouse for Education</a:t>
            </a:r>
            <a:endParaRPr lang="en-US">
              <a:solidFill>
                <a:schemeClr val="accent1"/>
              </a:solidFill>
              <a:effectLst>
                <a:outerShdw blurRad="38100" dist="25400" dir="5400000" algn="ctr" rotWithShape="0">
                  <a:srgbClr val="6E747A">
                    <a:alpha val="43000"/>
                    <a:alpha val="43000"/>
                  </a:srgbClr>
                </a:outerShdw>
              </a:effectLst>
            </a:endParaRPr>
          </a:p>
        </p:txBody>
      </p:sp>
      <p:sp>
        <p:nvSpPr>
          <p:cNvPr id="3" name="Content Placeholder 2"/>
          <p:cNvSpPr>
            <a:spLocks noGrp="1"/>
          </p:cNvSpPr>
          <p:nvPr>
            <p:ph idx="1"/>
          </p:nvPr>
        </p:nvSpPr>
        <p:spPr>
          <a:xfrm>
            <a:off x="838200" y="1691640"/>
            <a:ext cx="5553710" cy="4485640"/>
          </a:xfrm>
        </p:spPr>
        <p:txBody>
          <a:bodyPr>
            <a:normAutofit fontScale="90000" lnSpcReduction="10000"/>
          </a:bodyPr>
          <a:p>
            <a:pPr marL="0" indent="0">
              <a:buNone/>
            </a:pPr>
            <a:r>
              <a:rPr lang="en-US">
                <a:solidFill>
                  <a:schemeClr val="accent6"/>
                </a:solidFill>
              </a:rPr>
              <a:t>"Lighthouse for Education" refers to MySkool’s various initiatives and programs aimed at guiding students and educators toward success and accomplishment. </a:t>
            </a:r>
            <a:endParaRPr lang="en-US">
              <a:solidFill>
                <a:schemeClr val="accent6"/>
              </a:solidFill>
            </a:endParaRPr>
          </a:p>
          <a:p>
            <a:pPr marL="0" indent="0">
              <a:buNone/>
            </a:pPr>
            <a:endParaRPr lang="en-US">
              <a:solidFill>
                <a:schemeClr val="accent6"/>
              </a:solidFill>
            </a:endParaRPr>
          </a:p>
          <a:p>
            <a:pPr marL="0" indent="0">
              <a:buNone/>
            </a:pPr>
            <a:r>
              <a:rPr lang="en-US">
                <a:solidFill>
                  <a:schemeClr val="accent6"/>
                </a:solidFill>
              </a:rPr>
              <a:t>It not only involves providing resources, support and  innovative strategies to improve learning outcomes. But also standing tall and bright as  lighthouse </a:t>
            </a:r>
            <a:r>
              <a:rPr lang="en-US">
                <a:solidFill>
                  <a:schemeClr val="accent6"/>
                </a:solidFill>
                <a:sym typeface="+mn-ea"/>
              </a:rPr>
              <a:t>in the midst of darkness </a:t>
            </a:r>
            <a:r>
              <a:rPr lang="en-US">
                <a:solidFill>
                  <a:schemeClr val="accent6"/>
                </a:solidFill>
              </a:rPr>
              <a:t>guiding lost souls home.</a:t>
            </a:r>
            <a:endParaRPr lang="en-US">
              <a:solidFill>
                <a:schemeClr val="accent6"/>
              </a:solidFill>
            </a:endParaRPr>
          </a:p>
          <a:p>
            <a:pPr marL="0" indent="0">
              <a:buNone/>
            </a:pPr>
            <a:endParaRPr lang="en-US">
              <a:solidFill>
                <a:schemeClr val="accent6"/>
              </a:solidFill>
            </a:endParaRPr>
          </a:p>
          <a:p>
            <a:pPr marL="0" indent="0">
              <a:buNone/>
            </a:pPr>
            <a:endParaRPr lang="en-US">
              <a:solidFill>
                <a:schemeClr val="accent6"/>
              </a:solidFill>
            </a:endParaRPr>
          </a:p>
        </p:txBody>
      </p:sp>
      <p:sp>
        <p:nvSpPr>
          <p:cNvPr id="12" name="Text Box 11"/>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pic>
        <p:nvPicPr>
          <p:cNvPr id="5" name="Picture 4" descr="lighthouse"/>
          <p:cNvPicPr>
            <a:picLocks noChangeAspect="1"/>
          </p:cNvPicPr>
          <p:nvPr/>
        </p:nvPicPr>
        <p:blipFill>
          <a:blip r:embed="rId1"/>
          <a:stretch>
            <a:fillRect/>
          </a:stretch>
        </p:blipFill>
        <p:spPr>
          <a:xfrm>
            <a:off x="6383655" y="1783080"/>
            <a:ext cx="5620385" cy="3740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sym typeface="+mn-ea"/>
              </a:rPr>
              <a:t>Safe harbour</a:t>
            </a:r>
            <a:endParaRPr lang="en-US">
              <a:solidFill>
                <a:schemeClr val="accent1"/>
              </a:solidFill>
              <a:effectLst>
                <a:outerShdw blurRad="38100" dist="25400" dir="5400000" algn="ctr" rotWithShape="0">
                  <a:srgbClr val="6E747A">
                    <a:alpha val="43000"/>
                    <a:alpha val="43000"/>
                  </a:srgbClr>
                </a:outerShdw>
              </a:effectLst>
              <a:sym typeface="+mn-ea"/>
            </a:endParaRPr>
          </a:p>
        </p:txBody>
      </p:sp>
      <p:sp>
        <p:nvSpPr>
          <p:cNvPr id="4" name="Text Box 3"/>
          <p:cNvSpPr txBox="1"/>
          <p:nvPr/>
        </p:nvSpPr>
        <p:spPr>
          <a:xfrm>
            <a:off x="471805" y="1372870"/>
            <a:ext cx="11143615" cy="4892675"/>
          </a:xfrm>
          <a:prstGeom prst="rect">
            <a:avLst/>
          </a:prstGeom>
          <a:noFill/>
        </p:spPr>
        <p:txBody>
          <a:bodyPr wrap="square" rtlCol="0" anchor="t">
            <a:spAutoFit/>
          </a:bodyPr>
          <a:p>
            <a:r>
              <a:rPr lang="en-US" sz="1200" b="1">
                <a:solidFill>
                  <a:schemeClr val="accent6"/>
                </a:solidFill>
                <a:sym typeface="+mn-ea"/>
              </a:rPr>
              <a:t>DISCLAIMER</a:t>
            </a:r>
            <a:endParaRPr lang="en-US" sz="1200">
              <a:solidFill>
                <a:schemeClr val="accent6"/>
              </a:solidFill>
            </a:endParaRPr>
          </a:p>
          <a:p>
            <a:endParaRPr lang="en-US" sz="1200">
              <a:solidFill>
                <a:schemeClr val="accent6"/>
              </a:solidFill>
            </a:endParaRPr>
          </a:p>
          <a:p>
            <a:r>
              <a:rPr lang="en-US" sz="1200">
                <a:solidFill>
                  <a:schemeClr val="accent6"/>
                </a:solidFill>
                <a:sym typeface="+mn-ea"/>
              </a:rPr>
              <a:t>This Presentation has been prepared by Edunext for its prospective clientele and partners, solely for informational purposes. This document contains forward-looking statements which involve substantial risks and uncertainties. The information contained herein has been prepared to assist prospective clienteles in making their own evaluation of the Company and does not purport to be all-inclusive or to contain all of the information a prospective or existing clientele may desire. In all cases, interested parties should conduct their own investigation and analysis of the Company and the data set forth in this information. Edunext makes no representation or warranty as to the accuracy or completeness of this information and shall not have any liability for any representations (expressed or implied) regarding information contained in, or for any omissions from, this information or any other written or oral communications transmitted to the recipient in the course of its evaluation of the Company.</a:t>
            </a:r>
            <a:endParaRPr lang="en-US" sz="1200">
              <a:solidFill>
                <a:schemeClr val="accent6"/>
              </a:solidFill>
            </a:endParaRPr>
          </a:p>
          <a:p>
            <a:endParaRPr lang="en-US" sz="1200">
              <a:solidFill>
                <a:schemeClr val="accent6"/>
              </a:solidFill>
            </a:endParaRPr>
          </a:p>
          <a:p>
            <a:r>
              <a:rPr lang="en-US" sz="1200">
                <a:solidFill>
                  <a:schemeClr val="accent6"/>
                </a:solidFill>
                <a:sym typeface="+mn-ea"/>
              </a:rPr>
              <a:t>This Information includes certain statements and estimates provided by the Company with respect to the projected future performance of the Company. Such statements, estimates and projections reflect various assumptions by management concerning possible anticipated results, which assumptions may or may not be correct. No representations are made as to the accuracy of such statements, estimates or projections. Prospective clienteles will be expected to have conducted their own due diligence investigation regarding these and all other matters pertinent to investment in the Company.</a:t>
            </a:r>
            <a:endParaRPr lang="en-US" sz="1200">
              <a:solidFill>
                <a:schemeClr val="accent6"/>
              </a:solidFill>
            </a:endParaRPr>
          </a:p>
          <a:p>
            <a:endParaRPr lang="en-US" sz="1200">
              <a:solidFill>
                <a:schemeClr val="accent6"/>
              </a:solidFill>
            </a:endParaRPr>
          </a:p>
          <a:p>
            <a:r>
              <a:rPr lang="en-US" sz="1200">
                <a:solidFill>
                  <a:schemeClr val="accent6"/>
                </a:solidFill>
                <a:sym typeface="+mn-ea"/>
              </a:rPr>
              <a:t>This presentation may contain statements that are not historical facts, referred to as “forward looking statements.” The corporation’s actual future results may differ materially from those suggested by such statements, depending on various factors. Risks that contribute to the uncertain nature of the forward-looking statements include, among others, risks associated with developing and delivering products and services to address the rapidly evolving market for Digital Ordering, payments and point-of-sale, financial, and marketting services; the Company’s ability to expand its product portfolio and market reach and deal with the substantial and increasingly intense competition in its industry.</a:t>
            </a:r>
            <a:endParaRPr lang="en-US" sz="1200">
              <a:solidFill>
                <a:schemeClr val="accent6"/>
              </a:solidFill>
            </a:endParaRPr>
          </a:p>
          <a:p>
            <a:endParaRPr lang="en-US" sz="1200">
              <a:solidFill>
                <a:schemeClr val="accent6"/>
              </a:solidFill>
            </a:endParaRPr>
          </a:p>
          <a:p>
            <a:r>
              <a:rPr lang="en-US" sz="1200">
                <a:solidFill>
                  <a:schemeClr val="accent6"/>
                </a:solidFill>
                <a:sym typeface="+mn-ea"/>
              </a:rPr>
              <a:t>The Company’s ability to retain existing sellers, attract new sellers, and increase sales to all sellers; changes to the rules and practices of payment card networks and acquiring processors; the Company’s history of generating net losses; possible fluctuations in the Company’s results of operation and operating metrics; and the effect of management changes and business initiatives.  All forward-looking statements are based on information and estimates available to the company at the time of this letter and are not guarantees of future performance. Except as required by law, the Company assumes no obligation to update any of the statements in this document.</a:t>
            </a:r>
            <a:endParaRPr lang="en-US" sz="1200">
              <a:solidFill>
                <a:schemeClr val="accent6"/>
              </a:solidFill>
              <a:sym typeface="+mn-ea"/>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threePt" dir="t"/>
            </a:scene3d>
          </a:bodyPr>
          <a:p>
            <a:r>
              <a:rPr lang="en-US">
                <a:solidFill>
                  <a:schemeClr val="accent1"/>
                </a:solidFill>
                <a:effectLst>
                  <a:outerShdw blurRad="38100" dist="25400" dir="5400000" algn="ctr" rotWithShape="0">
                    <a:srgbClr val="6E747A">
                      <a:alpha val="43000"/>
                      <a:alpha val="43000"/>
                    </a:srgbClr>
                  </a:outerShdw>
                </a:effectLst>
              </a:rPr>
              <a:t>Changing Paradigm</a:t>
            </a:r>
            <a:endParaRPr lang="en-US">
              <a:solidFill>
                <a:schemeClr val="accent1"/>
              </a:solidFill>
              <a:effectLst>
                <a:outerShdw blurRad="38100" dist="25400" dir="5400000" algn="ctr" rotWithShape="0">
                  <a:srgbClr val="6E747A">
                    <a:alpha val="43000"/>
                    <a:alpha val="43000"/>
                  </a:srgbClr>
                </a:outerShdw>
              </a:effectLst>
            </a:endParaRPr>
          </a:p>
        </p:txBody>
      </p:sp>
      <p:sp>
        <p:nvSpPr>
          <p:cNvPr id="4" name="Text Box 3"/>
          <p:cNvSpPr txBox="1"/>
          <p:nvPr/>
        </p:nvSpPr>
        <p:spPr>
          <a:xfrm>
            <a:off x="856615" y="1455420"/>
            <a:ext cx="11092180" cy="521970"/>
          </a:xfrm>
          <a:prstGeom prst="rect">
            <a:avLst/>
          </a:prstGeom>
        </p:spPr>
        <p:txBody>
          <a:bodyPr wrap="square">
            <a:spAutoFit/>
          </a:bodyPr>
          <a:p>
            <a:pPr marL="0" indent="0" algn="l" defTabSz="266700">
              <a:spcAft>
                <a:spcPct val="0"/>
              </a:spcAft>
            </a:pPr>
            <a:r>
              <a:rPr lang="en-US" sz="2800" b="1">
                <a:latin typeface="Calibri"/>
                <a:ea typeface="SimSun"/>
              </a:rPr>
              <a:t>Shift in education approches :</a:t>
            </a:r>
            <a:endParaRPr lang="en-US" sz="2800" b="1">
              <a:latin typeface="Calibri"/>
              <a:ea typeface="SimSun"/>
            </a:endParaRPr>
          </a:p>
        </p:txBody>
      </p:sp>
      <p:sp>
        <p:nvSpPr>
          <p:cNvPr id="6" name="Text Box 5"/>
          <p:cNvSpPr txBox="1"/>
          <p:nvPr/>
        </p:nvSpPr>
        <p:spPr>
          <a:xfrm>
            <a:off x="838200" y="2172335"/>
            <a:ext cx="4906645" cy="187642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Pandemic Impact:</a:t>
            </a:r>
            <a:r>
              <a:rPr sz="1600">
                <a:solidFill>
                  <a:schemeClr val="accent6"/>
                </a:solidFill>
                <a:latin typeface="Calibri"/>
                <a:ea typeface="SimSun"/>
              </a:rPr>
              <a:t> The COVID-19 pandemic accelerated the adoption of online and hybrid learning models. Many schools implemented remote learning, leading to both challenges and opportunities in digital education. The most significant drawback being children addiction to gadgets and reduction of their learning abilities. </a:t>
            </a:r>
            <a:endParaRPr sz="1600">
              <a:solidFill>
                <a:schemeClr val="accent6"/>
              </a:solidFill>
              <a:latin typeface="Calibri"/>
              <a:ea typeface="SimSun"/>
            </a:endParaRPr>
          </a:p>
        </p:txBody>
      </p:sp>
      <p:sp>
        <p:nvSpPr>
          <p:cNvPr id="7" name="Text Box 6"/>
          <p:cNvSpPr txBox="1"/>
          <p:nvPr/>
        </p:nvSpPr>
        <p:spPr>
          <a:xfrm>
            <a:off x="5744210" y="2172335"/>
            <a:ext cx="6186170" cy="1325880"/>
          </a:xfrm>
          <a:prstGeom prst="rect">
            <a:avLst/>
          </a:prstGeom>
        </p:spPr>
        <p:txBody>
          <a:bodyPr wrap="square">
            <a:noAutofit/>
          </a:bodyPr>
          <a:p>
            <a:pPr marL="0" indent="0" algn="l" defTabSz="266700">
              <a:spcAft>
                <a:spcPct val="0"/>
              </a:spcAft>
            </a:pPr>
            <a:r>
              <a:rPr sz="2000" b="1">
                <a:solidFill>
                  <a:schemeClr val="accent6"/>
                </a:solidFill>
                <a:latin typeface="Calibri"/>
                <a:ea typeface="SimSun"/>
              </a:rPr>
              <a:t>Digital Divide:</a:t>
            </a:r>
            <a:r>
              <a:rPr sz="1600">
                <a:solidFill>
                  <a:schemeClr val="accent6"/>
                </a:solidFill>
                <a:latin typeface="Calibri"/>
                <a:ea typeface="SimSun"/>
              </a:rPr>
              <a:t> Access to technology and the internet acting as a double edged sword, with many students lacking the understanding of using it for effective online learning has hampered the growth of an entire generation.</a:t>
            </a:r>
            <a:endParaRPr sz="1600">
              <a:solidFill>
                <a:schemeClr val="accent6"/>
              </a:solidFill>
              <a:latin typeface="Calibri"/>
              <a:ea typeface="SimSun"/>
            </a:endParaRPr>
          </a:p>
        </p:txBody>
      </p:sp>
      <p:sp>
        <p:nvSpPr>
          <p:cNvPr id="8" name="Text Box 7"/>
          <p:cNvSpPr txBox="1"/>
          <p:nvPr/>
        </p:nvSpPr>
        <p:spPr>
          <a:xfrm>
            <a:off x="838200" y="4262755"/>
            <a:ext cx="4614545" cy="187642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Slow Teacher Adaptability:</a:t>
            </a:r>
            <a:r>
              <a:rPr sz="1600">
                <a:solidFill>
                  <a:schemeClr val="accent6"/>
                </a:solidFill>
                <a:latin typeface="Calibri"/>
                <a:ea typeface="SimSun"/>
              </a:rPr>
              <a:t> Educators are slow in adapting to new teaching methods, utilizing technology to enhance engagement and interaction in the classroom, with the concentration span of the students drastically low the immersion of knowledge is at the lowest point.</a:t>
            </a:r>
            <a:endParaRPr sz="1600">
              <a:solidFill>
                <a:schemeClr val="accent6"/>
              </a:solidFill>
              <a:latin typeface="Calibri"/>
              <a:ea typeface="SimSun"/>
            </a:endParaRPr>
          </a:p>
        </p:txBody>
      </p:sp>
      <p:sp>
        <p:nvSpPr>
          <p:cNvPr id="9" name="Text Box 8"/>
          <p:cNvSpPr txBox="1"/>
          <p:nvPr/>
        </p:nvSpPr>
        <p:spPr>
          <a:xfrm>
            <a:off x="5744845" y="3498215"/>
            <a:ext cx="6185535" cy="138366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Curriculum Evolution:</a:t>
            </a:r>
            <a:r>
              <a:rPr sz="1600">
                <a:solidFill>
                  <a:schemeClr val="accent6"/>
                </a:solidFill>
                <a:latin typeface="Calibri"/>
                <a:ea typeface="SimSun"/>
              </a:rPr>
              <a:t> Schools are unable to revise their curriculum to include critical thinking, creativity, and real-world problem-solving, moving away from rote memorization as the education system is controlled by the Government bodies.</a:t>
            </a:r>
            <a:endParaRPr sz="1600">
              <a:solidFill>
                <a:schemeClr val="accent6"/>
              </a:solidFill>
              <a:latin typeface="Calibri"/>
              <a:ea typeface="SimSun"/>
            </a:endParaRPr>
          </a:p>
          <a:p>
            <a:pPr marL="0" indent="0" algn="l" defTabSz="266700">
              <a:spcAft>
                <a:spcPct val="0"/>
              </a:spcAft>
            </a:pPr>
            <a:r>
              <a:rPr sz="1600">
                <a:latin typeface="Calibri"/>
                <a:ea typeface="SimSun"/>
              </a:rPr>
              <a:t> </a:t>
            </a:r>
            <a:endParaRPr sz="1600">
              <a:latin typeface="Calibri"/>
              <a:ea typeface="SimSun"/>
            </a:endParaRPr>
          </a:p>
        </p:txBody>
      </p:sp>
      <p:sp>
        <p:nvSpPr>
          <p:cNvPr id="10" name="Text Box 9"/>
          <p:cNvSpPr txBox="1"/>
          <p:nvPr/>
        </p:nvSpPr>
        <p:spPr>
          <a:xfrm>
            <a:off x="5744210" y="4755515"/>
            <a:ext cx="6185535" cy="1383665"/>
          </a:xfrm>
          <a:prstGeom prst="rect">
            <a:avLst/>
          </a:prstGeom>
        </p:spPr>
        <p:txBody>
          <a:bodyPr wrap="square">
            <a:spAutoFit/>
          </a:bodyPr>
          <a:p>
            <a:pPr marL="0" indent="0" defTabSz="266700">
              <a:spcAft>
                <a:spcPct val="0"/>
              </a:spcAft>
            </a:pPr>
            <a:r>
              <a:rPr sz="2000" b="1">
                <a:solidFill>
                  <a:schemeClr val="accent6"/>
                </a:solidFill>
                <a:latin typeface="Calibri"/>
                <a:ea typeface="SimSun"/>
              </a:rPr>
              <a:t>Parental Involvement:</a:t>
            </a:r>
            <a:r>
              <a:rPr sz="1600">
                <a:solidFill>
                  <a:schemeClr val="accent6"/>
                </a:solidFill>
                <a:latin typeface="Calibri"/>
                <a:ea typeface="SimSun"/>
              </a:rPr>
              <a:t> Parents have very less role today in their children's education, often taking on a more tried and tested routes to ensure their child completes the formal  education for securing the future of the child. In the process hampering the natural learning potential and growth.</a:t>
            </a:r>
            <a:endParaRPr sz="1600">
              <a:solidFill>
                <a:schemeClr val="accent6"/>
              </a:solidFill>
              <a:latin typeface="Calibri"/>
              <a:ea typeface="SimSun"/>
            </a:endParaRPr>
          </a:p>
        </p:txBody>
      </p:sp>
      <p:sp>
        <p:nvSpPr>
          <p:cNvPr id="11" name="Text Box 10"/>
          <p:cNvSpPr txBox="1"/>
          <p:nvPr/>
        </p:nvSpPr>
        <p:spPr>
          <a:xfrm>
            <a:off x="838200" y="6129655"/>
            <a:ext cx="11092815" cy="706755"/>
          </a:xfrm>
          <a:prstGeom prst="rect">
            <a:avLst/>
          </a:prstGeom>
        </p:spPr>
        <p:txBody>
          <a:bodyPr wrap="square">
            <a:spAutoFit/>
          </a:bodyPr>
          <a:p>
            <a:pPr marL="0" indent="0" algn="ctr" defTabSz="266700">
              <a:spcAft>
                <a:spcPct val="0"/>
              </a:spcAft>
            </a:pPr>
            <a:r>
              <a:rPr sz="2000" b="1">
                <a:latin typeface="Calibri"/>
                <a:ea typeface="SimSun"/>
              </a:rPr>
              <a:t>Overall, the current educational landscape is marked by complexity and resilience, as stakeholders striving to navigate the complexities of learning in a rapidly changing world.</a:t>
            </a:r>
            <a:endParaRPr sz="2000" b="1">
              <a:latin typeface="Calibri"/>
              <a:ea typeface="SimSun"/>
            </a:endParaRPr>
          </a:p>
        </p:txBody>
      </p:sp>
      <p:sp>
        <p:nvSpPr>
          <p:cNvPr id="12" name="Text Box 11"/>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threePt" dir="t"/>
            </a:scene3d>
          </a:bodyPr>
          <a:p>
            <a:r>
              <a:rPr lang="en-US">
                <a:solidFill>
                  <a:schemeClr val="accent1"/>
                </a:solidFill>
                <a:effectLst>
                  <a:outerShdw blurRad="38100" dist="25400" dir="5400000" algn="ctr" rotWithShape="0">
                    <a:srgbClr val="6E747A">
                      <a:alpha val="43000"/>
                      <a:alpha val="43000"/>
                    </a:srgbClr>
                  </a:outerShdw>
                </a:effectLst>
              </a:rPr>
              <a:t>Future trends of education</a:t>
            </a:r>
            <a:endParaRPr lang="en-US">
              <a:solidFill>
                <a:schemeClr val="accent1"/>
              </a:solidFill>
              <a:effectLst>
                <a:outerShdw blurRad="38100" dist="25400" dir="5400000" algn="ctr" rotWithShape="0">
                  <a:srgbClr val="6E747A">
                    <a:alpha val="43000"/>
                    <a:alpha val="43000"/>
                  </a:srgbClr>
                </a:outerShdw>
              </a:effectLst>
            </a:endParaRPr>
          </a:p>
        </p:txBody>
      </p:sp>
      <p:sp>
        <p:nvSpPr>
          <p:cNvPr id="4" name="Text Box 3"/>
          <p:cNvSpPr txBox="1"/>
          <p:nvPr/>
        </p:nvSpPr>
        <p:spPr>
          <a:xfrm>
            <a:off x="838200" y="1455420"/>
            <a:ext cx="11092180" cy="521970"/>
          </a:xfrm>
          <a:prstGeom prst="rect">
            <a:avLst/>
          </a:prstGeom>
        </p:spPr>
        <p:txBody>
          <a:bodyPr wrap="square">
            <a:spAutoFit/>
          </a:bodyPr>
          <a:p>
            <a:pPr marL="0" indent="0" algn="l" defTabSz="266700">
              <a:spcAft>
                <a:spcPct val="0"/>
              </a:spcAft>
            </a:pPr>
            <a:r>
              <a:rPr lang="en-US" sz="2800" b="1">
                <a:latin typeface="Calibri"/>
                <a:ea typeface="SimSun"/>
              </a:rPr>
              <a:t>Innovation that are key to shape the</a:t>
            </a:r>
            <a:r>
              <a:rPr sz="2800" b="1">
                <a:latin typeface="Calibri"/>
                <a:ea typeface="SimSun"/>
              </a:rPr>
              <a:t> children</a:t>
            </a:r>
            <a:r>
              <a:rPr lang="en-US" sz="2800" b="1">
                <a:latin typeface="Calibri"/>
                <a:ea typeface="SimSun"/>
              </a:rPr>
              <a:t>’s future :</a:t>
            </a:r>
            <a:endParaRPr sz="2800" b="1">
              <a:latin typeface="Calibri"/>
              <a:ea typeface="SimSun"/>
            </a:endParaRPr>
          </a:p>
        </p:txBody>
      </p:sp>
      <p:sp>
        <p:nvSpPr>
          <p:cNvPr id="6" name="Text Box 5"/>
          <p:cNvSpPr txBox="1"/>
          <p:nvPr/>
        </p:nvSpPr>
        <p:spPr>
          <a:xfrm>
            <a:off x="838200" y="1908175"/>
            <a:ext cx="4196080" cy="178371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Blended Learning Environments:</a:t>
            </a:r>
            <a:r>
              <a:rPr>
                <a:solidFill>
                  <a:schemeClr val="accent6"/>
                </a:solidFill>
                <a:latin typeface="Calibri"/>
                <a:ea typeface="SimSun"/>
              </a:rPr>
              <a:t> A combination of online and in-person instruction will become more prevalent. This approach allows for flexibility, making education accessible to a broader range of students.</a:t>
            </a:r>
            <a:endParaRPr>
              <a:solidFill>
                <a:schemeClr val="accent6"/>
              </a:solidFill>
              <a:latin typeface="Calibri"/>
              <a:ea typeface="SimSun"/>
            </a:endParaRPr>
          </a:p>
        </p:txBody>
      </p:sp>
      <p:sp>
        <p:nvSpPr>
          <p:cNvPr id="7" name="Text Box 6"/>
          <p:cNvSpPr txBox="1"/>
          <p:nvPr/>
        </p:nvSpPr>
        <p:spPr>
          <a:xfrm>
            <a:off x="5744845" y="1908175"/>
            <a:ext cx="6186170" cy="1325880"/>
          </a:xfrm>
          <a:prstGeom prst="rect">
            <a:avLst/>
          </a:prstGeom>
        </p:spPr>
        <p:txBody>
          <a:bodyPr wrap="square">
            <a:noAutofit/>
          </a:bodyPr>
          <a:p>
            <a:pPr marL="0" indent="0" algn="l" defTabSz="266700">
              <a:spcAft>
                <a:spcPct val="0"/>
              </a:spcAft>
            </a:pPr>
            <a:r>
              <a:rPr sz="2000" b="1">
                <a:solidFill>
                  <a:schemeClr val="accent6"/>
                </a:solidFill>
                <a:latin typeface="Calibri"/>
                <a:ea typeface="SimSun"/>
              </a:rPr>
              <a:t>STEM and STEAM Education:</a:t>
            </a:r>
            <a:r>
              <a:rPr>
                <a:solidFill>
                  <a:schemeClr val="accent6"/>
                </a:solidFill>
                <a:latin typeface="Calibri"/>
                <a:ea typeface="SimSun"/>
              </a:rPr>
              <a:t> There will be a greater emphasis on science, technology, engineering, arts, and mathematics, preparing children for a future job market that values creativity and technical skills.</a:t>
            </a:r>
            <a:endParaRPr>
              <a:solidFill>
                <a:schemeClr val="accent6"/>
              </a:solidFill>
              <a:latin typeface="Calibri"/>
              <a:ea typeface="SimSun"/>
            </a:endParaRPr>
          </a:p>
        </p:txBody>
      </p:sp>
      <p:sp>
        <p:nvSpPr>
          <p:cNvPr id="8" name="Text Box 7"/>
          <p:cNvSpPr txBox="1"/>
          <p:nvPr/>
        </p:nvSpPr>
        <p:spPr>
          <a:xfrm>
            <a:off x="838200" y="3839845"/>
            <a:ext cx="4614545" cy="1814830"/>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Emphasis on Social-Emotional Learning (SEL):</a:t>
            </a:r>
            <a:r>
              <a:rPr>
                <a:solidFill>
                  <a:schemeClr val="accent6"/>
                </a:solidFill>
                <a:latin typeface="Calibri"/>
                <a:ea typeface="SimSun"/>
              </a:rPr>
              <a:t> Schools will increasingly focus on developing students' emotional intelligence, resilience, and interpersonal skills, recognizing their importance for overall well-being and success.</a:t>
            </a:r>
            <a:endParaRPr>
              <a:solidFill>
                <a:schemeClr val="accent6"/>
              </a:solidFill>
              <a:latin typeface="Calibri"/>
              <a:ea typeface="SimSun"/>
            </a:endParaRPr>
          </a:p>
        </p:txBody>
      </p:sp>
      <p:sp>
        <p:nvSpPr>
          <p:cNvPr id="9" name="Text Box 8"/>
          <p:cNvSpPr txBox="1"/>
          <p:nvPr/>
        </p:nvSpPr>
        <p:spPr>
          <a:xfrm>
            <a:off x="5745480" y="3162935"/>
            <a:ext cx="6185535" cy="122999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Lifelong Learning Mindset: </a:t>
            </a:r>
            <a:r>
              <a:rPr>
                <a:solidFill>
                  <a:schemeClr val="accent6"/>
                </a:solidFill>
                <a:latin typeface="Calibri"/>
                <a:ea typeface="SimSun"/>
              </a:rPr>
              <a:t>Education will extend beyond traditional schooling, encouraging a mindset of continuous learning and adaptability, which is crucial in a rapidly changing world.</a:t>
            </a:r>
            <a:r>
              <a:rPr sz="1600">
                <a:latin typeface="Calibri"/>
                <a:ea typeface="SimSun"/>
              </a:rPr>
              <a:t> </a:t>
            </a:r>
            <a:endParaRPr sz="1600">
              <a:latin typeface="Calibri"/>
              <a:ea typeface="SimSun"/>
            </a:endParaRPr>
          </a:p>
        </p:txBody>
      </p:sp>
      <p:sp>
        <p:nvSpPr>
          <p:cNvPr id="10" name="Text Box 9"/>
          <p:cNvSpPr txBox="1"/>
          <p:nvPr/>
        </p:nvSpPr>
        <p:spPr>
          <a:xfrm>
            <a:off x="5745480" y="4403090"/>
            <a:ext cx="6185535" cy="1229995"/>
          </a:xfrm>
          <a:prstGeom prst="rect">
            <a:avLst/>
          </a:prstGeom>
        </p:spPr>
        <p:txBody>
          <a:bodyPr wrap="square">
            <a:spAutoFit/>
          </a:bodyPr>
          <a:p>
            <a:pPr marL="0" indent="0" defTabSz="266700">
              <a:spcAft>
                <a:spcPct val="0"/>
              </a:spcAft>
            </a:pPr>
            <a:r>
              <a:rPr sz="2000" b="1">
                <a:solidFill>
                  <a:schemeClr val="accent6"/>
                </a:solidFill>
                <a:latin typeface="Calibri"/>
                <a:ea typeface="SimSun"/>
              </a:rPr>
              <a:t>Focus on Critical Thinking and Problem Solving: </a:t>
            </a:r>
            <a:r>
              <a:rPr>
                <a:solidFill>
                  <a:schemeClr val="accent6"/>
                </a:solidFill>
                <a:latin typeface="Calibri"/>
                <a:ea typeface="SimSun"/>
              </a:rPr>
              <a:t>Curriculums will prioritize skills like critical thinking, creativity, and problem-solving over rote memorization, preparing students for real-world challenges.</a:t>
            </a:r>
            <a:endParaRPr>
              <a:solidFill>
                <a:schemeClr val="accent6"/>
              </a:solidFill>
              <a:latin typeface="Calibri"/>
              <a:ea typeface="SimSun"/>
            </a:endParaRPr>
          </a:p>
        </p:txBody>
      </p:sp>
      <p:sp>
        <p:nvSpPr>
          <p:cNvPr id="11" name="Text Box 10"/>
          <p:cNvSpPr txBox="1"/>
          <p:nvPr/>
        </p:nvSpPr>
        <p:spPr>
          <a:xfrm>
            <a:off x="838200" y="6129655"/>
            <a:ext cx="11092815" cy="706755"/>
          </a:xfrm>
          <a:prstGeom prst="rect">
            <a:avLst/>
          </a:prstGeom>
        </p:spPr>
        <p:txBody>
          <a:bodyPr wrap="square">
            <a:spAutoFit/>
          </a:bodyPr>
          <a:p>
            <a:pPr marL="0" indent="0" algn="ctr" defTabSz="266700">
              <a:spcAft>
                <a:spcPct val="0"/>
              </a:spcAft>
            </a:pPr>
            <a:r>
              <a:rPr sz="2000" b="1">
                <a:latin typeface="Calibri"/>
                <a:ea typeface="SimSun"/>
              </a:rPr>
              <a:t>These trends suggest a more dynamic, inclusive, and holistic approach to education, aiming to equip children with the skills they need for the future.</a:t>
            </a:r>
            <a:endParaRPr sz="2000" b="1">
              <a:latin typeface="Calibri"/>
              <a:ea typeface="SimSun"/>
            </a:endParaRPr>
          </a:p>
        </p:txBody>
      </p:sp>
      <p:sp>
        <p:nvSpPr>
          <p:cNvPr id="12" name="Text Box 11"/>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threePt" dir="t"/>
            </a:scene3d>
          </a:bodyPr>
          <a:p>
            <a:r>
              <a:rPr lang="en-US" sz="3200">
                <a:solidFill>
                  <a:schemeClr val="accent1"/>
                </a:solidFill>
                <a:effectLst>
                  <a:outerShdw blurRad="38100" dist="25400" dir="5400000" algn="ctr" rotWithShape="0">
                    <a:srgbClr val="6E747A">
                      <a:alpha val="43000"/>
                      <a:alpha val="43000"/>
                    </a:srgbClr>
                  </a:outerShdw>
                </a:effectLst>
              </a:rPr>
              <a:t>Adoptable measures in currant scenario</a:t>
            </a:r>
            <a:endParaRPr lang="en-US" sz="3200">
              <a:solidFill>
                <a:schemeClr val="accent1"/>
              </a:solidFill>
              <a:effectLst>
                <a:outerShdw blurRad="38100" dist="25400" dir="5400000" algn="ctr" rotWithShape="0">
                  <a:srgbClr val="6E747A">
                    <a:alpha val="43000"/>
                    <a:alpha val="43000"/>
                  </a:srgbClr>
                </a:outerShdw>
              </a:effectLst>
            </a:endParaRPr>
          </a:p>
        </p:txBody>
      </p:sp>
      <p:sp>
        <p:nvSpPr>
          <p:cNvPr id="4" name="Text Box 3"/>
          <p:cNvSpPr txBox="1"/>
          <p:nvPr/>
        </p:nvSpPr>
        <p:spPr>
          <a:xfrm>
            <a:off x="838200" y="1455420"/>
            <a:ext cx="11092180" cy="829945"/>
          </a:xfrm>
          <a:prstGeom prst="rect">
            <a:avLst/>
          </a:prstGeom>
        </p:spPr>
        <p:txBody>
          <a:bodyPr wrap="square">
            <a:spAutoFit/>
          </a:bodyPr>
          <a:p>
            <a:pPr marL="0" indent="0" algn="l" defTabSz="266700">
              <a:spcAft>
                <a:spcPct val="0"/>
              </a:spcAft>
            </a:pPr>
            <a:r>
              <a:rPr sz="2400" b="1">
                <a:latin typeface="Calibri"/>
                <a:ea typeface="SimSun"/>
              </a:rPr>
              <a:t>To effectively address the current scenario in education, several adaptable measures can be implemented:</a:t>
            </a:r>
            <a:endParaRPr sz="2400" b="1">
              <a:latin typeface="Calibri"/>
              <a:ea typeface="SimSun"/>
            </a:endParaRPr>
          </a:p>
        </p:txBody>
      </p:sp>
      <p:sp>
        <p:nvSpPr>
          <p:cNvPr id="6" name="Text Box 5"/>
          <p:cNvSpPr txBox="1"/>
          <p:nvPr/>
        </p:nvSpPr>
        <p:spPr>
          <a:xfrm>
            <a:off x="838200" y="1908175"/>
            <a:ext cx="4907280" cy="150685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Training for Educators:</a:t>
            </a:r>
            <a:r>
              <a:rPr>
                <a:solidFill>
                  <a:schemeClr val="accent6"/>
                </a:solidFill>
                <a:latin typeface="Calibri"/>
                <a:ea typeface="SimSun"/>
              </a:rPr>
              <a:t> Provide ongoing professional development for teachers to enhance their literacy and pedagogical skills, ensuring they can effectively use </a:t>
            </a:r>
            <a:r>
              <a:rPr lang="en-US">
                <a:solidFill>
                  <a:schemeClr val="accent6"/>
                </a:solidFill>
                <a:latin typeface="Calibri"/>
                <a:ea typeface="SimSun"/>
              </a:rPr>
              <a:t>new methods &amp; </a:t>
            </a:r>
            <a:r>
              <a:rPr>
                <a:solidFill>
                  <a:schemeClr val="accent6"/>
                </a:solidFill>
                <a:latin typeface="Calibri"/>
                <a:ea typeface="SimSun"/>
              </a:rPr>
              <a:t>technology in the classroom.</a:t>
            </a:r>
            <a:endParaRPr>
              <a:solidFill>
                <a:schemeClr val="accent6"/>
              </a:solidFill>
              <a:latin typeface="Calibri"/>
              <a:ea typeface="SimSun"/>
            </a:endParaRPr>
          </a:p>
        </p:txBody>
      </p:sp>
      <p:sp>
        <p:nvSpPr>
          <p:cNvPr id="7" name="Text Box 6"/>
          <p:cNvSpPr txBox="1"/>
          <p:nvPr/>
        </p:nvSpPr>
        <p:spPr>
          <a:xfrm>
            <a:off x="5744845" y="1908175"/>
            <a:ext cx="6186170" cy="1325880"/>
          </a:xfrm>
          <a:prstGeom prst="rect">
            <a:avLst/>
          </a:prstGeom>
        </p:spPr>
        <p:txBody>
          <a:bodyPr wrap="square">
            <a:noAutofit/>
          </a:bodyPr>
          <a:p>
            <a:pPr marL="0" indent="0" algn="l" defTabSz="266700">
              <a:spcAft>
                <a:spcPct val="0"/>
              </a:spcAft>
            </a:pPr>
            <a:r>
              <a:rPr sz="2000" b="1">
                <a:solidFill>
                  <a:schemeClr val="accent6"/>
                </a:solidFill>
                <a:latin typeface="Calibri"/>
                <a:ea typeface="SimSun"/>
              </a:rPr>
              <a:t>Flexible Assessment Methods: </a:t>
            </a:r>
            <a:r>
              <a:rPr>
                <a:solidFill>
                  <a:schemeClr val="accent6"/>
                </a:solidFill>
                <a:latin typeface="Calibri"/>
                <a:ea typeface="SimSun"/>
              </a:rPr>
              <a:t>Shift towards more diverse assessment strategies that consider students' unique strengths, such as project-based learning and portfolio assessments, rather than solely standardized testing.</a:t>
            </a:r>
            <a:endParaRPr>
              <a:solidFill>
                <a:schemeClr val="accent6"/>
              </a:solidFill>
              <a:latin typeface="Calibri"/>
              <a:ea typeface="SimSun"/>
            </a:endParaRPr>
          </a:p>
        </p:txBody>
      </p:sp>
      <p:sp>
        <p:nvSpPr>
          <p:cNvPr id="8" name="Text Box 7"/>
          <p:cNvSpPr txBox="1"/>
          <p:nvPr/>
        </p:nvSpPr>
        <p:spPr>
          <a:xfrm>
            <a:off x="838200" y="3413125"/>
            <a:ext cx="4907915" cy="122999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Curriculum Updates: </a:t>
            </a:r>
            <a:r>
              <a:rPr>
                <a:solidFill>
                  <a:schemeClr val="accent6"/>
                </a:solidFill>
                <a:latin typeface="Calibri"/>
                <a:ea typeface="SimSun"/>
              </a:rPr>
              <a:t>Regularly revise curriculum to include relevant real-world skills, critical thinking, and creativity, preparing students for future challenges.</a:t>
            </a:r>
            <a:endParaRPr>
              <a:solidFill>
                <a:schemeClr val="accent6"/>
              </a:solidFill>
              <a:latin typeface="Calibri"/>
              <a:ea typeface="SimSun"/>
            </a:endParaRPr>
          </a:p>
        </p:txBody>
      </p:sp>
      <p:sp>
        <p:nvSpPr>
          <p:cNvPr id="9" name="Text Box 8"/>
          <p:cNvSpPr txBox="1"/>
          <p:nvPr/>
        </p:nvSpPr>
        <p:spPr>
          <a:xfrm>
            <a:off x="5747385" y="3374390"/>
            <a:ext cx="6185535" cy="122999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Parental Engagement Initiatives: </a:t>
            </a:r>
            <a:r>
              <a:rPr>
                <a:solidFill>
                  <a:schemeClr val="accent6"/>
                </a:solidFill>
                <a:latin typeface="Calibri"/>
                <a:ea typeface="SimSun"/>
              </a:rPr>
              <a:t>Create platforms and resources that encourage parental involvement in education, fostering communication between schools and families to support student learning.</a:t>
            </a:r>
            <a:endParaRPr>
              <a:solidFill>
                <a:schemeClr val="accent6"/>
              </a:solidFill>
              <a:latin typeface="Calibri"/>
              <a:ea typeface="SimSun"/>
            </a:endParaRPr>
          </a:p>
        </p:txBody>
      </p:sp>
      <p:sp>
        <p:nvSpPr>
          <p:cNvPr id="10" name="Text Box 9"/>
          <p:cNvSpPr txBox="1"/>
          <p:nvPr/>
        </p:nvSpPr>
        <p:spPr>
          <a:xfrm>
            <a:off x="5746115" y="4707890"/>
            <a:ext cx="6186805" cy="1229995"/>
          </a:xfrm>
          <a:prstGeom prst="rect">
            <a:avLst/>
          </a:prstGeom>
        </p:spPr>
        <p:txBody>
          <a:bodyPr wrap="square">
            <a:spAutoFit/>
          </a:bodyPr>
          <a:p>
            <a:pPr marL="0" indent="0" defTabSz="266700">
              <a:spcAft>
                <a:spcPct val="0"/>
              </a:spcAft>
            </a:pPr>
            <a:r>
              <a:rPr sz="2000" b="1">
                <a:solidFill>
                  <a:schemeClr val="accent6"/>
                </a:solidFill>
                <a:latin typeface="Calibri"/>
                <a:ea typeface="SimSun"/>
              </a:rPr>
              <a:t>Hybrid Learning Models: </a:t>
            </a:r>
            <a:r>
              <a:rPr>
                <a:solidFill>
                  <a:schemeClr val="accent6"/>
                </a:solidFill>
                <a:latin typeface="Calibri"/>
                <a:ea typeface="SimSun"/>
              </a:rPr>
              <a:t>Develop flexible learning environments that combine in-person and online instruction, allowing for greater accessibility and accommodating different learning preferences.</a:t>
            </a:r>
            <a:endParaRPr>
              <a:solidFill>
                <a:schemeClr val="accent6"/>
              </a:solidFill>
              <a:latin typeface="Calibri"/>
              <a:ea typeface="SimSun"/>
            </a:endParaRPr>
          </a:p>
        </p:txBody>
      </p:sp>
      <p:sp>
        <p:nvSpPr>
          <p:cNvPr id="11" name="Text Box 10"/>
          <p:cNvSpPr txBox="1"/>
          <p:nvPr/>
        </p:nvSpPr>
        <p:spPr>
          <a:xfrm>
            <a:off x="838200" y="6129655"/>
            <a:ext cx="11092815" cy="645160"/>
          </a:xfrm>
          <a:prstGeom prst="rect">
            <a:avLst/>
          </a:prstGeom>
        </p:spPr>
        <p:txBody>
          <a:bodyPr wrap="square">
            <a:spAutoFit/>
          </a:bodyPr>
          <a:p>
            <a:pPr marL="0" indent="0" algn="ctr" defTabSz="266700">
              <a:spcAft>
                <a:spcPct val="0"/>
              </a:spcAft>
            </a:pPr>
            <a:r>
              <a:rPr b="1">
                <a:latin typeface="Calibri"/>
                <a:ea typeface="SimSun"/>
              </a:rPr>
              <a:t>By adopting these measures, educators and policymakers can create a more inclusive, flexible, and supportive educational environment that meets the needs of all students in the current scenario.</a:t>
            </a:r>
            <a:endParaRPr b="1">
              <a:latin typeface="Calibri"/>
              <a:ea typeface="SimSun"/>
            </a:endParaRPr>
          </a:p>
        </p:txBody>
      </p:sp>
      <p:sp>
        <p:nvSpPr>
          <p:cNvPr id="12" name="Text Box 11"/>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3" name="Text Box 2"/>
          <p:cNvSpPr txBox="1"/>
          <p:nvPr/>
        </p:nvSpPr>
        <p:spPr>
          <a:xfrm>
            <a:off x="838200" y="4666615"/>
            <a:ext cx="4907280" cy="1506855"/>
          </a:xfrm>
          <a:prstGeom prst="rect">
            <a:avLst/>
          </a:prstGeom>
        </p:spPr>
        <p:txBody>
          <a:bodyPr wrap="square">
            <a:spAutoFit/>
          </a:bodyPr>
          <a:p>
            <a:pPr marL="0" indent="0" algn="l" defTabSz="266700">
              <a:spcAft>
                <a:spcPct val="0"/>
              </a:spcAft>
            </a:pPr>
            <a:r>
              <a:rPr sz="2000" b="1">
                <a:solidFill>
                  <a:schemeClr val="accent6"/>
                </a:solidFill>
                <a:latin typeface="Calibri"/>
                <a:ea typeface="SimSun"/>
              </a:rPr>
              <a:t>Social-Emotional Learning (SEL)</a:t>
            </a:r>
            <a:r>
              <a:rPr lang="en-US" sz="2000" b="1">
                <a:solidFill>
                  <a:schemeClr val="accent6"/>
                </a:solidFill>
                <a:latin typeface="Calibri"/>
                <a:ea typeface="SimSun"/>
              </a:rPr>
              <a:t> </a:t>
            </a:r>
            <a:r>
              <a:rPr>
                <a:solidFill>
                  <a:schemeClr val="accent6"/>
                </a:solidFill>
                <a:latin typeface="Calibri"/>
                <a:ea typeface="SimSun"/>
              </a:rPr>
              <a:t>: Integrate SEL into the curriculum to support students' mental health and emotional well-being, helping them develop resilience and interpersonal skills.</a:t>
            </a:r>
            <a:endParaRPr>
              <a:solidFill>
                <a:schemeClr val="accent6"/>
              </a:solidFill>
              <a:latin typeface="Calibri"/>
              <a:ea typeface="SimSu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stretch>
            <a:fillRect/>
          </a:stretch>
        </p:blipFill>
        <p:spPr>
          <a:xfrm>
            <a:off x="453865" y="783463"/>
            <a:ext cx="5470685" cy="5233017"/>
          </a:xfrm>
          <a:prstGeom prst="rect">
            <a:avLst/>
          </a:prstGeom>
        </p:spPr>
      </p:pic>
      <p:sp>
        <p:nvSpPr>
          <p:cNvPr id="10" name="TextBox 3"/>
          <p:cNvSpPr txBox="1"/>
          <p:nvPr/>
        </p:nvSpPr>
        <p:spPr>
          <a:xfrm>
            <a:off x="7339149" y="2009995"/>
            <a:ext cx="4281714" cy="2306955"/>
          </a:xfrm>
          <a:prstGeom prst="rect">
            <a:avLst/>
          </a:prstGeom>
          <a:ln w="12700">
            <a:miter lim="400000"/>
          </a:ln>
        </p:spPr>
        <p:txBody>
          <a:bodyPr wrap="squar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a:lstStyle>
          <a:p>
            <a:pPr algn="ctr">
              <a:defRPr sz="5300" b="1"/>
            </a:pPr>
            <a:r>
              <a:rPr lang="en-US" sz="7200" dirty="0">
                <a:solidFill>
                  <a:schemeClr val="accent1"/>
                </a:solidFill>
                <a:effectLst>
                  <a:outerShdw blurRad="38100" dist="25400" dir="5400000" algn="ctr" rotWithShape="0">
                    <a:srgbClr val="6E747A">
                      <a:alpha val="43000"/>
                      <a:alpha val="43000"/>
                    </a:srgbClr>
                  </a:outerShdw>
                </a:effectLst>
              </a:rPr>
              <a:t>New Era</a:t>
            </a:r>
            <a:r>
              <a:rPr sz="7200" dirty="0"/>
              <a:t> </a:t>
            </a:r>
            <a:endParaRPr sz="7200" dirty="0"/>
          </a:p>
          <a:p>
            <a:pPr algn="ctr">
              <a:defRPr sz="5300" b="1"/>
            </a:pPr>
            <a:r>
              <a:rPr sz="7200" dirty="0">
                <a:solidFill>
                  <a:schemeClr val="accent1"/>
                </a:solidFill>
                <a:effectLst>
                  <a:outerShdw blurRad="38100" dist="25400" dir="5400000" algn="ctr" rotWithShape="0">
                    <a:srgbClr val="6E747A">
                      <a:alpha val="43000"/>
                      <a:alpha val="43000"/>
                    </a:srgbClr>
                  </a:outerShdw>
                </a:effectLst>
              </a:rPr>
              <a:t>VISION</a:t>
            </a:r>
            <a:r>
              <a:rPr dirty="0"/>
              <a:t> </a:t>
            </a:r>
            <a:endParaRPr lang="en-US" dirty="0"/>
          </a:p>
        </p:txBody>
      </p:sp>
      <p:sp>
        <p:nvSpPr>
          <p:cNvPr id="2" name="Oval 1"/>
          <p:cNvSpPr/>
          <p:nvPr/>
        </p:nvSpPr>
        <p:spPr>
          <a:xfrm>
            <a:off x="4313555" y="1668780"/>
            <a:ext cx="1069975" cy="1041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4271010" y="1828800"/>
            <a:ext cx="1155065" cy="521970"/>
          </a:xfrm>
          <a:prstGeom prst="rect">
            <a:avLst/>
          </a:prstGeom>
          <a:noFill/>
        </p:spPr>
        <p:txBody>
          <a:bodyPr wrap="none" rtlCol="0">
            <a:spAutoFit/>
            <a:scene3d>
              <a:camera prst="orthographicFront"/>
              <a:lightRig rig="threePt" dir="t"/>
            </a:scene3d>
          </a:bodyPr>
          <a:p>
            <a:pPr algn="ctr"/>
            <a:r>
              <a:rPr lang="en-US" sz="1400">
                <a:ln w="22225">
                  <a:solidFill>
                    <a:schemeClr val="accent2"/>
                  </a:solidFill>
                  <a:prstDash val="solid"/>
                </a:ln>
                <a:solidFill>
                  <a:schemeClr val="accent2">
                    <a:lumMod val="40000"/>
                    <a:lumOff val="60000"/>
                  </a:schemeClr>
                </a:solidFill>
                <a:effectLst/>
                <a:cs typeface="+mn-lt"/>
              </a:rPr>
              <a:t>Holistic </a:t>
            </a:r>
            <a:endParaRPr lang="en-US" sz="1400">
              <a:ln w="22225">
                <a:solidFill>
                  <a:schemeClr val="accent2"/>
                </a:solidFill>
                <a:prstDash val="solid"/>
              </a:ln>
              <a:solidFill>
                <a:schemeClr val="accent2">
                  <a:lumMod val="40000"/>
                  <a:lumOff val="60000"/>
                </a:schemeClr>
              </a:solidFill>
              <a:effectLst/>
              <a:cs typeface="+mn-lt"/>
            </a:endParaRPr>
          </a:p>
          <a:p>
            <a:pPr algn="ctr"/>
            <a:r>
              <a:rPr lang="en-US" sz="1400">
                <a:ln w="22225">
                  <a:solidFill>
                    <a:schemeClr val="accent2"/>
                  </a:solidFill>
                  <a:prstDash val="solid"/>
                </a:ln>
                <a:solidFill>
                  <a:schemeClr val="accent2">
                    <a:lumMod val="40000"/>
                    <a:lumOff val="60000"/>
                  </a:schemeClr>
                </a:solidFill>
                <a:effectLst/>
                <a:cs typeface="+mn-lt"/>
              </a:rPr>
              <a:t>Development</a:t>
            </a:r>
            <a:endParaRPr lang="en-US" sz="1400">
              <a:ln w="22225">
                <a:solidFill>
                  <a:schemeClr val="accent2"/>
                </a:solidFill>
                <a:prstDash val="solid"/>
              </a:ln>
              <a:solidFill>
                <a:schemeClr val="accent2">
                  <a:lumMod val="40000"/>
                  <a:lumOff val="60000"/>
                </a:schemeClr>
              </a:solidFill>
              <a:effectLst/>
              <a:cs typeface="+mn-lt"/>
            </a:endParaRPr>
          </a:p>
        </p:txBody>
      </p:sp>
      <p:sp>
        <p:nvSpPr>
          <p:cNvPr id="4" name="Oval 3"/>
          <p:cNvSpPr/>
          <p:nvPr/>
        </p:nvSpPr>
        <p:spPr>
          <a:xfrm>
            <a:off x="1071245" y="1668780"/>
            <a:ext cx="1069975" cy="1041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984250" y="1921510"/>
            <a:ext cx="1243965" cy="337185"/>
          </a:xfrm>
          <a:prstGeom prst="rect">
            <a:avLst/>
          </a:prstGeom>
          <a:noFill/>
        </p:spPr>
        <p:txBody>
          <a:bodyPr wrap="square" rtlCol="0">
            <a:spAutoFit/>
          </a:bodyPr>
          <a:p>
            <a:pPr algn="ctr"/>
            <a:r>
              <a:rPr lang="en-US" sz="1600">
                <a:gradFill>
                  <a:gsLst>
                    <a:gs pos="0">
                      <a:srgbClr val="7B32B2"/>
                    </a:gs>
                    <a:gs pos="100000">
                      <a:srgbClr val="401A5D"/>
                    </a:gs>
                  </a:gsLst>
                  <a:lin scaled="0"/>
                </a:gradFill>
              </a:rPr>
              <a:t>Montessori</a:t>
            </a:r>
            <a:endParaRPr lang="en-US" sz="1600">
              <a:gradFill>
                <a:gsLst>
                  <a:gs pos="0">
                    <a:srgbClr val="7B32B2"/>
                  </a:gs>
                  <a:gs pos="100000">
                    <a:srgbClr val="401A5D"/>
                  </a:gs>
                </a:gsLst>
                <a:lin scaled="0"/>
              </a:gradFill>
            </a:endParaRPr>
          </a:p>
        </p:txBody>
      </p:sp>
      <p:sp>
        <p:nvSpPr>
          <p:cNvPr id="7" name="Oval 6"/>
          <p:cNvSpPr/>
          <p:nvPr/>
        </p:nvSpPr>
        <p:spPr>
          <a:xfrm>
            <a:off x="1724025" y="4707255"/>
            <a:ext cx="1069975" cy="1041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1642745" y="5043805"/>
            <a:ext cx="1233170" cy="368300"/>
          </a:xfrm>
          <a:prstGeom prst="rect">
            <a:avLst/>
          </a:prstGeom>
          <a:noFill/>
        </p:spPr>
        <p:txBody>
          <a:bodyPr wrap="square" rtlCol="0">
            <a:spAutoFit/>
          </a:bodyPr>
          <a:p>
            <a:pPr algn="ctr"/>
            <a:r>
              <a:rPr lang="en-US">
                <a:gradFill>
                  <a:gsLst>
                    <a:gs pos="0">
                      <a:srgbClr val="14CD68"/>
                    </a:gs>
                    <a:gs pos="100000">
                      <a:srgbClr val="0B6E38"/>
                    </a:gs>
                  </a:gsLst>
                  <a:lin scaled="0"/>
                </a:gradFill>
              </a:rPr>
              <a:t>PreSkool</a:t>
            </a:r>
            <a:endParaRPr lang="en-US">
              <a:gradFill>
                <a:gsLst>
                  <a:gs pos="0">
                    <a:srgbClr val="14CD68"/>
                  </a:gs>
                  <a:gs pos="100000">
                    <a:srgbClr val="0B6E38"/>
                  </a:gs>
                </a:gsLst>
                <a:lin scaled="0"/>
              </a:gradFill>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9"/>
          <p:cNvSpPr txBox="1"/>
          <p:nvPr/>
        </p:nvSpPr>
        <p:spPr>
          <a:xfrm>
            <a:off x="667385" y="281940"/>
            <a:ext cx="5328285" cy="1087755"/>
          </a:xfrm>
          <a:prstGeom prst="rect">
            <a:avLst/>
          </a:prstGeom>
          <a:noFill/>
        </p:spPr>
        <p:txBody>
          <a:bodyPr wrap="square" rtlCol="0">
            <a:spAutoFit/>
          </a:bodyPr>
          <a:lstStyle/>
          <a:p>
            <a:pPr>
              <a:lnSpc>
                <a:spcPct val="90000"/>
              </a:lnSpc>
            </a:pPr>
            <a:r>
              <a:rPr lang="en-US" sz="3600" b="1" dirty="0">
                <a:solidFill>
                  <a:schemeClr val="accent1"/>
                </a:solidFill>
                <a:effectLst>
                  <a:outerShdw blurRad="38100" dist="25400" dir="5400000" algn="ctr" rotWithShape="0">
                    <a:srgbClr val="6E747A">
                      <a:alpha val="43000"/>
                      <a:alpha val="43000"/>
                    </a:srgbClr>
                  </a:outerShdw>
                </a:effectLst>
                <a:latin typeface="Outfit SemiBold" charset="0"/>
                <a:ea typeface="Montserrat" panose="00000500000000000000" charset="0"/>
                <a:cs typeface="Outfit SemiBold" charset="0"/>
              </a:rPr>
              <a:t>Its not Just Education</a:t>
            </a:r>
            <a:endParaRPr lang="en-US" sz="3600" b="1" dirty="0">
              <a:solidFill>
                <a:schemeClr val="accent1"/>
              </a:solidFill>
              <a:effectLst>
                <a:outerShdw blurRad="38100" dist="25400" dir="5400000" algn="ctr" rotWithShape="0">
                  <a:srgbClr val="6E747A">
                    <a:alpha val="43000"/>
                    <a:alpha val="43000"/>
                  </a:srgbClr>
                </a:outerShdw>
              </a:effectLst>
              <a:latin typeface="Outfit SemiBold" charset="0"/>
              <a:ea typeface="Montserrat" panose="00000500000000000000" charset="0"/>
              <a:cs typeface="Outfit SemiBold" charset="0"/>
            </a:endParaRPr>
          </a:p>
          <a:p>
            <a:pPr>
              <a:lnSpc>
                <a:spcPct val="90000"/>
              </a:lnSpc>
            </a:pPr>
            <a:r>
              <a:rPr lang="en-US" sz="3600" b="1" dirty="0">
                <a:solidFill>
                  <a:schemeClr val="tx1"/>
                </a:solidFill>
                <a:effectLst>
                  <a:outerShdw blurRad="38100" dist="19050" dir="2700000" algn="tl" rotWithShape="0">
                    <a:schemeClr val="dk1">
                      <a:alpha val="40000"/>
                      <a:alpha val="40000"/>
                    </a:schemeClr>
                  </a:outerShdw>
                </a:effectLst>
                <a:latin typeface="Outfit SemiBold" charset="0"/>
                <a:ea typeface="Montserrat" panose="00000500000000000000" charset="0"/>
                <a:cs typeface="Outfit SemiBold" charset="0"/>
              </a:rPr>
              <a:t>Its an Environment</a:t>
            </a:r>
            <a:endParaRPr lang="en-US" sz="3600" b="1" dirty="0">
              <a:solidFill>
                <a:schemeClr val="tx1"/>
              </a:solidFill>
              <a:effectLst>
                <a:outerShdw blurRad="38100" dist="19050" dir="2700000" algn="tl" rotWithShape="0">
                  <a:schemeClr val="dk1">
                    <a:alpha val="40000"/>
                    <a:alpha val="40000"/>
                  </a:schemeClr>
                </a:outerShdw>
              </a:effectLst>
              <a:latin typeface="Outfit SemiBold" charset="0"/>
              <a:ea typeface="Montserrat" panose="00000500000000000000" charset="0"/>
              <a:cs typeface="Outfit SemiBold" charset="0"/>
            </a:endParaRPr>
          </a:p>
        </p:txBody>
      </p:sp>
      <p:sp>
        <p:nvSpPr>
          <p:cNvPr id="4" name="Text Box 3"/>
          <p:cNvSpPr txBox="1"/>
          <p:nvPr/>
        </p:nvSpPr>
        <p:spPr>
          <a:xfrm>
            <a:off x="629920" y="1784350"/>
            <a:ext cx="5365750" cy="3998595"/>
          </a:xfrm>
          <a:prstGeom prst="rect">
            <a:avLst/>
          </a:prstGeom>
          <a:noFill/>
        </p:spPr>
        <p:txBody>
          <a:bodyPr wrap="square" rtlCol="0">
            <a:noAutofit/>
          </a:bodyPr>
          <a:p>
            <a:pPr algn="l"/>
            <a:r>
              <a:rPr lang="en-US" sz="3200" b="1">
                <a:solidFill>
                  <a:schemeClr val="accent6"/>
                </a:solidFill>
                <a:latin typeface="Outfit" charset="0"/>
                <a:cs typeface="Outfit" charset="0"/>
              </a:rPr>
              <a:t>A school to a child is what soil is to a plant. Just the way only the right soil can help a plant grow upto its peak, the right school can help a child grow upto his/her maximum potential.</a:t>
            </a:r>
            <a:r>
              <a:rPr lang="en-US" sz="3200">
                <a:latin typeface="Outfit" charset="0"/>
                <a:cs typeface="Outfit" charset="0"/>
              </a:rPr>
              <a:t> </a:t>
            </a:r>
            <a:endParaRPr lang="en-US" sz="3200">
              <a:latin typeface="Outfit" charset="0"/>
              <a:cs typeface="Outfit" charset="0"/>
            </a:endParaRPr>
          </a:p>
        </p:txBody>
      </p:sp>
      <p:pic>
        <p:nvPicPr>
          <p:cNvPr id="12" name="Picture 11" descr="Ppt 3"/>
          <p:cNvPicPr>
            <a:picLocks noChangeAspect="1"/>
          </p:cNvPicPr>
          <p:nvPr/>
        </p:nvPicPr>
        <p:blipFill>
          <a:blip r:embed="rId1"/>
          <a:stretch>
            <a:fillRect/>
          </a:stretch>
        </p:blipFill>
        <p:spPr>
          <a:xfrm>
            <a:off x="6537325" y="1246505"/>
            <a:ext cx="3820160" cy="5534660"/>
          </a:xfrm>
          <a:prstGeom prst="rect">
            <a:avLst/>
          </a:prstGeom>
          <a:effectLst>
            <a:outerShdw blurRad="50800" dist="38100" dir="2700000" algn="tl" rotWithShape="0">
              <a:prstClr val="black">
                <a:alpha val="40000"/>
              </a:prstClr>
            </a:outerShdw>
          </a:effectLst>
        </p:spPr>
      </p:pic>
      <p:sp>
        <p:nvSpPr>
          <p:cNvPr id="3" name="Text Box 2"/>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10">
        <p:sndAc>
          <p:stSnd>
            <p:snd r:embed="rId2" name="type.wav"/>
          </p:stSnd>
        </p:sndAc>
      </p:transition>
    </mc:Choice>
    <mc:Fallback>
      <p:transition>
        <p:sndAc>
          <p:stSnd>
            <p:snd r:embed="rId2" name="type.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scene3d>
              <a:camera prst="orthographicFront"/>
              <a:lightRig rig="threePt" dir="t"/>
            </a:scene3d>
          </a:bodyPr>
          <a:p>
            <a:r>
              <a:rPr lang="en-US">
                <a:solidFill>
                  <a:schemeClr val="accent1"/>
                </a:solidFill>
                <a:effectLst>
                  <a:outerShdw blurRad="38100" dist="25400" dir="5400000" algn="ctr" rotWithShape="0">
                    <a:srgbClr val="6E747A">
                      <a:alpha val="43000"/>
                      <a:alpha val="43000"/>
                    </a:srgbClr>
                  </a:outerShdw>
                </a:effectLst>
              </a:rPr>
              <a:t>MySkool Eco System</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6" name="Text Box 5"/>
          <p:cNvSpPr txBox="1"/>
          <p:nvPr/>
        </p:nvSpPr>
        <p:spPr>
          <a:xfrm>
            <a:off x="838200" y="1424940"/>
            <a:ext cx="11106785" cy="1198880"/>
          </a:xfrm>
          <a:prstGeom prst="rect">
            <a:avLst/>
          </a:prstGeom>
        </p:spPr>
        <p:txBody>
          <a:bodyPr wrap="square">
            <a:spAutoFit/>
          </a:bodyPr>
          <a:p>
            <a:pPr marL="0" indent="0" algn="l" defTabSz="266700">
              <a:spcAft>
                <a:spcPct val="0"/>
              </a:spcAft>
            </a:pPr>
            <a:r>
              <a:rPr sz="2400">
                <a:latin typeface="Calibri"/>
                <a:ea typeface="SimSun"/>
              </a:rPr>
              <a:t>MySkool aspires an eco system to create a truly inclusive system of education that encompasses all type and class of children to give a real inclusive educational experience for children in the future.</a:t>
            </a:r>
            <a:endParaRPr sz="2400">
              <a:latin typeface="Calibri"/>
              <a:ea typeface="SimSun"/>
            </a:endParaRPr>
          </a:p>
        </p:txBody>
      </p:sp>
      <p:sp>
        <p:nvSpPr>
          <p:cNvPr id="7" name="Text Box 6"/>
          <p:cNvSpPr txBox="1"/>
          <p:nvPr/>
        </p:nvSpPr>
        <p:spPr>
          <a:xfrm>
            <a:off x="838200" y="2928620"/>
            <a:ext cx="7341235" cy="3107690"/>
          </a:xfrm>
          <a:prstGeom prst="rect">
            <a:avLst/>
          </a:prstGeom>
        </p:spPr>
        <p:txBody>
          <a:bodyPr wrap="square">
            <a:spAutoFit/>
          </a:bodyPr>
          <a:p>
            <a:pPr marL="0" indent="0" algn="l" defTabSz="266700">
              <a:spcAft>
                <a:spcPct val="0"/>
              </a:spcAft>
            </a:pPr>
            <a:r>
              <a:rPr sz="2800" b="1">
                <a:solidFill>
                  <a:schemeClr val="accent6"/>
                </a:solidFill>
                <a:latin typeface="Calibri"/>
                <a:ea typeface="SimSun"/>
              </a:rPr>
              <a:t>1. MySkill Club</a:t>
            </a:r>
            <a:endParaRPr sz="2800" b="1">
              <a:solidFill>
                <a:schemeClr val="accent6"/>
              </a:solidFill>
              <a:latin typeface="Calibri"/>
              <a:ea typeface="SimSun"/>
            </a:endParaRPr>
          </a:p>
          <a:p>
            <a:pPr marL="0" indent="0" algn="l" defTabSz="266700">
              <a:spcAft>
                <a:spcPct val="0"/>
              </a:spcAft>
            </a:pPr>
            <a:r>
              <a:rPr sz="2800" b="1">
                <a:solidFill>
                  <a:schemeClr val="accent6"/>
                </a:solidFill>
                <a:latin typeface="Calibri"/>
                <a:ea typeface="SimSun"/>
              </a:rPr>
              <a:t>2. MySkool Collab </a:t>
            </a:r>
            <a:endParaRPr sz="2800" b="1">
              <a:solidFill>
                <a:schemeClr val="accent6"/>
              </a:solidFill>
              <a:latin typeface="Calibri"/>
              <a:ea typeface="SimSun"/>
            </a:endParaRPr>
          </a:p>
          <a:p>
            <a:pPr marL="0" indent="0" algn="l" defTabSz="266700">
              <a:spcAft>
                <a:spcPct val="0"/>
              </a:spcAft>
            </a:pPr>
            <a:r>
              <a:rPr sz="2800" b="1">
                <a:solidFill>
                  <a:schemeClr val="accent6"/>
                </a:solidFill>
                <a:latin typeface="Calibri"/>
                <a:ea typeface="SimSun"/>
              </a:rPr>
              <a:t>3. My PreSkool</a:t>
            </a:r>
            <a:endParaRPr sz="2800" b="1">
              <a:solidFill>
                <a:schemeClr val="accent6"/>
              </a:solidFill>
              <a:latin typeface="Calibri"/>
              <a:ea typeface="SimSun"/>
            </a:endParaRPr>
          </a:p>
          <a:p>
            <a:pPr marL="0" indent="0" algn="l" defTabSz="266700">
              <a:spcAft>
                <a:spcPct val="0"/>
              </a:spcAft>
            </a:pPr>
            <a:r>
              <a:rPr sz="2800" b="1">
                <a:solidFill>
                  <a:schemeClr val="accent6"/>
                </a:solidFill>
                <a:latin typeface="Calibri"/>
                <a:ea typeface="SimSun"/>
              </a:rPr>
              <a:t>4. MySkool Club</a:t>
            </a:r>
            <a:endParaRPr sz="2800" b="1">
              <a:solidFill>
                <a:schemeClr val="accent6"/>
              </a:solidFill>
              <a:latin typeface="Calibri"/>
              <a:ea typeface="SimSun"/>
            </a:endParaRPr>
          </a:p>
          <a:p>
            <a:pPr marL="0" indent="0" algn="l" defTabSz="266700">
              <a:spcAft>
                <a:spcPct val="0"/>
              </a:spcAft>
            </a:pPr>
            <a:r>
              <a:rPr sz="2800" b="1">
                <a:solidFill>
                  <a:schemeClr val="accent6"/>
                </a:solidFill>
                <a:latin typeface="Calibri"/>
                <a:ea typeface="SimSun"/>
              </a:rPr>
              <a:t>5. MySkool Hybrid Schooling</a:t>
            </a:r>
            <a:endParaRPr sz="2800" b="1">
              <a:solidFill>
                <a:schemeClr val="accent6"/>
              </a:solidFill>
              <a:latin typeface="Calibri"/>
              <a:ea typeface="SimSun"/>
            </a:endParaRPr>
          </a:p>
          <a:p>
            <a:pPr marL="0" indent="0" algn="l" defTabSz="266700">
              <a:spcAft>
                <a:spcPct val="0"/>
              </a:spcAft>
            </a:pPr>
            <a:r>
              <a:rPr sz="2800" b="1">
                <a:solidFill>
                  <a:schemeClr val="accent6"/>
                </a:solidFill>
                <a:latin typeface="Calibri"/>
                <a:ea typeface="SimSun"/>
              </a:rPr>
              <a:t>6. BS International Schools</a:t>
            </a:r>
            <a:endParaRPr sz="2800" b="1">
              <a:solidFill>
                <a:schemeClr val="accent6"/>
              </a:solidFill>
              <a:latin typeface="Calibri"/>
              <a:ea typeface="SimSun"/>
            </a:endParaRPr>
          </a:p>
          <a:p>
            <a:pPr marL="0" indent="0" algn="l" defTabSz="266700">
              <a:spcAft>
                <a:spcPct val="0"/>
              </a:spcAft>
            </a:pPr>
            <a:r>
              <a:rPr sz="2800" b="1">
                <a:solidFill>
                  <a:schemeClr val="accent6"/>
                </a:solidFill>
                <a:latin typeface="Calibri"/>
                <a:ea typeface="SimSun"/>
              </a:rPr>
              <a:t>7. Global Life University - Skill University</a:t>
            </a:r>
            <a:endParaRPr sz="2800" b="1">
              <a:solidFill>
                <a:schemeClr val="accent6"/>
              </a:solidFill>
              <a:latin typeface="Calibri"/>
              <a:ea typeface="SimSu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pic>
        <p:nvPicPr>
          <p:cNvPr id="3" name="Picture 2" descr="pixelcut-export (1)"/>
          <p:cNvPicPr>
            <a:picLocks noChangeAspect="1"/>
          </p:cNvPicPr>
          <p:nvPr/>
        </p:nvPicPr>
        <p:blipFill>
          <a:blip r:embed="rId1"/>
          <a:stretch>
            <a:fillRect/>
          </a:stretch>
        </p:blipFill>
        <p:spPr>
          <a:xfrm>
            <a:off x="2018665" y="-480060"/>
            <a:ext cx="8239125" cy="8239125"/>
          </a:xfrm>
          <a:prstGeom prst="rect">
            <a:avLst/>
          </a:prstGeom>
        </p:spPr>
      </p:pic>
      <p:sp>
        <p:nvSpPr>
          <p:cNvPr id="6" name="Text Box 5"/>
          <p:cNvSpPr txBox="1"/>
          <p:nvPr/>
        </p:nvSpPr>
        <p:spPr>
          <a:xfrm>
            <a:off x="922655" y="4231005"/>
            <a:ext cx="10476230" cy="2306955"/>
          </a:xfrm>
          <a:prstGeom prst="rect">
            <a:avLst/>
          </a:prstGeom>
          <a:noFill/>
        </p:spPr>
        <p:txBody>
          <a:bodyPr wrap="square" rtlCol="0" anchor="t">
            <a:spAutoFit/>
          </a:bodyPr>
          <a:p>
            <a:pPr marL="0" indent="0" algn="ctr" defTabSz="266700">
              <a:spcAft>
                <a:spcPct val="0"/>
              </a:spcAft>
            </a:pPr>
            <a:r>
              <a:rPr lang="en-US" sz="2400" b="1">
                <a:ln/>
                <a:solidFill>
                  <a:schemeClr val="accent1"/>
                </a:solidFill>
                <a:effectLst>
                  <a:outerShdw blurRad="38100" dist="25400" dir="5400000" algn="ctr" rotWithShape="0">
                    <a:srgbClr val="6E747A">
                      <a:alpha val="43000"/>
                      <a:alpha val="43000"/>
                    </a:srgbClr>
                  </a:outerShdw>
                </a:effectLst>
                <a:sym typeface="+mn-ea"/>
              </a:rPr>
              <a:t>Skilled trainers play a crucial role in the educational system and have a profound impact on students’ lives. Skilled trainers are essential for creating a positive learning environment, promoting academic success, and shaping the future of their students. To create a pool of skilled trainers MySkill trains and grooms the best talent. </a:t>
            </a:r>
            <a:endParaRPr sz="2400" b="1" i="0">
              <a:ln/>
              <a:solidFill>
                <a:schemeClr val="accent1"/>
              </a:solidFill>
              <a:effectLst>
                <a:outerShdw blurRad="38100" dist="25400" dir="5400000" algn="ctr" rotWithShape="0">
                  <a:srgbClr val="6E747A">
                    <a:alpha val="43000"/>
                    <a:alpha val="43000"/>
                  </a:srgbClr>
                </a:outerShdw>
              </a:effectLst>
              <a:latin typeface="Calibri"/>
              <a:ea typeface="Arial" panose="020B0604020202090204"/>
            </a:endParaRPr>
          </a:p>
          <a:p>
            <a:pPr marL="0" indent="0" algn="ctr" defTabSz="266700">
              <a:spcAft>
                <a:spcPct val="0"/>
              </a:spcAft>
            </a:pPr>
            <a:endParaRPr lang="en-US" sz="2400" b="1" i="0">
              <a:ln/>
              <a:solidFill>
                <a:schemeClr val="accent1"/>
              </a:solidFill>
              <a:effectLst>
                <a:outerShdw blurRad="38100" dist="25400" dir="5400000" algn="ctr" rotWithShape="0">
                  <a:srgbClr val="6E747A">
                    <a:alpha val="43000"/>
                    <a:alpha val="43000"/>
                  </a:srgbClr>
                </a:outerShdw>
              </a:effectLst>
              <a:latin typeface="Calibri"/>
              <a:ea typeface="Arial" panose="020B0604020202090204"/>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rPr>
              <a:t>MySkill</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3" name="Text Box 2"/>
          <p:cNvSpPr txBox="1"/>
          <p:nvPr/>
        </p:nvSpPr>
        <p:spPr>
          <a:xfrm>
            <a:off x="838200" y="1662430"/>
            <a:ext cx="10857230" cy="4523105"/>
          </a:xfrm>
          <a:prstGeom prst="rect">
            <a:avLst/>
          </a:prstGeom>
        </p:spPr>
        <p:txBody>
          <a:bodyPr wrap="square">
            <a:spAutoFit/>
          </a:bodyPr>
          <a:p>
            <a:pPr marL="0" indent="0" defTabSz="266700">
              <a:spcAft>
                <a:spcPct val="0"/>
              </a:spcAft>
            </a:pPr>
            <a:r>
              <a:rPr sz="2400" b="0">
                <a:solidFill>
                  <a:schemeClr val="accent6"/>
                </a:solidFill>
                <a:latin typeface="Calibri"/>
                <a:ea typeface="SimSun"/>
              </a:rPr>
              <a:t>MySkill - Empowering womanhood,  is program with a vision to give a platform to all the women for d</a:t>
            </a:r>
            <a:r>
              <a:rPr sz="2400" b="0" i="0">
                <a:solidFill>
                  <a:schemeClr val="accent6"/>
                </a:solidFill>
                <a:latin typeface="Calibri"/>
                <a:ea typeface="Arial" panose="020B0604020202090204"/>
              </a:rPr>
              <a:t>iversifying their existing skills to meet today's challenges. MySkill aims at building actual competencies to achieve their highest desired level of independence and inclusion in their communities.</a:t>
            </a:r>
            <a:endParaRPr sz="2400" b="0" i="0">
              <a:solidFill>
                <a:schemeClr val="accent6"/>
              </a:solidFill>
              <a:latin typeface="Calibri"/>
              <a:ea typeface="Arial" panose="020B0604020202090204"/>
            </a:endParaRPr>
          </a:p>
          <a:p>
            <a:pPr marL="0" indent="0" defTabSz="266700">
              <a:spcAft>
                <a:spcPct val="0"/>
              </a:spcAft>
            </a:pPr>
            <a:r>
              <a:rPr sz="2400" b="1" i="0">
                <a:solidFill>
                  <a:schemeClr val="accent6"/>
                </a:solidFill>
                <a:latin typeface="Calibri"/>
                <a:ea typeface="Arial" panose="020B0604020202090204"/>
              </a:rPr>
              <a:t> </a:t>
            </a:r>
            <a:endParaRPr sz="2400" b="1" i="0">
              <a:solidFill>
                <a:schemeClr val="accent6"/>
              </a:solidFill>
              <a:latin typeface="Calibri"/>
              <a:ea typeface="Arial" panose="020B0604020202090204"/>
            </a:endParaRPr>
          </a:p>
          <a:p>
            <a:pPr marL="0" indent="0" defTabSz="266700">
              <a:spcAft>
                <a:spcPct val="0"/>
              </a:spcAft>
            </a:pPr>
            <a:r>
              <a:rPr sz="2400" b="0" i="0">
                <a:solidFill>
                  <a:schemeClr val="accent6"/>
                </a:solidFill>
                <a:latin typeface="Calibri"/>
                <a:ea typeface="Arial" panose="020B0604020202090204"/>
              </a:rPr>
              <a:t>MySkill has partnered with institutes who have a proven track record of training and empowering women through various educational and experiential learning in the past. MySkill offers a platform for all aspiring women who want to have a greater expansion in professional and personal growth which in turn  contribute to structural transformation and economic growth by enhancing employability.</a:t>
            </a:r>
            <a:endParaRPr sz="2400" b="0" i="0">
              <a:solidFill>
                <a:schemeClr val="accent6"/>
              </a:solidFill>
              <a:latin typeface="Calibri"/>
              <a:ea typeface="Arial" panose="020B0604020202090204"/>
            </a:endParaRPr>
          </a:p>
          <a:p>
            <a:pPr marL="0" indent="0" defTabSz="266700">
              <a:spcAft>
                <a:spcPct val="0"/>
              </a:spcAft>
            </a:pPr>
            <a:r>
              <a:rPr sz="2400" b="0" i="0">
                <a:solidFill>
                  <a:schemeClr val="accent6"/>
                </a:solidFill>
                <a:latin typeface="Calibri"/>
                <a:ea typeface="Arial" panose="020B0604020202090204"/>
              </a:rPr>
              <a:t> </a:t>
            </a:r>
            <a:endParaRPr sz="2400" b="0" i="0">
              <a:solidFill>
                <a:schemeClr val="accent6"/>
              </a:solidFill>
              <a:latin typeface="Calibri"/>
              <a:ea typeface="Arial" panose="020B060402020209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rPr>
              <a:t>Why Skilled Trainers?</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3" name="Text Box 2"/>
          <p:cNvSpPr txBox="1"/>
          <p:nvPr/>
        </p:nvSpPr>
        <p:spPr>
          <a:xfrm>
            <a:off x="838200" y="1570355"/>
            <a:ext cx="10857230" cy="5631180"/>
          </a:xfrm>
          <a:prstGeom prst="rect">
            <a:avLst/>
          </a:prstGeom>
        </p:spPr>
        <p:txBody>
          <a:bodyPr wrap="square">
            <a:spAutoFit/>
          </a:bodyPr>
          <a:p>
            <a:pPr marL="0" indent="0" defTabSz="266700">
              <a:spcAft>
                <a:spcPct val="0"/>
              </a:spcAft>
            </a:pPr>
            <a:r>
              <a:rPr lang="en-US" sz="2400">
                <a:solidFill>
                  <a:schemeClr val="tx1"/>
                </a:solidFill>
                <a:sym typeface="+mn-ea"/>
              </a:rPr>
              <a:t> Here are some key reasons why skilled trainers are important :</a:t>
            </a:r>
            <a:endParaRPr lang="en-US" sz="2400">
              <a:solidFill>
                <a:schemeClr val="tx1"/>
              </a:solidFill>
            </a:endParaRPr>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1. Facilitating Learning : Skilled trainers employ effective teaching methods that cater to diverse learning styles, helping students grasp complex concepts.</a:t>
            </a:r>
            <a:endParaRPr lang="en-US" sz="2400">
              <a:solidFill>
                <a:schemeClr val="accent6"/>
              </a:solidFill>
            </a:endParaRPr>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2. Building Relationships : They foster strong relationships with students, creating a supportive and safe environment that encourages open communication and engagement.</a:t>
            </a:r>
            <a:endParaRPr lang="en-US" sz="2400">
              <a:solidFill>
                <a:schemeClr val="accent6"/>
              </a:solidFill>
            </a:endParaRPr>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3. Encouraging Critical Thinking : SKilled trainers challenge students to think critically and independently, preparing them for real-world problem-solving.</a:t>
            </a:r>
            <a:endParaRPr lang="en-US" sz="2400">
              <a:solidFill>
                <a:schemeClr val="accent6"/>
              </a:solidFill>
            </a:endParaRPr>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4. Motivating Students : Skilled trainers inspire and motivate students to achieve their potential, instilling a love for learning and curiosity.</a:t>
            </a:r>
            <a:endParaRPr lang="en-US" sz="2400">
              <a:solidFill>
                <a:schemeClr val="accent6"/>
              </a:solidFill>
            </a:endParaRPr>
          </a:p>
          <a:p>
            <a:pPr marL="0" indent="0" defTabSz="266700">
              <a:spcAft>
                <a:spcPct val="0"/>
              </a:spcAft>
            </a:pPr>
            <a:endParaRPr lang="en-US" sz="2400" b="0" i="0">
              <a:solidFill>
                <a:schemeClr val="accent6"/>
              </a:solidFill>
              <a:latin typeface="Calibri"/>
              <a:ea typeface="Arial" panose="020B060402020209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rPr>
              <a:t>Why Skilled Trainers?</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3" name="Text Box 2"/>
          <p:cNvSpPr txBox="1"/>
          <p:nvPr/>
        </p:nvSpPr>
        <p:spPr>
          <a:xfrm>
            <a:off x="838200" y="1533525"/>
            <a:ext cx="10857230" cy="6000750"/>
          </a:xfrm>
          <a:prstGeom prst="rect">
            <a:avLst/>
          </a:prstGeom>
        </p:spPr>
        <p:txBody>
          <a:bodyPr wrap="square">
            <a:spAutoFit/>
          </a:bodyPr>
          <a:p>
            <a:pPr marL="0" indent="0" defTabSz="266700">
              <a:spcAft>
                <a:spcPct val="0"/>
              </a:spcAft>
            </a:pPr>
            <a:r>
              <a:rPr lang="en-US" sz="2400">
                <a:sym typeface="+mn-ea"/>
              </a:rPr>
              <a:t> Here are some key reasons why skilled trainers are important :</a:t>
            </a:r>
            <a:endParaRPr lang="en-US" sz="2400"/>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5. Adaptability : They can adapt their strategies to meet the varying needs of students, ensuring that all learners can succeed.</a:t>
            </a:r>
            <a:endParaRPr lang="en-US" sz="2400">
              <a:solidFill>
                <a:schemeClr val="accent6"/>
              </a:solidFill>
            </a:endParaRPr>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6. Assessment and Feedback : Skilled trainers provide constructive feedback and assessments that guide student progress and help them understand their strengths and areas for improvement.</a:t>
            </a:r>
            <a:endParaRPr lang="en-US" sz="2400">
              <a:solidFill>
                <a:schemeClr val="accent6"/>
              </a:solidFill>
            </a:endParaRPr>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7. Mentorship : They serve as mentors, guiding students not only academically but also in personal development and life skills.</a:t>
            </a:r>
            <a:endParaRPr lang="en-US" sz="2400">
              <a:solidFill>
                <a:schemeClr val="accent6"/>
              </a:solidFill>
            </a:endParaRPr>
          </a:p>
          <a:p>
            <a:pPr marL="0" indent="0" defTabSz="266700">
              <a:spcAft>
                <a:spcPct val="0"/>
              </a:spcAft>
            </a:pPr>
            <a:endParaRPr lang="en-US" sz="2400">
              <a:solidFill>
                <a:schemeClr val="accent6"/>
              </a:solidFill>
            </a:endParaRPr>
          </a:p>
          <a:p>
            <a:pPr marL="0" indent="0" defTabSz="266700">
              <a:spcAft>
                <a:spcPct val="0"/>
              </a:spcAft>
            </a:pPr>
            <a:r>
              <a:rPr lang="en-US" sz="2400">
                <a:solidFill>
                  <a:schemeClr val="accent6"/>
                </a:solidFill>
                <a:sym typeface="+mn-ea"/>
              </a:rPr>
              <a:t>8. Community Builders : Skilled trainers often engage with families and the community, fostering a collaborative approach to education.</a:t>
            </a:r>
            <a:endParaRPr lang="en-US" sz="2400">
              <a:solidFill>
                <a:schemeClr val="accent6"/>
              </a:solidFill>
            </a:endParaRPr>
          </a:p>
          <a:p>
            <a:pPr marL="0" indent="0" defTabSz="266700">
              <a:spcAft>
                <a:spcPct val="0"/>
              </a:spcAft>
            </a:pPr>
            <a:endParaRPr lang="en-US" sz="2400"/>
          </a:p>
          <a:p>
            <a:pPr marL="0" indent="0" defTabSz="266700">
              <a:spcAft>
                <a:spcPct val="0"/>
              </a:spcAft>
            </a:pPr>
            <a:endParaRPr sz="2400" b="0" i="0">
              <a:solidFill>
                <a:schemeClr val="accent6"/>
              </a:solidFill>
              <a:latin typeface="Calibri"/>
              <a:ea typeface="Arial" panose="020B060402020209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rPr>
              <a:t>Benefits for Trainers</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8200" y="1487805"/>
            <a:ext cx="11073765" cy="5472430"/>
          </a:xfrm>
          <a:prstGeom prst="rect">
            <a:avLst/>
          </a:prstGeom>
          <a:noFill/>
        </p:spPr>
        <p:txBody>
          <a:bodyPr wrap="square" rtlCol="0" anchor="t">
            <a:noAutofit/>
          </a:bodyPr>
          <a:p>
            <a:pPr>
              <a:lnSpc>
                <a:spcPct val="90000"/>
              </a:lnSpc>
            </a:pPr>
            <a:r>
              <a:rPr lang="en-US" sz="2800" b="1" dirty="0">
                <a:solidFill>
                  <a:schemeClr val="accent6"/>
                </a:solidFill>
                <a:sym typeface="+mn-ea"/>
              </a:rPr>
              <a:t>Contribute just 1-2 hours of time daily, and earn upto 30k to 50k.</a:t>
            </a:r>
            <a:endParaRPr lang="en-US" sz="2800" b="1" dirty="0">
              <a:solidFill>
                <a:schemeClr val="accent6"/>
              </a:solidFill>
              <a:sym typeface="+mn-ea"/>
            </a:endParaRPr>
          </a:p>
          <a:p>
            <a:pPr>
              <a:lnSpc>
                <a:spcPct val="90000"/>
              </a:lnSpc>
            </a:pPr>
            <a:endParaRPr lang="en-US" sz="2800" b="1" dirty="0">
              <a:solidFill>
                <a:schemeClr val="accent6"/>
              </a:solidFill>
              <a:sym typeface="+mn-ea"/>
            </a:endParaRPr>
          </a:p>
          <a:p>
            <a:pPr>
              <a:lnSpc>
                <a:spcPct val="90000"/>
              </a:lnSpc>
            </a:pPr>
            <a:r>
              <a:rPr lang="en-US" sz="2800" b="1" dirty="0">
                <a:solidFill>
                  <a:schemeClr val="accent6"/>
                </a:solidFill>
                <a:sym typeface="+mn-ea"/>
              </a:rPr>
              <a:t>Complete training will be provided by MySkill team.</a:t>
            </a:r>
            <a:endParaRPr lang="en-US" sz="2800" b="1" dirty="0">
              <a:solidFill>
                <a:schemeClr val="accent6"/>
              </a:solidFill>
              <a:sym typeface="+mn-ea"/>
            </a:endParaRPr>
          </a:p>
          <a:p>
            <a:pPr>
              <a:lnSpc>
                <a:spcPct val="90000"/>
              </a:lnSpc>
            </a:pPr>
            <a:endParaRPr lang="en-US" sz="2800" b="1" dirty="0">
              <a:solidFill>
                <a:schemeClr val="accent6"/>
              </a:solidFill>
              <a:sym typeface="+mn-ea"/>
            </a:endParaRPr>
          </a:p>
          <a:p>
            <a:pPr>
              <a:lnSpc>
                <a:spcPct val="90000"/>
              </a:lnSpc>
            </a:pPr>
            <a:r>
              <a:rPr lang="en-US" sz="2800" b="1" dirty="0">
                <a:solidFill>
                  <a:schemeClr val="accent6"/>
                </a:solidFill>
                <a:sym typeface="+mn-ea"/>
              </a:rPr>
              <a:t>Every trainer will be certified.</a:t>
            </a:r>
            <a:endParaRPr lang="en-US" sz="2800" b="1" dirty="0">
              <a:solidFill>
                <a:schemeClr val="accent6"/>
              </a:solidFill>
              <a:sym typeface="+mn-ea"/>
            </a:endParaRPr>
          </a:p>
          <a:p>
            <a:pPr>
              <a:lnSpc>
                <a:spcPct val="90000"/>
              </a:lnSpc>
            </a:pPr>
            <a:endParaRPr lang="en-US" sz="2800" b="1" dirty="0">
              <a:solidFill>
                <a:schemeClr val="accent6"/>
              </a:solidFill>
              <a:sym typeface="+mn-ea"/>
            </a:endParaRPr>
          </a:p>
          <a:p>
            <a:pPr>
              <a:lnSpc>
                <a:spcPct val="90000"/>
              </a:lnSpc>
            </a:pPr>
            <a:r>
              <a:rPr lang="en-US" sz="2800" b="1" dirty="0">
                <a:solidFill>
                  <a:schemeClr val="accent6"/>
                </a:solidFill>
                <a:sym typeface="+mn-ea"/>
              </a:rPr>
              <a:t>Regular worshops and review sessions will help in continous </a:t>
            </a:r>
            <a:endParaRPr lang="en-US" sz="2800" b="1" dirty="0">
              <a:solidFill>
                <a:schemeClr val="accent6"/>
              </a:solidFill>
              <a:sym typeface="+mn-ea"/>
            </a:endParaRPr>
          </a:p>
          <a:p>
            <a:pPr>
              <a:lnSpc>
                <a:spcPct val="90000"/>
              </a:lnSpc>
            </a:pPr>
            <a:r>
              <a:rPr lang="en-US" sz="2800" b="1" dirty="0">
                <a:solidFill>
                  <a:schemeClr val="accent6"/>
                </a:solidFill>
                <a:sym typeface="+mn-ea"/>
              </a:rPr>
              <a:t>learning and upgrading of knowledge.</a:t>
            </a:r>
            <a:endParaRPr lang="en-US" sz="2800" b="1" dirty="0">
              <a:solidFill>
                <a:schemeClr val="accent6"/>
              </a:solidFill>
              <a:sym typeface="+mn-ea"/>
            </a:endParaRPr>
          </a:p>
          <a:p>
            <a:pPr>
              <a:lnSpc>
                <a:spcPct val="90000"/>
              </a:lnSpc>
            </a:pPr>
            <a:endParaRPr lang="en-US" sz="2800" b="1" dirty="0">
              <a:solidFill>
                <a:schemeClr val="accent6"/>
              </a:solidFill>
              <a:sym typeface="+mn-ea"/>
            </a:endParaRPr>
          </a:p>
          <a:p>
            <a:pPr>
              <a:lnSpc>
                <a:spcPct val="90000"/>
              </a:lnSpc>
            </a:pPr>
            <a:r>
              <a:rPr lang="en-US" sz="2800" b="1" dirty="0">
                <a:solidFill>
                  <a:schemeClr val="accent6"/>
                </a:solidFill>
                <a:sym typeface="+mn-ea"/>
              </a:rPr>
              <a:t>Free Day care facility during teaching hours at MySkool branches. </a:t>
            </a:r>
            <a:endParaRPr lang="en-US" sz="2800" b="1" dirty="0">
              <a:solidFill>
                <a:schemeClr val="accent6"/>
              </a:solidFill>
              <a:sym typeface="+mn-ea"/>
            </a:endParaRPr>
          </a:p>
          <a:p>
            <a:pPr>
              <a:lnSpc>
                <a:spcPct val="90000"/>
              </a:lnSpc>
            </a:pPr>
            <a:endParaRPr lang="en-US" sz="2800" b="1" dirty="0">
              <a:solidFill>
                <a:schemeClr val="accent6"/>
              </a:solidFill>
              <a:sym typeface="+mn-ea"/>
            </a:endParaRPr>
          </a:p>
          <a:p>
            <a:pPr>
              <a:lnSpc>
                <a:spcPct val="90000"/>
              </a:lnSpc>
            </a:pPr>
            <a:r>
              <a:rPr lang="en-US" sz="2800" b="1" dirty="0">
                <a:solidFill>
                  <a:schemeClr val="accent6"/>
                </a:solidFill>
                <a:sym typeface="+mn-ea"/>
              </a:rPr>
              <a:t>Learn, Earn and feel Empowered</a:t>
            </a:r>
            <a:endParaRPr lang="en-US" sz="2800" b="1" dirty="0">
              <a:solidFill>
                <a:schemeClr val="accent6"/>
              </a:solidFill>
              <a:sym typeface="+mn-ea"/>
            </a:endParaRPr>
          </a:p>
        </p:txBody>
      </p:sp>
      <p:sp>
        <p:nvSpPr>
          <p:cNvPr id="4" name="Text Box 3"/>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pic>
        <p:nvPicPr>
          <p:cNvPr id="3" name="Picture 2" descr="MYSKOOL COLLAB LEARNING IN COMMUNITIES"/>
          <p:cNvPicPr>
            <a:picLocks noChangeAspect="1"/>
          </p:cNvPicPr>
          <p:nvPr/>
        </p:nvPicPr>
        <p:blipFill>
          <a:blip r:embed="rId1"/>
          <a:stretch>
            <a:fillRect/>
          </a:stretch>
        </p:blipFill>
        <p:spPr>
          <a:xfrm>
            <a:off x="1131570" y="-1420495"/>
            <a:ext cx="9852025" cy="9852025"/>
          </a:xfrm>
          <a:prstGeom prst="rect">
            <a:avLst/>
          </a:prstGeom>
        </p:spPr>
      </p:pic>
      <p:sp>
        <p:nvSpPr>
          <p:cNvPr id="5" name="Text Box 4"/>
          <p:cNvSpPr txBox="1"/>
          <p:nvPr/>
        </p:nvSpPr>
        <p:spPr>
          <a:xfrm>
            <a:off x="638810" y="5035550"/>
            <a:ext cx="11279505" cy="1568450"/>
          </a:xfrm>
          <a:prstGeom prst="rect">
            <a:avLst/>
          </a:prstGeom>
        </p:spPr>
        <p:txBody>
          <a:bodyPr wrap="square">
            <a:spAutoFit/>
          </a:bodyPr>
          <a:p>
            <a:pPr marL="0" indent="0" algn="ctr" defTabSz="266700">
              <a:spcAft>
                <a:spcPct val="0"/>
              </a:spcAft>
            </a:pPr>
            <a:r>
              <a:rPr sz="3200" b="1">
                <a:solidFill>
                  <a:schemeClr val="accent1"/>
                </a:solidFill>
                <a:effectLst>
                  <a:outerShdw blurRad="38100" dist="25400" dir="5400000" algn="ctr" rotWithShape="0">
                    <a:srgbClr val="6E747A">
                      <a:alpha val="43000"/>
                      <a:alpha val="43000"/>
                    </a:srgbClr>
                  </a:outerShdw>
                </a:effectLst>
                <a:latin typeface="Calibri"/>
                <a:ea typeface="SimSun"/>
              </a:rPr>
              <a:t>Collab - Meaning to collaborate which is the very need of this generation children who are intrigued to gadgets fail to socialize and have normal human interaction. </a:t>
            </a:r>
            <a:endParaRPr sz="3200" b="1">
              <a:solidFill>
                <a:schemeClr val="accent1"/>
              </a:solidFill>
              <a:effectLst>
                <a:outerShdw blurRad="38100" dist="25400" dir="5400000" algn="ctr" rotWithShape="0">
                  <a:srgbClr val="6E747A">
                    <a:alpha val="43000"/>
                    <a:alpha val="43000"/>
                  </a:srgbClr>
                </a:outerShdw>
              </a:effectLst>
              <a:latin typeface="Calibri"/>
              <a:ea typeface="SimSu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1"/>
                </a:solidFill>
                <a:effectLst>
                  <a:outerShdw blurRad="38100" dist="25400" dir="5400000" algn="ctr" rotWithShape="0">
                    <a:srgbClr val="6E747A">
                      <a:alpha val="43000"/>
                      <a:alpha val="43000"/>
                    </a:srgbClr>
                  </a:outerShdw>
                </a:effectLst>
              </a:rPr>
              <a:t>Collab</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3" name="Text Box 2"/>
          <p:cNvSpPr txBox="1"/>
          <p:nvPr/>
        </p:nvSpPr>
        <p:spPr>
          <a:xfrm>
            <a:off x="838200" y="1662430"/>
            <a:ext cx="10857230" cy="4892675"/>
          </a:xfrm>
          <a:prstGeom prst="rect">
            <a:avLst/>
          </a:prstGeom>
        </p:spPr>
        <p:txBody>
          <a:bodyPr wrap="square">
            <a:spAutoFit/>
          </a:bodyPr>
          <a:p>
            <a:pPr marL="0" indent="0" defTabSz="266700">
              <a:spcAft>
                <a:spcPct val="0"/>
              </a:spcAft>
            </a:pPr>
            <a:r>
              <a:rPr sz="2400" b="0">
                <a:solidFill>
                  <a:schemeClr val="accent6"/>
                </a:solidFill>
                <a:latin typeface="Calibri"/>
              </a:rPr>
              <a:t>With the introduction of Collab, MySkool ensures the humanly interaction developing all aspects of human evolution.</a:t>
            </a:r>
            <a:endParaRPr sz="2400" b="0">
              <a:solidFill>
                <a:schemeClr val="accent6"/>
              </a:solidFill>
              <a:latin typeface="Calibri"/>
            </a:endParaRPr>
          </a:p>
          <a:p>
            <a:pPr marL="0" indent="0" defTabSz="266700">
              <a:spcAft>
                <a:spcPct val="0"/>
              </a:spcAft>
            </a:pPr>
            <a:endParaRPr sz="2400" b="0" i="0">
              <a:solidFill>
                <a:schemeClr val="accent6"/>
              </a:solidFill>
              <a:latin typeface="Calibri"/>
              <a:ea typeface="Arial" panose="020B0604020202090204"/>
            </a:endParaRPr>
          </a:p>
          <a:p>
            <a:pPr marL="0" indent="0" defTabSz="266700">
              <a:spcAft>
                <a:spcPct val="0"/>
              </a:spcAft>
            </a:pPr>
            <a:r>
              <a:rPr sz="2400" b="0" i="0">
                <a:solidFill>
                  <a:schemeClr val="accent6"/>
                </a:solidFill>
                <a:latin typeface="Calibri"/>
                <a:ea typeface="Arial" panose="020B0604020202090204"/>
              </a:rPr>
              <a:t>The generation of inborn talents with technology has overpowered human interaction especially in children leading to virtual autism ( addiction to mobile and disconnect from real world), anti social behaviour and more. With courses like Personality development, Linguistics, ECE  etc MySkool contributes the changing lives for better. </a:t>
            </a:r>
            <a:endParaRPr sz="2400" b="0" i="0">
              <a:solidFill>
                <a:schemeClr val="accent6"/>
              </a:solidFill>
              <a:latin typeface="Calibri"/>
              <a:ea typeface="Arial" panose="020B0604020202090204"/>
            </a:endParaRPr>
          </a:p>
          <a:p>
            <a:pPr marL="0" indent="0" defTabSz="266700">
              <a:spcAft>
                <a:spcPct val="0"/>
              </a:spcAft>
            </a:pPr>
            <a:endParaRPr sz="2400" b="0" i="0">
              <a:solidFill>
                <a:schemeClr val="accent6"/>
              </a:solidFill>
              <a:latin typeface="Calibri"/>
              <a:ea typeface="Arial" panose="020B0604020202090204"/>
            </a:endParaRPr>
          </a:p>
          <a:p>
            <a:pPr marL="0" indent="0" defTabSz="266700">
              <a:spcAft>
                <a:spcPct val="0"/>
              </a:spcAft>
            </a:pPr>
            <a:r>
              <a:rPr sz="2400" b="0" i="0">
                <a:solidFill>
                  <a:schemeClr val="accent6"/>
                </a:solidFill>
                <a:latin typeface="Calibri"/>
                <a:ea typeface="Arial" panose="020B0604020202090204"/>
              </a:rPr>
              <a:t>With every course tailor made to suit the age of children and activities to ensure knowledge in not just imparted but also ensures immersion of knowledge takes place, MySkool ensure parents parents involvement passively in the growing years and facilitating the moulding of children.</a:t>
            </a:r>
            <a:endParaRPr sz="2400" b="0" i="0">
              <a:solidFill>
                <a:schemeClr val="accent6"/>
              </a:solidFill>
              <a:latin typeface="Calibri"/>
              <a:ea typeface="Arial" panose="020B060402020209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threePt" dir="t"/>
            </a:scene3d>
          </a:bodyPr>
          <a:p>
            <a:r>
              <a:rPr lang="en-US">
                <a:solidFill>
                  <a:schemeClr val="accent1"/>
                </a:solidFill>
                <a:effectLst>
                  <a:outerShdw blurRad="38100" dist="25400" dir="5400000" algn="ctr" rotWithShape="0">
                    <a:srgbClr val="6E747A">
                      <a:alpha val="43000"/>
                      <a:alpha val="43000"/>
                    </a:srgbClr>
                  </a:outerShdw>
                </a:effectLst>
              </a:rPr>
              <a:t>Potential of Collab</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3" name="Text Box 2"/>
          <p:cNvSpPr txBox="1"/>
          <p:nvPr/>
        </p:nvSpPr>
        <p:spPr>
          <a:xfrm>
            <a:off x="838835" y="1327150"/>
            <a:ext cx="11106150" cy="953135"/>
          </a:xfrm>
          <a:prstGeom prst="rect">
            <a:avLst/>
          </a:prstGeom>
        </p:spPr>
        <p:txBody>
          <a:bodyPr wrap="square">
            <a:spAutoFit/>
          </a:bodyPr>
          <a:p>
            <a:pPr marL="0" indent="0" algn="l" defTabSz="266700">
              <a:spcAft>
                <a:spcPct val="0"/>
              </a:spcAft>
            </a:pPr>
            <a:r>
              <a:rPr sz="2800" b="1">
                <a:latin typeface="Calibri"/>
                <a:ea typeface="SimSun"/>
              </a:rPr>
              <a:t>According to society management apps in India, more than 50000 societies in 27 cities are within the </a:t>
            </a:r>
            <a:r>
              <a:rPr lang="en-US" sz="2800" b="1">
                <a:latin typeface="Calibri"/>
                <a:ea typeface="SimSun"/>
              </a:rPr>
              <a:t>parameters set below,</a:t>
            </a:r>
            <a:endParaRPr lang="en-US" sz="2800" b="1">
              <a:latin typeface="Calibri"/>
              <a:ea typeface="SimSun"/>
            </a:endParaRPr>
          </a:p>
        </p:txBody>
      </p:sp>
      <p:sp>
        <p:nvSpPr>
          <p:cNvPr id="4" name="Text Box 3"/>
          <p:cNvSpPr txBox="1"/>
          <p:nvPr/>
        </p:nvSpPr>
        <p:spPr>
          <a:xfrm>
            <a:off x="838200" y="2381885"/>
            <a:ext cx="9341485" cy="1938020"/>
          </a:xfrm>
          <a:prstGeom prst="rect">
            <a:avLst/>
          </a:prstGeom>
          <a:noFill/>
        </p:spPr>
        <p:txBody>
          <a:bodyPr wrap="square" rtlCol="0">
            <a:spAutoFit/>
          </a:bodyPr>
          <a:p>
            <a:r>
              <a:rPr lang="en-US" sz="2400">
                <a:solidFill>
                  <a:schemeClr val="accent6"/>
                </a:solidFill>
              </a:rPr>
              <a:t>Society with more than 150 Units</a:t>
            </a:r>
            <a:endParaRPr lang="en-US" sz="2400">
              <a:solidFill>
                <a:schemeClr val="accent6"/>
              </a:solidFill>
            </a:endParaRPr>
          </a:p>
          <a:p>
            <a:endParaRPr lang="en-US" sz="2400">
              <a:solidFill>
                <a:schemeClr val="accent6"/>
              </a:solidFill>
            </a:endParaRPr>
          </a:p>
          <a:p>
            <a:r>
              <a:rPr lang="en-US" sz="2400">
                <a:solidFill>
                  <a:schemeClr val="accent6"/>
                </a:solidFill>
              </a:rPr>
              <a:t>Society with average rental of Rs. 20000 per month</a:t>
            </a:r>
            <a:endParaRPr lang="en-US" sz="2400">
              <a:solidFill>
                <a:schemeClr val="accent6"/>
              </a:solidFill>
            </a:endParaRPr>
          </a:p>
          <a:p>
            <a:endParaRPr lang="en-US" sz="2400">
              <a:solidFill>
                <a:schemeClr val="accent6"/>
              </a:solidFill>
            </a:endParaRPr>
          </a:p>
          <a:p>
            <a:r>
              <a:rPr lang="en-US" sz="2400">
                <a:solidFill>
                  <a:schemeClr val="accent6"/>
                </a:solidFill>
              </a:rPr>
              <a:t>Society with facility like club house / party hall to conduct classes</a:t>
            </a:r>
            <a:endParaRPr lang="en-US" sz="2400">
              <a:solidFill>
                <a:schemeClr val="accent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scene3d>
              <a:camera prst="orthographicFront"/>
              <a:lightRig rig="threePt" dir="t"/>
            </a:scene3d>
          </a:bodyPr>
          <a:p>
            <a:r>
              <a:rPr lang="en-US">
                <a:solidFill>
                  <a:schemeClr val="accent1"/>
                </a:solidFill>
                <a:effectLst>
                  <a:outerShdw blurRad="38100" dist="25400" dir="5400000" algn="ctr" rotWithShape="0">
                    <a:srgbClr val="6E747A">
                      <a:alpha val="43000"/>
                      <a:alpha val="43000"/>
                    </a:srgbClr>
                  </a:outerShdw>
                </a:effectLst>
              </a:rPr>
              <a:t>Parameters for Society Onboarding</a:t>
            </a:r>
            <a:endParaRPr lang="en-US">
              <a:solidFill>
                <a:schemeClr val="accent1"/>
              </a:solidFill>
              <a:effectLst>
                <a:outerShdw blurRad="38100" dist="25400" dir="5400000" algn="ctr" rotWithShape="0">
                  <a:srgbClr val="6E747A">
                    <a:alpha val="43000"/>
                    <a:alpha val="43000"/>
                  </a:srgbClr>
                </a:outerShdw>
              </a:effectLst>
            </a:endParaRPr>
          </a:p>
        </p:txBody>
      </p:sp>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3" name="Text Box 2"/>
          <p:cNvSpPr txBox="1"/>
          <p:nvPr/>
        </p:nvSpPr>
        <p:spPr>
          <a:xfrm>
            <a:off x="838835" y="1327150"/>
            <a:ext cx="11106150" cy="953135"/>
          </a:xfrm>
          <a:prstGeom prst="rect">
            <a:avLst/>
          </a:prstGeom>
        </p:spPr>
        <p:txBody>
          <a:bodyPr wrap="square">
            <a:spAutoFit/>
          </a:bodyPr>
          <a:p>
            <a:pPr marL="0" indent="0" algn="l" defTabSz="266700">
              <a:spcAft>
                <a:spcPct val="0"/>
              </a:spcAft>
            </a:pPr>
            <a:r>
              <a:rPr sz="2800" b="1">
                <a:latin typeface="Calibri"/>
                <a:ea typeface="SimSun"/>
              </a:rPr>
              <a:t>According to society management apps in India, more than 50000 societies in 27 cities are within the </a:t>
            </a:r>
            <a:r>
              <a:rPr lang="en-US" sz="2800" b="1">
                <a:latin typeface="Calibri"/>
                <a:ea typeface="SimSun"/>
              </a:rPr>
              <a:t>parameters set below,</a:t>
            </a:r>
            <a:endParaRPr lang="en-US" sz="2800" b="1">
              <a:latin typeface="Calibri"/>
              <a:ea typeface="SimSun"/>
            </a:endParaRPr>
          </a:p>
        </p:txBody>
      </p:sp>
      <p:sp>
        <p:nvSpPr>
          <p:cNvPr id="4" name="Text Box 3"/>
          <p:cNvSpPr txBox="1"/>
          <p:nvPr/>
        </p:nvSpPr>
        <p:spPr>
          <a:xfrm>
            <a:off x="838200" y="2381885"/>
            <a:ext cx="9341485" cy="1938020"/>
          </a:xfrm>
          <a:prstGeom prst="rect">
            <a:avLst/>
          </a:prstGeom>
          <a:noFill/>
        </p:spPr>
        <p:txBody>
          <a:bodyPr wrap="square" rtlCol="0">
            <a:spAutoFit/>
          </a:bodyPr>
          <a:p>
            <a:r>
              <a:rPr lang="en-US" sz="2400">
                <a:solidFill>
                  <a:schemeClr val="accent6"/>
                </a:solidFill>
              </a:rPr>
              <a:t>Society with more than 150 Units</a:t>
            </a:r>
            <a:endParaRPr lang="en-US" sz="2400">
              <a:solidFill>
                <a:schemeClr val="accent6"/>
              </a:solidFill>
            </a:endParaRPr>
          </a:p>
          <a:p>
            <a:endParaRPr lang="en-US" sz="2400">
              <a:solidFill>
                <a:schemeClr val="accent6"/>
              </a:solidFill>
            </a:endParaRPr>
          </a:p>
          <a:p>
            <a:r>
              <a:rPr lang="en-US" sz="2400">
                <a:solidFill>
                  <a:schemeClr val="accent6"/>
                </a:solidFill>
              </a:rPr>
              <a:t>Society with average rental of Rs. 20000 per month</a:t>
            </a:r>
            <a:endParaRPr lang="en-US" sz="2400">
              <a:solidFill>
                <a:schemeClr val="accent6"/>
              </a:solidFill>
            </a:endParaRPr>
          </a:p>
          <a:p>
            <a:endParaRPr lang="en-US" sz="2400">
              <a:solidFill>
                <a:schemeClr val="accent6"/>
              </a:solidFill>
            </a:endParaRPr>
          </a:p>
          <a:p>
            <a:r>
              <a:rPr lang="en-US" sz="2400">
                <a:solidFill>
                  <a:schemeClr val="accent6"/>
                </a:solidFill>
              </a:rPr>
              <a:t>Society with facility like club house / party hall to conduct classes</a:t>
            </a:r>
            <a:endParaRPr lang="en-US" sz="2400">
              <a:solidFill>
                <a:schemeClr val="accent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pic>
        <p:nvPicPr>
          <p:cNvPr id="9" name="Picture 8" descr="mps logo"/>
          <p:cNvPicPr>
            <a:picLocks noChangeAspect="1"/>
          </p:cNvPicPr>
          <p:nvPr/>
        </p:nvPicPr>
        <p:blipFill>
          <a:blip r:embed="rId1"/>
          <a:stretch>
            <a:fillRect/>
          </a:stretch>
        </p:blipFill>
        <p:spPr>
          <a:xfrm>
            <a:off x="551180" y="1207770"/>
            <a:ext cx="11146790" cy="3037205"/>
          </a:xfrm>
          <a:prstGeom prst="rect">
            <a:avLst/>
          </a:prstGeom>
        </p:spPr>
      </p:pic>
      <p:sp>
        <p:nvSpPr>
          <p:cNvPr id="3" name="Text Box 2"/>
          <p:cNvSpPr txBox="1"/>
          <p:nvPr/>
        </p:nvSpPr>
        <p:spPr>
          <a:xfrm>
            <a:off x="551180" y="4069080"/>
            <a:ext cx="11355070" cy="1965960"/>
          </a:xfrm>
          <a:prstGeom prst="rect">
            <a:avLst/>
          </a:prstGeom>
        </p:spPr>
        <p:txBody>
          <a:bodyPr wrap="square">
            <a:noAutofit/>
          </a:bodyPr>
          <a:p>
            <a:pPr marL="0" indent="0" algn="ctr" defTabSz="266700">
              <a:spcAft>
                <a:spcPct val="0"/>
              </a:spcAft>
            </a:pPr>
            <a:r>
              <a:rPr sz="2800" b="1">
                <a:solidFill>
                  <a:schemeClr val="accent1"/>
                </a:solidFill>
                <a:effectLst>
                  <a:outerShdw blurRad="38100" dist="25400" dir="5400000" algn="ctr" rotWithShape="0">
                    <a:srgbClr val="6E747A">
                      <a:alpha val="43000"/>
                      <a:alpha val="43000"/>
                    </a:srgbClr>
                  </a:outerShdw>
                </a:effectLst>
                <a:latin typeface="Calibri"/>
                <a:ea typeface="SimSun"/>
              </a:rPr>
              <a:t>Preskool children have an instinctive desire to learn, discover and try new things. Their natural curiosity is attracted to anything they are unfamiliar with, so that makes children interested in trying everything.</a:t>
            </a:r>
            <a:endParaRPr sz="2800" b="1">
              <a:solidFill>
                <a:schemeClr val="accent1"/>
              </a:solidFill>
              <a:effectLst>
                <a:outerShdw blurRad="38100" dist="25400" dir="5400000" algn="ctr" rotWithShape="0">
                  <a:srgbClr val="6E747A">
                    <a:alpha val="43000"/>
                    <a:alpha val="43000"/>
                  </a:srgbClr>
                </a:outerShdw>
              </a:effectLst>
              <a:latin typeface="Calibri"/>
              <a:ea typeface="SimSu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myskool club logo jpg"/>
          <p:cNvPicPr>
            <a:picLocks noChangeAspect="1"/>
          </p:cNvPicPr>
          <p:nvPr/>
        </p:nvPicPr>
        <p:blipFill>
          <a:blip r:embed="rId1"/>
          <a:stretch>
            <a:fillRect/>
          </a:stretch>
        </p:blipFill>
        <p:spPr>
          <a:xfrm>
            <a:off x="713105" y="1169035"/>
            <a:ext cx="10609580" cy="3747135"/>
          </a:xfrm>
          <a:prstGeom prst="rect">
            <a:avLst/>
          </a:prstGeom>
        </p:spPr>
      </p:pic>
      <p:sp>
        <p:nvSpPr>
          <p:cNvPr id="3" name="Text Box 2"/>
          <p:cNvSpPr txBox="1"/>
          <p:nvPr/>
        </p:nvSpPr>
        <p:spPr>
          <a:xfrm>
            <a:off x="8322945" y="0"/>
            <a:ext cx="3869055" cy="1122680"/>
          </a:xfrm>
          <a:prstGeom prst="rect">
            <a:avLst/>
          </a:prstGeom>
          <a:noFill/>
        </p:spPr>
        <p:txBody>
          <a:bodyPr wrap="square" rtlCol="0" anchor="t">
            <a:noAutofit/>
          </a:bodyPr>
          <a:p>
            <a:r>
              <a:rPr lang="en-US" sz="7200" dirty="0">
                <a:ln w="22225">
                  <a:solidFill>
                    <a:schemeClr val="accent2"/>
                  </a:solidFill>
                  <a:prstDash val="solid"/>
                </a:ln>
                <a:solidFill>
                  <a:schemeClr val="accent2"/>
                </a:solidFill>
                <a:effectLst/>
                <a:sym typeface="+mn-ea"/>
              </a:rPr>
              <a:t>My</a:t>
            </a:r>
            <a:r>
              <a:rPr lang="en-US" sz="7200" dirty="0">
                <a:solidFill>
                  <a:schemeClr val="accent1"/>
                </a:solidFill>
                <a:sym typeface="+mn-ea"/>
              </a:rPr>
              <a:t>Skool</a:t>
            </a:r>
            <a:endParaRPr lang="en-US" sz="7200" dirty="0">
              <a:solidFill>
                <a:schemeClr val="accent1"/>
              </a:solidFill>
              <a:sym typeface="+mn-ea"/>
            </a:endParaRPr>
          </a:p>
        </p:txBody>
      </p:sp>
      <p:sp>
        <p:nvSpPr>
          <p:cNvPr id="6" name="Text Box 5"/>
          <p:cNvSpPr txBox="1"/>
          <p:nvPr/>
        </p:nvSpPr>
        <p:spPr>
          <a:xfrm>
            <a:off x="995045" y="4499610"/>
            <a:ext cx="10608945" cy="2245360"/>
          </a:xfrm>
          <a:prstGeom prst="rect">
            <a:avLst/>
          </a:prstGeom>
          <a:noFill/>
        </p:spPr>
        <p:txBody>
          <a:bodyPr wrap="square" rtlCol="0" anchor="t">
            <a:spAutoFit/>
          </a:bodyPr>
          <a:p>
            <a:pPr algn="ctr"/>
            <a:r>
              <a:rPr lang="en-US" sz="2800">
                <a:solidFill>
                  <a:schemeClr val="accent1"/>
                </a:solidFill>
                <a:effectLst>
                  <a:outerShdw blurRad="38100" dist="25400" dir="5400000" algn="ctr" rotWithShape="0">
                    <a:srgbClr val="6E747A">
                      <a:alpha val="43000"/>
                      <a:alpha val="43000"/>
                    </a:srgbClr>
                  </a:outerShdw>
                </a:effectLst>
                <a:latin typeface="Outfit" charset="0"/>
                <a:cs typeface="Outfit" charset="0"/>
                <a:sym typeface="+mn-ea"/>
              </a:rPr>
              <a:t>Gone are the days where only academics used to be the focus point of development. Today, co-curricular, extra- curricular and academics go hand in hand for an individual to be successful. While schools do have activities besides academics, children need more!</a:t>
            </a:r>
            <a:endParaRPr lang="en-US" sz="2800">
              <a:solidFill>
                <a:schemeClr val="accent1"/>
              </a:solidFill>
              <a:effectLst>
                <a:outerShdw blurRad="38100" dist="25400" dir="5400000" algn="ctr" rotWithShape="0">
                  <a:srgbClr val="6E747A">
                    <a:alpha val="43000"/>
                    <a:alpha val="43000"/>
                  </a:srgbClr>
                </a:outerShdw>
              </a:effectLst>
              <a:latin typeface="Outfit" charset="0"/>
              <a:cs typeface="Outfit" charset="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13980</Words>
  <Application>WPS Writer</Application>
  <PresentationFormat>Widescreen</PresentationFormat>
  <Paragraphs>239</Paragraphs>
  <Slides>23</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23</vt:i4>
      </vt:variant>
    </vt:vector>
  </HeadingPairs>
  <TitlesOfParts>
    <vt:vector size="41" baseType="lpstr">
      <vt:lpstr>Arial</vt:lpstr>
      <vt:lpstr>SimSun</vt:lpstr>
      <vt:lpstr>Wingdings</vt:lpstr>
      <vt:lpstr>Calibri</vt:lpstr>
      <vt:lpstr>Helvetica Neue</vt:lpstr>
      <vt:lpstr>SimSun</vt:lpstr>
      <vt:lpstr>Outfit SemiBold</vt:lpstr>
      <vt:lpstr>苹方-简</vt:lpstr>
      <vt:lpstr>Montserrat</vt:lpstr>
      <vt:lpstr>Outfit</vt:lpstr>
      <vt:lpstr>Arial</vt:lpstr>
      <vt:lpstr>Calibri Light</vt:lpstr>
      <vt:lpstr>Microsoft YaHei</vt:lpstr>
      <vt:lpstr>汉仪旗黑</vt:lpstr>
      <vt:lpstr>Arial Unicode MS</vt:lpstr>
      <vt:lpstr>Calibri</vt:lpstr>
      <vt:lpstr>宋体-简</vt:lpstr>
      <vt:lpstr>Office Theme</vt:lpstr>
      <vt:lpstr>Project Tajdeed</vt:lpstr>
      <vt:lpstr>Education</vt:lpstr>
      <vt:lpstr>Education</vt:lpstr>
      <vt:lpstr>Safe harbour</vt:lpstr>
      <vt:lpstr>The currant scenario</vt:lpstr>
      <vt:lpstr>Future trends of education</vt:lpstr>
      <vt:lpstr>Adoptable measures in currant scenario</vt:lpstr>
      <vt:lpstr>PowerPoint 演示文稿</vt:lpstr>
      <vt:lpstr>PowerPoint 演示文稿</vt:lpstr>
      <vt:lpstr>MySkool Eco System</vt:lpstr>
      <vt:lpstr>PowerPoint 演示文稿</vt:lpstr>
      <vt:lpstr>PowerPoint 演示文稿</vt:lpstr>
      <vt:lpstr>MySkill</vt:lpstr>
      <vt:lpstr>MySkill</vt:lpstr>
      <vt:lpstr>Why Skilled Trainers?</vt:lpstr>
      <vt:lpstr>Benefits of MySkill</vt:lpstr>
      <vt:lpstr>PowerPoint 演示文稿</vt:lpstr>
      <vt:lpstr>Collab</vt:lpstr>
      <vt:lpstr>Potential of Collab</vt:lpstr>
      <vt:lpstr>Onboarding of Society</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Tajdeed</dc:title>
  <dc:creator>apple</dc:creator>
  <cp:lastModifiedBy>apple</cp:lastModifiedBy>
  <cp:revision>4</cp:revision>
  <dcterms:created xsi:type="dcterms:W3CDTF">2024-10-31T11:49:22Z</dcterms:created>
  <dcterms:modified xsi:type="dcterms:W3CDTF">2024-10-31T11:49:22Z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5357A351BFF7D493CF5712677307748A_41</vt:lpwstr>
  </property>
  <property fmtid="{D5CDD505-2E9C-101B-9397-08002B2CF9AE}" pid="3" name="KSOProductBuildVer">
    <vt:lpwstr>1033-6.10.1.8203</vt:lpwstr>
  </property>
</Properties>
</file>